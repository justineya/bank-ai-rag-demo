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C5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515600" cy="914400"/>
          </a:xfrm>
          <a:prstGeom prst="rect">
            <a:avLst/>
          </a:prstGeom>
          <a:noFill/>
        </p:spPr>
        <p:txBody>
          <a:bodyPr wrap="square">
            <a:spAutoFit/>
          </a:bodyPr>
          <a:lstStyle/>
          <a:p>
            <a:pPr algn="l"/>
            <a:r>
              <a:rPr sz="4000" b="1">
                <a:solidFill>
                  <a:srgbClr val="DC572A"/>
                </a:solidFill>
                <a:latin typeface="微软雅黑"/>
                <a:ea typeface="微软雅黑"/>
                <a:cs typeface="微软雅黑"/>
              </a:rPr>
              <a:t>2026年9月財務情況匯報</a:t>
            </a:r>
          </a:p>
        </p:txBody>
      </p:sp>
      <p:sp>
        <p:nvSpPr>
          <p:cNvPr id="5" name="TextBox 4"/>
          <p:cNvSpPr txBox="1"/>
          <p:nvPr/>
        </p:nvSpPr>
        <p:spPr>
          <a:xfrm>
            <a:off x="731520" y="3063240"/>
            <a:ext cx="10058400" cy="411480"/>
          </a:xfrm>
          <a:prstGeom prst="rect">
            <a:avLst/>
          </a:prstGeom>
          <a:noFill/>
        </p:spPr>
        <p:txBody>
          <a:bodyPr wrap="square">
            <a:spAutoFit/>
          </a:bodyPr>
          <a:lstStyle/>
          <a:p>
            <a:pPr algn="l"/>
            <a:r>
              <a:rPr sz="1800" b="0">
                <a:solidFill>
                  <a:srgbClr val="333F50"/>
                </a:solidFill>
                <a:latin typeface="楷体"/>
                <a:ea typeface="楷体"/>
                <a:cs typeface="楷体"/>
              </a:rPr>
              <a:t>HKFRS 17    單位：萬港元</a:t>
            </a:r>
          </a:p>
        </p:txBody>
      </p:sp>
      <p:sp>
        <p:nvSpPr>
          <p:cNvPr id="6" name="TextBox 5"/>
          <p:cNvSpPr txBox="1"/>
          <p:nvPr/>
        </p:nvSpPr>
        <p:spPr>
          <a:xfrm>
            <a:off x="731520" y="5394960"/>
            <a:ext cx="7315200" cy="365760"/>
          </a:xfrm>
          <a:prstGeom prst="rect">
            <a:avLst/>
          </a:prstGeom>
          <a:noFill/>
        </p:spPr>
        <p:txBody>
          <a:bodyPr wrap="square">
            <a:spAutoFit/>
          </a:bodyPr>
          <a:lstStyle/>
          <a:p>
            <a:pPr algn="l"/>
            <a:r>
              <a:rPr sz="2000" b="0">
                <a:solidFill>
                  <a:srgbClr val="333F50"/>
                </a:solidFill>
                <a:latin typeface="楷体"/>
                <a:ea typeface="楷体"/>
                <a:cs typeface="楷体"/>
              </a:rPr>
              <a:t>2026年10月9日</a:t>
            </a:r>
          </a:p>
        </p:txBody>
      </p:sp>
      <p:sp>
        <p:nvSpPr>
          <p:cNvPr id="7" name="TextBox 6"/>
          <p:cNvSpPr txBox="1"/>
          <p:nvPr/>
        </p:nvSpPr>
        <p:spPr>
          <a:xfrm>
            <a:off x="731520" y="5943600"/>
            <a:ext cx="9144000" cy="320040"/>
          </a:xfrm>
          <a:prstGeom prst="rect">
            <a:avLst/>
          </a:prstGeom>
          <a:noFill/>
        </p:spPr>
        <p:txBody>
          <a:bodyPr wrap="square">
            <a:spAutoFit/>
          </a:bodyPr>
          <a:lstStyle/>
          <a:p>
            <a:pPr algn="l"/>
            <a:r>
              <a:rPr sz="1400" b="0">
                <a:solidFill>
                  <a:srgbClr val="888888"/>
                </a:solidFill>
                <a:latin typeface="楷体"/>
                <a:ea typeface="楷体"/>
                <a:cs typeface="楷体"/>
              </a:rPr>
              <a:t>模擬樣板</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主要指標（HKFRS 17）</a:t>
            </a:r>
          </a:p>
        </p:txBody>
      </p:sp>
      <p:sp>
        <p:nvSpPr>
          <p:cNvPr id="5" name="TextBox 4"/>
          <p:cNvSpPr txBox="1"/>
          <p:nvPr/>
        </p:nvSpPr>
        <p:spPr>
          <a:xfrm>
            <a:off x="274320" y="868680"/>
            <a:ext cx="10972800" cy="256032"/>
          </a:xfrm>
          <a:prstGeom prst="rect">
            <a:avLst/>
          </a:prstGeom>
          <a:noFill/>
        </p:spPr>
        <p:txBody>
          <a:bodyPr wrap="square">
            <a:spAutoFit/>
          </a:bodyPr>
          <a:lstStyle/>
          <a:p>
            <a:pPr algn="l"/>
            <a:r>
              <a:rPr sz="1200" b="0">
                <a:solidFill>
                  <a:srgbClr val="888888"/>
                </a:solidFill>
                <a:latin typeface="楷体"/>
                <a:ea typeface="楷体"/>
                <a:cs typeface="楷体"/>
              </a:rPr>
              <a:t>萬港元，%。當月為2026年9月，累計為1–9月。</a:t>
            </a:r>
          </a:p>
        </p:txBody>
      </p:sp>
      <p:graphicFrame>
        <p:nvGraphicFramePr>
          <p:cNvPr id="6" name="Table 5"/>
          <p:cNvGraphicFramePr>
            <a:graphicFrameLocks noGrp="1"/>
          </p:cNvGraphicFramePr>
          <p:nvPr/>
        </p:nvGraphicFramePr>
        <p:xfrm>
          <a:off x="201168" y="1170432"/>
          <a:ext cx="11795760" cy="3977639"/>
        </p:xfrm>
        <a:graphic>
          <a:graphicData uri="http://schemas.openxmlformats.org/drawingml/2006/table">
            <a:tbl>
              <a:tblPr firstRow="1" bandRow="1">
                <a:tableStyleId>{5C22544A-7EE6-4342-B048-85BDC9FD1C3A}</a:tableStyleId>
              </a:tblPr>
              <a:tblGrid>
                <a:gridCol w="1310640"/>
                <a:gridCol w="1310640"/>
                <a:gridCol w="1310640"/>
                <a:gridCol w="1310640"/>
                <a:gridCol w="1310640"/>
                <a:gridCol w="1310640"/>
                <a:gridCol w="1310640"/>
                <a:gridCol w="1310640"/>
                <a:gridCol w="1310640"/>
              </a:tblGrid>
              <a:tr h="441959">
                <a:tc>
                  <a:txBody>
                    <a:bodyPr/>
                    <a:lstStyle/>
                    <a:p>
                      <a:pPr algn="ctr"/>
                      <a:r>
                        <a:rPr sz="1100" b="1">
                          <a:solidFill>
                            <a:srgbClr val="FFFFFF"/>
                          </a:solidFill>
                          <a:latin typeface="楷体"/>
                          <a:ea typeface="楷体"/>
                          <a:cs typeface="楷体"/>
                        </a:rPr>
                        <a:t>項目</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9月當月</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環比增減</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環比%</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1–9月</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修訂預算</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完成%</a:t>
                      </a:r>
                    </a:p>
                  </a:txBody>
                  <a:tcPr anchor="ctr" marL="36576" marR="36576" marT="18288" marB="18288">
                    <a:solidFill>
                      <a:srgbClr val="333F50"/>
                    </a:solidFill>
                  </a:tcPr>
                </a:tc>
              </a:tr>
              <a:tr h="441959">
                <a:tc>
                  <a:txBody>
                    <a:bodyPr/>
                    <a:lstStyle/>
                    <a:p>
                      <a:pPr algn="l"/>
                      <a:r>
                        <a:rPr sz="1100" b="1">
                          <a:solidFill>
                            <a:srgbClr val="333F50"/>
                          </a:solidFill>
                          <a:latin typeface="楷体"/>
                          <a:ea typeface="楷体"/>
                          <a:cs typeface="楷体"/>
                        </a:rPr>
                        <a:t>保險收入</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1,520.4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86.2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14,760.2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1,210.5</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8.9%</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21,000.0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70.3%</a:t>
                      </a:r>
                    </a:p>
                  </a:txBody>
                  <a:tcPr anchor="ctr" marL="36576" marR="36576" marT="18288" marB="18288">
                    <a:solidFill>
                      <a:srgbClr val="FFFFFF"/>
                    </a:solidFill>
                  </a:tcPr>
                </a:tc>
              </a:tr>
              <a:tr h="441959">
                <a:tc>
                  <a:txBody>
                    <a:bodyPr/>
                    <a:lstStyle/>
                    <a:p>
                      <a:pPr algn="l"/>
                      <a:r>
                        <a:rPr sz="1100" b="1">
                          <a:solidFill>
                            <a:srgbClr val="333F50"/>
                          </a:solidFill>
                          <a:latin typeface="楷体"/>
                          <a:ea typeface="楷体"/>
                          <a:cs typeface="楷体"/>
                        </a:rPr>
                        <a:t>保險服務費用</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-1,180.2</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-92.4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8.5%</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-11,601.8</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-860.2</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8.0%</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-16,000.0</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72.5%</a:t>
                      </a:r>
                    </a:p>
                  </a:txBody>
                  <a:tcPr anchor="ctr" marL="36576" marR="36576" marT="18288" marB="18288">
                    <a:solidFill>
                      <a:srgbClr val="F7F7F7"/>
                    </a:solidFill>
                  </a:tcPr>
                </a:tc>
              </a:tr>
              <a:tr h="441959">
                <a:tc>
                  <a:txBody>
                    <a:bodyPr/>
                    <a:lstStyle/>
                    <a:p>
                      <a:pPr algn="l"/>
                      <a:r>
                        <a:rPr sz="1100" b="1">
                          <a:solidFill>
                            <a:srgbClr val="333F50"/>
                          </a:solidFill>
                          <a:latin typeface="楷体"/>
                          <a:ea typeface="楷体"/>
                          <a:cs typeface="楷体"/>
                        </a:rPr>
                        <a:t>再保險合約費用淨額</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-155.6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-8.4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5.7%</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-1,320.3</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-30.6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2.4%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-2,100.0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62.9%</a:t>
                      </a:r>
                    </a:p>
                  </a:txBody>
                  <a:tcPr anchor="ctr" marL="36576" marR="36576" marT="18288" marB="18288">
                    <a:solidFill>
                      <a:srgbClr val="FFFFFF"/>
                    </a:solidFill>
                  </a:tcPr>
                </a:tc>
              </a:tr>
              <a:tr h="441959">
                <a:tc>
                  <a:txBody>
                    <a:bodyPr/>
                    <a:lstStyle/>
                    <a:p>
                      <a:pPr algn="l"/>
                      <a:r>
                        <a:rPr sz="1100" b="1">
                          <a:solidFill>
                            <a:srgbClr val="333F50"/>
                          </a:solidFill>
                          <a:latin typeface="楷体"/>
                          <a:ea typeface="楷体"/>
                          <a:cs typeface="楷体"/>
                        </a:rPr>
                        <a:t>保險服務業績</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184.6</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-14.6</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-7.3%</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1,838.1</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319.7</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21.1%</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2,900.0</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63.4%</a:t>
                      </a:r>
                    </a:p>
                  </a:txBody>
                  <a:tcPr anchor="ctr" marL="36576" marR="36576" marT="18288" marB="18288">
                    <a:solidFill>
                      <a:srgbClr val="F7F7F7"/>
                    </a:solidFill>
                  </a:tcPr>
                </a:tc>
              </a:tr>
              <a:tr h="441959">
                <a:tc>
                  <a:txBody>
                    <a:bodyPr/>
                    <a:lstStyle/>
                    <a:p>
                      <a:pPr algn="l"/>
                      <a:r>
                        <a:rPr sz="1100" b="1">
                          <a:solidFill>
                            <a:srgbClr val="333F50"/>
                          </a:solidFill>
                          <a:latin typeface="楷体"/>
                          <a:ea typeface="楷体"/>
                          <a:cs typeface="楷体"/>
                        </a:rPr>
                        <a:t>減：其他管理費用</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-168.8</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3.8%</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-1,579.8</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-142.4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9.9%</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-2,700.0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58.5%</a:t>
                      </a:r>
                    </a:p>
                  </a:txBody>
                  <a:tcPr anchor="ctr" marL="36576" marR="36576" marT="18288" marB="18288">
                    <a:solidFill>
                      <a:srgbClr val="FFFFFF"/>
                    </a:solidFill>
                  </a:tcPr>
                </a:tc>
              </a:tr>
              <a:tr h="441959">
                <a:tc>
                  <a:txBody>
                    <a:bodyPr/>
                    <a:lstStyle/>
                    <a:p>
                      <a:pPr algn="l"/>
                      <a:r>
                        <a:rPr sz="1100" b="1">
                          <a:solidFill>
                            <a:srgbClr val="333F50"/>
                          </a:solidFill>
                          <a:latin typeface="楷体"/>
                          <a:ea typeface="楷体"/>
                          <a:cs typeface="楷体"/>
                        </a:rPr>
                        <a:t>加：投資收益</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-42.6</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-96.4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-178%</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1,093.9</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-510.2</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-31.8%</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2,500.0</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43.8%</a:t>
                      </a:r>
                    </a:p>
                  </a:txBody>
                  <a:tcPr anchor="ctr" marL="36576" marR="36576" marT="18288" marB="18288">
                    <a:solidFill>
                      <a:srgbClr val="F7F7F7"/>
                    </a:solidFill>
                  </a:tcPr>
                </a:tc>
              </a:tr>
              <a:tr h="441959">
                <a:tc>
                  <a:txBody>
                    <a:bodyPr/>
                    <a:lstStyle/>
                    <a:p>
                      <a:pPr algn="l"/>
                      <a:r>
                        <a:rPr sz="1100" b="1">
                          <a:solidFill>
                            <a:srgbClr val="333F50"/>
                          </a:solidFill>
                          <a:latin typeface="楷体"/>
                          <a:ea typeface="楷体"/>
                          <a:cs typeface="楷体"/>
                        </a:rPr>
                        <a:t>稅前利潤</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48.2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-88.6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-64.8%</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1,445.5</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96.4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7.1%</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2,154.0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67.1%</a:t>
                      </a:r>
                    </a:p>
                  </a:txBody>
                  <a:tcPr anchor="ctr" marL="36576" marR="36576" marT="18288" marB="18288">
                    <a:solidFill>
                      <a:srgbClr val="FFFFFF"/>
                    </a:solidFill>
                  </a:tcPr>
                </a:tc>
              </a:tr>
              <a:tr h="441967">
                <a:tc>
                  <a:txBody>
                    <a:bodyPr/>
                    <a:lstStyle/>
                    <a:p>
                      <a:pPr algn="l"/>
                      <a:r>
                        <a:rPr sz="1100" b="1">
                          <a:solidFill>
                            <a:srgbClr val="ED7D31"/>
                          </a:solidFill>
                          <a:latin typeface="楷体"/>
                          <a:ea typeface="楷体"/>
                          <a:cs typeface="楷体"/>
                        </a:rPr>
                        <a:t>稅後利潤</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39.6</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-76.2</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-65.8%</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1,299.1</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82.6</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6.8%</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1,874.0</a:t>
                      </a:r>
                    </a:p>
                  </a:txBody>
                  <a:tcPr anchor="ctr" marL="36576" marR="36576" marT="18288" marB="18288">
                    <a:solidFill>
                      <a:srgbClr val="F7F7F7"/>
                    </a:solidFill>
                  </a:tcPr>
                </a:tc>
                <a:tc>
                  <a:txBody>
                    <a:bodyPr/>
                    <a:lstStyle/>
                    <a:p>
                      <a:pPr algn="ctr"/>
                      <a:r>
                        <a:rPr sz="1100" b="1">
                          <a:solidFill>
                            <a:srgbClr val="ED7D31"/>
                          </a:solidFill>
                          <a:latin typeface="楷体"/>
                          <a:ea typeface="楷体"/>
                          <a:cs typeface="楷体"/>
                        </a:rPr>
                        <a:t>69.3%</a:t>
                      </a:r>
                    </a:p>
                  </a:txBody>
                  <a:tcPr anchor="ctr" marL="36576" marR="36576" marT="18288" marB="18288">
                    <a:solidFill>
                      <a:srgbClr val="F7F7F7"/>
                    </a:solidFill>
                  </a:tcPr>
                </a:tc>
              </a:tr>
            </a:tbl>
          </a:graphicData>
        </a:graphic>
      </p:graphicFrame>
      <p:sp>
        <p:nvSpPr>
          <p:cNvPr id="7" name="TextBox 6"/>
          <p:cNvSpPr txBox="1"/>
          <p:nvPr/>
        </p:nvSpPr>
        <p:spPr>
          <a:xfrm>
            <a:off x="274320" y="5303520"/>
            <a:ext cx="11612880" cy="502920"/>
          </a:xfrm>
          <a:prstGeom prst="rect">
            <a:avLst/>
          </a:prstGeom>
          <a:noFill/>
        </p:spPr>
        <p:txBody>
          <a:bodyPr wrap="square">
            <a:spAutoFit/>
          </a:bodyPr>
          <a:lstStyle/>
          <a:p>
            <a:pPr algn="l"/>
            <a:r>
              <a:rPr sz="1300" b="0">
                <a:solidFill>
                  <a:srgbClr val="333F50"/>
                </a:solidFill>
                <a:latin typeface="楷体"/>
                <a:ea typeface="楷体"/>
                <a:cs typeface="楷体"/>
              </a:rPr>
              <a:t>9月當月錄得稅後盈利39.6萬港元，環比減少76.2萬。保險收入1,520.4萬，環比增加86.2萬；保險服務業績184.6萬。</a:t>
            </a:r>
          </a:p>
        </p:txBody>
      </p:sp>
      <p:sp>
        <p:nvSpPr>
          <p:cNvPr id="8" name="TextBox 7"/>
          <p:cNvSpPr txBox="1"/>
          <p:nvPr/>
        </p:nvSpPr>
        <p:spPr>
          <a:xfrm>
            <a:off x="274320" y="5852160"/>
            <a:ext cx="11612880" cy="457200"/>
          </a:xfrm>
          <a:prstGeom prst="rect">
            <a:avLst/>
          </a:prstGeom>
          <a:noFill/>
        </p:spPr>
        <p:txBody>
          <a:bodyPr wrap="square">
            <a:spAutoFit/>
          </a:bodyPr>
          <a:lstStyle/>
          <a:p>
            <a:pPr algn="l"/>
            <a:r>
              <a:rPr sz="1300" b="0">
                <a:solidFill>
                  <a:srgbClr val="333F50"/>
                </a:solidFill>
                <a:latin typeface="楷体"/>
                <a:ea typeface="楷体"/>
                <a:cs typeface="楷体"/>
              </a:rPr>
              <a:t>1–9月累計稅後利潤1,299.1萬。保險收入14,760.2萬，同比增加1,210.5萬；投資收益1,093.9萬。</a:t>
            </a:r>
          </a:p>
        </p:txBody>
      </p:sp>
      <p:sp>
        <p:nvSpPr>
          <p:cNvPr id="9" name="TextBox 8"/>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毛保費</a:t>
            </a:r>
          </a:p>
        </p:txBody>
      </p:sp>
      <p:graphicFrame>
        <p:nvGraphicFramePr>
          <p:cNvPr id="5" name="Table 4"/>
          <p:cNvGraphicFramePr>
            <a:graphicFrameLocks noGrp="1"/>
          </p:cNvGraphicFramePr>
          <p:nvPr/>
        </p:nvGraphicFramePr>
        <p:xfrm>
          <a:off x="320040" y="1051560"/>
          <a:ext cx="11521440" cy="2880360"/>
        </p:xfrm>
        <a:graphic>
          <a:graphicData uri="http://schemas.openxmlformats.org/drawingml/2006/table">
            <a:tbl>
              <a:tblPr firstRow="1" bandRow="1">
                <a:tableStyleId>{5C22544A-7EE6-4342-B048-85BDC9FD1C3A}</a:tableStyleId>
              </a:tblPr>
              <a:tblGrid>
                <a:gridCol w="1645920"/>
                <a:gridCol w="1645920"/>
                <a:gridCol w="1645920"/>
                <a:gridCol w="1645920"/>
                <a:gridCol w="1645920"/>
                <a:gridCol w="1645920"/>
                <a:gridCol w="1645920"/>
              </a:tblGrid>
              <a:tr h="480060">
                <a:tc>
                  <a:txBody>
                    <a:bodyPr/>
                    <a:lstStyle/>
                    <a:p>
                      <a:pPr algn="ctr"/>
                      <a:r>
                        <a:rPr sz="1300" b="1">
                          <a:solidFill>
                            <a:srgbClr val="FFFFFF"/>
                          </a:solidFill>
                          <a:latin typeface="楷体"/>
                          <a:ea typeface="楷体"/>
                          <a:cs typeface="楷体"/>
                        </a:rPr>
                        <a:t>項目</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2026年1–9月</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2025年1–9月</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修訂預算</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完成%</a:t>
                      </a:r>
                    </a:p>
                  </a:txBody>
                  <a:tcPr anchor="ctr" marL="36576" marR="36576" marT="18288" marB="18288">
                    <a:solidFill>
                      <a:srgbClr val="333F50"/>
                    </a:solidFill>
                  </a:tcPr>
                </a:tc>
              </a:tr>
              <a:tr h="480060">
                <a:tc>
                  <a:txBody>
                    <a:bodyPr/>
                    <a:lstStyle/>
                    <a:p>
                      <a:pPr algn="l"/>
                      <a:r>
                        <a:rPr sz="1300" b="1">
                          <a:solidFill>
                            <a:srgbClr val="333F50"/>
                          </a:solidFill>
                          <a:latin typeface="楷体"/>
                          <a:ea typeface="楷体"/>
                          <a:cs typeface="楷体"/>
                        </a:rPr>
                        <a:t>毛保費合計</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16,880.2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14,620.5</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2,259.7</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15.5%</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23,000.0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73.4%</a:t>
                      </a:r>
                    </a:p>
                  </a:txBody>
                  <a:tcPr anchor="ctr" marL="36576" marR="36576" marT="18288" marB="18288">
                    <a:solidFill>
                      <a:srgbClr val="FFFFFF"/>
                    </a:solidFill>
                  </a:tcPr>
                </a:tc>
              </a:tr>
              <a:tr h="480060">
                <a:tc>
                  <a:txBody>
                    <a:bodyPr/>
                    <a:lstStyle/>
                    <a:p>
                      <a:pPr algn="l"/>
                      <a:r>
                        <a:rPr sz="1300" b="1">
                          <a:solidFill>
                            <a:srgbClr val="333F50"/>
                          </a:solidFill>
                          <a:latin typeface="楷体"/>
                          <a:ea typeface="楷体"/>
                          <a:cs typeface="楷体"/>
                        </a:rPr>
                        <a:t>香港業務</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6,940.6</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5,880.4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1,060.2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18.0%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9,800.0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70.8%</a:t>
                      </a:r>
                    </a:p>
                  </a:txBody>
                  <a:tcPr anchor="ctr" marL="36576" marR="36576" marT="18288" marB="18288">
                    <a:solidFill>
                      <a:srgbClr val="F7F7F7"/>
                    </a:solidFill>
                  </a:tcPr>
                </a:tc>
              </a:tr>
              <a:tr h="480060">
                <a:tc>
                  <a:txBody>
                    <a:bodyPr/>
                    <a:lstStyle/>
                    <a:p>
                      <a:pPr algn="l"/>
                      <a:r>
                        <a:rPr sz="1300" b="1">
                          <a:solidFill>
                            <a:srgbClr val="333F50"/>
                          </a:solidFill>
                          <a:latin typeface="楷体"/>
                          <a:ea typeface="楷体"/>
                          <a:cs typeface="楷体"/>
                        </a:rPr>
                        <a:t>澳門業務</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9,939.6</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8,740.1</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1,199.5</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13.7%</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13,200.0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75.3%</a:t>
                      </a:r>
                    </a:p>
                  </a:txBody>
                  <a:tcPr anchor="ctr" marL="36576" marR="36576" marT="18288" marB="18288">
                    <a:solidFill>
                      <a:srgbClr val="FFFFFF"/>
                    </a:solidFill>
                  </a:tcPr>
                </a:tc>
              </a:tr>
              <a:tr h="480060">
                <a:tc>
                  <a:txBody>
                    <a:bodyPr/>
                    <a:lstStyle/>
                    <a:p>
                      <a:pPr algn="l"/>
                      <a:r>
                        <a:rPr sz="1300" b="1">
                          <a:solidFill>
                            <a:srgbClr val="333F50"/>
                          </a:solidFill>
                          <a:latin typeface="楷体"/>
                          <a:ea typeface="楷体"/>
                          <a:cs typeface="楷体"/>
                        </a:rPr>
                        <a:t>直接業務</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10,420.8</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11,050.2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-629.4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-5.7%</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a:t>
                      </a:r>
                    </a:p>
                  </a:txBody>
                  <a:tcPr anchor="ctr" marL="36576" marR="36576" marT="18288" marB="18288">
                    <a:solidFill>
                      <a:srgbClr val="F7F7F7"/>
                    </a:solidFill>
                  </a:tcPr>
                </a:tc>
              </a:tr>
              <a:tr h="480060">
                <a:tc>
                  <a:txBody>
                    <a:bodyPr/>
                    <a:lstStyle/>
                    <a:p>
                      <a:pPr algn="l"/>
                      <a:r>
                        <a:rPr sz="1300" b="1">
                          <a:solidFill>
                            <a:srgbClr val="ED7D31"/>
                          </a:solidFill>
                          <a:latin typeface="楷体"/>
                          <a:ea typeface="楷体"/>
                          <a:cs typeface="楷体"/>
                        </a:rPr>
                        <a:t>分入業務</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6,459.4</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3,570.3</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2,889.1</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80.9%</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a:t>
                      </a:r>
                    </a:p>
                  </a:txBody>
                  <a:tcPr anchor="ctr" marL="36576" marR="36576" marT="18288" marB="18288">
                    <a:solidFill>
                      <a:srgbClr val="FFFFFF"/>
                    </a:solidFill>
                  </a:tcPr>
                </a:tc>
              </a:tr>
            </a:tbl>
          </a:graphicData>
        </a:graphic>
      </p:graphicFrame>
      <p:sp>
        <p:nvSpPr>
          <p:cNvPr id="6" name="TextBox 5"/>
          <p:cNvSpPr txBox="1"/>
          <p:nvPr/>
        </p:nvSpPr>
        <p:spPr>
          <a:xfrm>
            <a:off x="365760" y="4206240"/>
            <a:ext cx="11338560" cy="1828800"/>
          </a:xfrm>
          <a:prstGeom prst="rect">
            <a:avLst/>
          </a:prstGeom>
          <a:noFill/>
        </p:spPr>
        <p:txBody>
          <a:bodyPr wrap="square">
            <a:spAutoFit/>
          </a:bodyPr>
          <a:lstStyle/>
          <a:p>
            <a:pPr algn="l"/>
            <a:r>
              <a:rPr sz="1600" b="0">
                <a:solidFill>
                  <a:srgbClr val="333F50"/>
                </a:solidFill>
                <a:latin typeface="楷体"/>
                <a:ea typeface="楷体"/>
                <a:cs typeface="楷体"/>
              </a:rPr>
              <a:t>香港佔比41.1%（2025：40.2%），澳門佔比58.9%（2025：59.8%）。
直接業務佔比61.7%（2025：75.6%），分入業務佔比38.3%（2025：24.4%）。
同比增加主要來自虛構的北灣銀行團體醫療及南灣勞務險，保費合計約2,050萬港元。</a:t>
            </a:r>
          </a:p>
        </p:txBody>
      </p:sp>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毛保費（續）</a:t>
            </a:r>
          </a:p>
        </p:txBody>
      </p:sp>
      <p:graphicFrame>
        <p:nvGraphicFramePr>
          <p:cNvPr id="5" name="Table 4"/>
          <p:cNvGraphicFramePr>
            <a:graphicFrameLocks noGrp="1"/>
          </p:cNvGraphicFramePr>
          <p:nvPr/>
        </p:nvGraphicFramePr>
        <p:xfrm>
          <a:off x="228600" y="960120"/>
          <a:ext cx="11750040" cy="4160520"/>
        </p:xfrm>
        <a:graphic>
          <a:graphicData uri="http://schemas.openxmlformats.org/drawingml/2006/table">
            <a:tbl>
              <a:tblPr firstRow="1" bandRow="1">
                <a:tableStyleId>{5C22544A-7EE6-4342-B048-85BDC9FD1C3A}</a:tableStyleId>
              </a:tblPr>
              <a:tblGrid>
                <a:gridCol w="1678577"/>
                <a:gridCol w="1678577"/>
                <a:gridCol w="1678577"/>
                <a:gridCol w="1678577"/>
                <a:gridCol w="1678577"/>
                <a:gridCol w="1678577"/>
                <a:gridCol w="1678578"/>
              </a:tblGrid>
              <a:tr h="462280">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修訂預算</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完成%</a:t>
                      </a:r>
                    </a:p>
                  </a:txBody>
                  <a:tcPr anchor="ctr" marL="36576" marR="36576" marT="18288" marB="18288">
                    <a:solidFill>
                      <a:srgbClr val="333F50"/>
                    </a:solidFill>
                  </a:tcPr>
                </a:tc>
              </a:tr>
              <a:tr h="462280">
                <a:tc>
                  <a:txBody>
                    <a:bodyPr/>
                    <a:lstStyle/>
                    <a:p>
                      <a:pPr algn="l"/>
                      <a:r>
                        <a:rPr sz="1200" b="1">
                          <a:solidFill>
                            <a:srgbClr val="333F50"/>
                          </a:solidFill>
                          <a:latin typeface="楷体"/>
                          <a:ea typeface="楷体"/>
                          <a:cs typeface="楷体"/>
                        </a:rPr>
                        <a:t>汽車險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1,540.2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2,140.6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-600.4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-28.0%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2,100.0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73.3%</a:t>
                      </a:r>
                    </a:p>
                  </a:txBody>
                  <a:tcPr anchor="ctr" marL="36576" marR="36576" marT="18288" marB="18288">
                    <a:solidFill>
                      <a:srgbClr val="FFFFFF"/>
                    </a:solidFill>
                  </a:tcPr>
                </a:tc>
              </a:tr>
              <a:tr h="462280">
                <a:tc>
                  <a:txBody>
                    <a:bodyPr/>
                    <a:lstStyle/>
                    <a:p>
                      <a:pPr algn="l"/>
                      <a:r>
                        <a:rPr sz="12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1,286.4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380.2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906.2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238.3%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1,600.0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80.4%</a:t>
                      </a:r>
                    </a:p>
                  </a:txBody>
                  <a:tcPr anchor="ctr" marL="36576" marR="36576" marT="18288" marB="18288">
                    <a:solidFill>
                      <a:srgbClr val="F7F7F7"/>
                    </a:solidFill>
                  </a:tcPr>
                </a:tc>
              </a:tr>
              <a:tr h="462280">
                <a:tc>
                  <a:txBody>
                    <a:bodyPr/>
                    <a:lstStyle/>
                    <a:p>
                      <a:pPr algn="l"/>
                      <a:r>
                        <a:rPr sz="12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1,410.8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168.5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1,242.3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737.3%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1,750.0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80.6%</a:t>
                      </a:r>
                    </a:p>
                  </a:txBody>
                  <a:tcPr anchor="ctr" marL="36576" marR="36576" marT="18288" marB="18288">
                    <a:solidFill>
                      <a:srgbClr val="FFFFFF"/>
                    </a:solidFill>
                  </a:tcPr>
                </a:tc>
              </a:tr>
              <a:tr h="462280">
                <a:tc>
                  <a:txBody>
                    <a:bodyPr/>
                    <a:lstStyle/>
                    <a:p>
                      <a:pPr algn="l"/>
                      <a:r>
                        <a:rPr sz="1200" b="1">
                          <a:solidFill>
                            <a:srgbClr val="333F50"/>
                          </a:solidFill>
                          <a:latin typeface="楷体"/>
                          <a:ea typeface="楷体"/>
                          <a:cs typeface="楷体"/>
                        </a:rPr>
                        <a:t>火險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4,460.2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4,420.8</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39.4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0.9%</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6,800.0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65.6%</a:t>
                      </a:r>
                    </a:p>
                  </a:txBody>
                  <a:tcPr anchor="ctr" marL="36576" marR="36576" marT="18288" marB="18288">
                    <a:solidFill>
                      <a:srgbClr val="F7F7F7"/>
                    </a:solidFill>
                  </a:tcPr>
                </a:tc>
              </a:tr>
              <a:tr h="462280">
                <a:tc>
                  <a:txBody>
                    <a:bodyPr/>
                    <a:lstStyle/>
                    <a:p>
                      <a:pPr algn="l"/>
                      <a:r>
                        <a:rPr sz="1200" b="1">
                          <a:solidFill>
                            <a:srgbClr val="333F50"/>
                          </a:solidFill>
                          <a:latin typeface="楷体"/>
                          <a:ea typeface="楷体"/>
                          <a:cs typeface="楷体"/>
                        </a:rPr>
                        <a:t>財產全險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3,920.5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4,110.4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-189.9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6,400.0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61.3%</a:t>
                      </a:r>
                    </a:p>
                  </a:txBody>
                  <a:tcPr anchor="ctr" marL="36576" marR="36576" marT="18288" marB="18288">
                    <a:solidFill>
                      <a:srgbClr val="FFFFFF"/>
                    </a:solidFill>
                  </a:tcPr>
                </a:tc>
              </a:tr>
              <a:tr h="462280">
                <a:tc>
                  <a:txBody>
                    <a:bodyPr/>
                    <a:lstStyle/>
                    <a:p>
                      <a:pPr algn="l"/>
                      <a:r>
                        <a:rPr sz="1200" b="1">
                          <a:solidFill>
                            <a:srgbClr val="333F50"/>
                          </a:solidFill>
                          <a:latin typeface="楷体"/>
                          <a:ea typeface="楷体"/>
                          <a:cs typeface="楷体"/>
                        </a:rPr>
                        <a:t>其他險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362.1</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470.0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-107.9</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-23.0%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850.0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42.6%</a:t>
                      </a:r>
                    </a:p>
                  </a:txBody>
                  <a:tcPr anchor="ctr" marL="36576" marR="36576" marT="18288" marB="18288">
                    <a:solidFill>
                      <a:srgbClr val="F7F7F7"/>
                    </a:solidFill>
                  </a:tcPr>
                </a:tc>
              </a:tr>
              <a:tr h="462280">
                <a:tc>
                  <a:txBody>
                    <a:bodyPr/>
                    <a:lstStyle/>
                    <a:p>
                      <a:pPr algn="l"/>
                      <a:r>
                        <a:rPr sz="12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3,900.0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2,930.0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970.0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33.1%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4,500.0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86.7%</a:t>
                      </a:r>
                    </a:p>
                  </a:txBody>
                  <a:tcPr anchor="ctr" marL="36576" marR="36576" marT="18288" marB="18288">
                    <a:solidFill>
                      <a:srgbClr val="FFFFFF"/>
                    </a:solidFill>
                  </a:tcPr>
                </a:tc>
              </a:tr>
              <a:tr h="462280">
                <a:tc>
                  <a:txBody>
                    <a:bodyPr/>
                    <a:lstStyle/>
                    <a:p>
                      <a:pPr algn="l"/>
                      <a:r>
                        <a:rPr sz="12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16,880.2</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14,620.5</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2,259.7</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15.5%</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24,000.0</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70.3%</a:t>
                      </a:r>
                    </a:p>
                  </a:txBody>
                  <a:tcPr anchor="ctr" marL="36576" marR="36576" marT="18288" marB="18288">
                    <a:solidFill>
                      <a:srgbClr val="F7F7F7"/>
                    </a:solidFill>
                  </a:tcPr>
                </a:tc>
              </a:tr>
            </a:tbl>
          </a:graphicData>
        </a:graphic>
      </p:graphicFrame>
      <p:sp>
        <p:nvSpPr>
          <p:cNvPr id="6" name="TextBox 5"/>
          <p:cNvSpPr txBox="1"/>
          <p:nvPr/>
        </p:nvSpPr>
        <p:spPr>
          <a:xfrm>
            <a:off x="320040" y="5303520"/>
            <a:ext cx="11521440" cy="1051560"/>
          </a:xfrm>
          <a:prstGeom prst="rect">
            <a:avLst/>
          </a:prstGeom>
          <a:noFill/>
        </p:spPr>
        <p:txBody>
          <a:bodyPr wrap="square">
            <a:spAutoFit/>
          </a:bodyPr>
          <a:lstStyle/>
          <a:p>
            <a:pPr algn="l"/>
            <a:r>
              <a:rPr sz="1400" b="0">
                <a:solidFill>
                  <a:srgbClr val="333F50"/>
                </a:solidFill>
                <a:latin typeface="楷体"/>
                <a:ea typeface="楷体"/>
                <a:cs typeface="楷体"/>
              </a:rPr>
              <a:t>截至9月底完成修訂預算70.3%，落後時間進度約4.7個百分點。汽車險、財產全險、其他險下跌。意外及健康險、勞工險增幅主要來自分入。</a:t>
            </a:r>
          </a:p>
        </p:txBody>
      </p:sp>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毛保費組合（綜合）</a:t>
            </a:r>
          </a:p>
        </p:txBody>
      </p:sp>
      <p:sp>
        <p:nvSpPr>
          <p:cNvPr id="5" name="TextBox 4"/>
          <p:cNvSpPr txBox="1"/>
          <p:nvPr/>
        </p:nvSpPr>
        <p:spPr>
          <a:xfrm>
            <a:off x="411480" y="960120"/>
            <a:ext cx="5029200" cy="320040"/>
          </a:xfrm>
          <a:prstGeom prst="rect">
            <a:avLst/>
          </a:prstGeom>
          <a:noFill/>
        </p:spPr>
        <p:txBody>
          <a:bodyPr wrap="square">
            <a:spAutoFit/>
          </a:bodyPr>
          <a:lstStyle/>
          <a:p>
            <a:pPr algn="l"/>
            <a:r>
              <a:rPr sz="1600" b="1">
                <a:solidFill>
                  <a:srgbClr val="ED7D31"/>
                </a:solidFill>
                <a:latin typeface="楷体"/>
                <a:ea typeface="楷体"/>
                <a:cs typeface="楷体"/>
              </a:rPr>
              <a:t>2026年9月底</a:t>
            </a:r>
          </a:p>
        </p:txBody>
      </p:sp>
      <p:sp>
        <p:nvSpPr>
          <p:cNvPr id="6" name="TextBox 5"/>
          <p:cNvSpPr txBox="1"/>
          <p:nvPr/>
        </p:nvSpPr>
        <p:spPr>
          <a:xfrm>
            <a:off x="6400800" y="960120"/>
            <a:ext cx="5029200" cy="320040"/>
          </a:xfrm>
          <a:prstGeom prst="rect">
            <a:avLst/>
          </a:prstGeom>
          <a:noFill/>
        </p:spPr>
        <p:txBody>
          <a:bodyPr wrap="square">
            <a:spAutoFit/>
          </a:bodyPr>
          <a:lstStyle/>
          <a:p>
            <a:pPr algn="l"/>
            <a:r>
              <a:rPr sz="1600" b="1">
                <a:solidFill>
                  <a:srgbClr val="ED7D31"/>
                </a:solidFill>
                <a:latin typeface="楷体"/>
                <a:ea typeface="楷体"/>
                <a:cs typeface="楷体"/>
              </a:rPr>
              <a:t>2025年9月底</a:t>
            </a:r>
          </a:p>
        </p:txBody>
      </p:sp>
      <p:graphicFrame>
        <p:nvGraphicFramePr>
          <p:cNvPr id="7" name="Table 6"/>
          <p:cNvGraphicFramePr>
            <a:graphicFrameLocks noGrp="1"/>
          </p:cNvGraphicFramePr>
          <p:nvPr/>
        </p:nvGraphicFramePr>
        <p:xfrm>
          <a:off x="365760" y="1371600"/>
          <a:ext cx="5212080" cy="3931920"/>
        </p:xfrm>
        <a:graphic>
          <a:graphicData uri="http://schemas.openxmlformats.org/drawingml/2006/table">
            <a:tbl>
              <a:tblPr firstRow="1" bandRow="1">
                <a:tableStyleId>{5C22544A-7EE6-4342-B048-85BDC9FD1C3A}</a:tableStyleId>
              </a:tblPr>
              <a:tblGrid>
                <a:gridCol w="2606040"/>
                <a:gridCol w="2606040"/>
              </a:tblGrid>
              <a:tr h="491490">
                <a:tc>
                  <a:txBody>
                    <a:bodyPr/>
                    <a:lstStyle/>
                    <a:p>
                      <a:pPr algn="ctr"/>
                      <a:r>
                        <a:rPr sz="14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佔比</a:t>
                      </a:r>
                    </a:p>
                  </a:txBody>
                  <a:tcPr anchor="ctr" marL="36576" marR="36576" marT="18288" marB="18288">
                    <a:solidFill>
                      <a:srgbClr val="333F50"/>
                    </a:solidFill>
                  </a:tcPr>
                </a:tc>
              </a:tr>
              <a:tr h="491490">
                <a:tc>
                  <a:txBody>
                    <a:bodyPr/>
                    <a:lstStyle/>
                    <a:p>
                      <a:pPr algn="l"/>
                      <a:r>
                        <a:rPr sz="1400" b="1">
                          <a:solidFill>
                            <a:srgbClr val="333F50"/>
                          </a:solidFill>
                          <a:latin typeface="楷体"/>
                          <a:ea typeface="楷体"/>
                          <a:cs typeface="楷体"/>
                        </a:rPr>
                        <a:t>火險</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26.4%</a:t>
                      </a:r>
                    </a:p>
                  </a:txBody>
                  <a:tcPr anchor="ctr" marL="36576" marR="36576" marT="18288" marB="18288">
                    <a:solidFill>
                      <a:srgbClr val="FFFFFF"/>
                    </a:solidFill>
                  </a:tcPr>
                </a:tc>
              </a:tr>
              <a:tr h="491490">
                <a:tc>
                  <a:txBody>
                    <a:bodyPr/>
                    <a:lstStyle/>
                    <a:p>
                      <a:pPr algn="l"/>
                      <a:r>
                        <a:rPr sz="1400" b="1">
                          <a:solidFill>
                            <a:srgbClr val="333F50"/>
                          </a:solidFill>
                          <a:latin typeface="楷体"/>
                          <a:ea typeface="楷体"/>
                          <a:cs typeface="楷体"/>
                        </a:rPr>
                        <a:t>財產全險</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23.2%</a:t>
                      </a:r>
                    </a:p>
                  </a:txBody>
                  <a:tcPr anchor="ctr" marL="36576" marR="36576" marT="18288" marB="18288">
                    <a:solidFill>
                      <a:srgbClr val="F7F7F7"/>
                    </a:solidFill>
                  </a:tcPr>
                </a:tc>
              </a:tr>
              <a:tr h="491490">
                <a:tc>
                  <a:txBody>
                    <a:bodyPr/>
                    <a:lstStyle/>
                    <a:p>
                      <a:pPr algn="l"/>
                      <a:r>
                        <a:rPr sz="14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23.1%</a:t>
                      </a:r>
                    </a:p>
                  </a:txBody>
                  <a:tcPr anchor="ctr" marL="36576" marR="36576" marT="18288" marB="18288">
                    <a:solidFill>
                      <a:srgbClr val="FFFFFF"/>
                    </a:solidFill>
                  </a:tcPr>
                </a:tc>
              </a:tr>
              <a:tr h="491490">
                <a:tc>
                  <a:txBody>
                    <a:bodyPr/>
                    <a:lstStyle/>
                    <a:p>
                      <a:pPr algn="l"/>
                      <a:r>
                        <a:rPr sz="1400" b="1">
                          <a:solidFill>
                            <a:srgbClr val="333F50"/>
                          </a:solidFill>
                          <a:latin typeface="楷体"/>
                          <a:ea typeface="楷体"/>
                          <a:cs typeface="楷体"/>
                        </a:rPr>
                        <a:t>汽車險</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9.1%</a:t>
                      </a:r>
                    </a:p>
                  </a:txBody>
                  <a:tcPr anchor="ctr" marL="36576" marR="36576" marT="18288" marB="18288">
                    <a:solidFill>
                      <a:srgbClr val="F7F7F7"/>
                    </a:solidFill>
                  </a:tcPr>
                </a:tc>
              </a:tr>
              <a:tr h="491490">
                <a:tc>
                  <a:txBody>
                    <a:bodyPr/>
                    <a:lstStyle/>
                    <a:p>
                      <a:pPr algn="l"/>
                      <a:r>
                        <a:rPr sz="14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8.4%</a:t>
                      </a:r>
                    </a:p>
                  </a:txBody>
                  <a:tcPr anchor="ctr" marL="36576" marR="36576" marT="18288" marB="18288">
                    <a:solidFill>
                      <a:srgbClr val="FFFFFF"/>
                    </a:solidFill>
                  </a:tcPr>
                </a:tc>
              </a:tr>
              <a:tr h="491490">
                <a:tc>
                  <a:txBody>
                    <a:bodyPr/>
                    <a:lstStyle/>
                    <a:p>
                      <a:pPr algn="l"/>
                      <a:r>
                        <a:rPr sz="14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7.6%</a:t>
                      </a:r>
                    </a:p>
                  </a:txBody>
                  <a:tcPr anchor="ctr" marL="36576" marR="36576" marT="18288" marB="18288">
                    <a:solidFill>
                      <a:srgbClr val="F7F7F7"/>
                    </a:solidFill>
                  </a:tcPr>
                </a:tc>
              </a:tr>
              <a:tr h="491490">
                <a:tc>
                  <a:txBody>
                    <a:bodyPr/>
                    <a:lstStyle/>
                    <a:p>
                      <a:pPr algn="l"/>
                      <a:r>
                        <a:rPr sz="1400" b="1">
                          <a:solidFill>
                            <a:srgbClr val="ED7D31"/>
                          </a:solidFill>
                          <a:latin typeface="楷体"/>
                          <a:ea typeface="楷体"/>
                          <a:cs typeface="楷体"/>
                        </a:rPr>
                        <a:t>其他險</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2.1%</a:t>
                      </a:r>
                    </a:p>
                  </a:txBody>
                  <a:tcPr anchor="ctr" marL="36576" marR="36576" marT="18288" marB="18288">
                    <a:solidFill>
                      <a:srgbClr val="FFFFFF"/>
                    </a:solidFill>
                  </a:tcPr>
                </a:tc>
              </a:tr>
            </a:tbl>
          </a:graphicData>
        </a:graphic>
      </p:graphicFrame>
      <p:graphicFrame>
        <p:nvGraphicFramePr>
          <p:cNvPr id="8" name="Table 7"/>
          <p:cNvGraphicFramePr>
            <a:graphicFrameLocks noGrp="1"/>
          </p:cNvGraphicFramePr>
          <p:nvPr/>
        </p:nvGraphicFramePr>
        <p:xfrm>
          <a:off x="6400800" y="1371600"/>
          <a:ext cx="5212080" cy="3931920"/>
        </p:xfrm>
        <a:graphic>
          <a:graphicData uri="http://schemas.openxmlformats.org/drawingml/2006/table">
            <a:tbl>
              <a:tblPr firstRow="1" bandRow="1">
                <a:tableStyleId>{5C22544A-7EE6-4342-B048-85BDC9FD1C3A}</a:tableStyleId>
              </a:tblPr>
              <a:tblGrid>
                <a:gridCol w="2606040"/>
                <a:gridCol w="2606040"/>
              </a:tblGrid>
              <a:tr h="491490">
                <a:tc>
                  <a:txBody>
                    <a:bodyPr/>
                    <a:lstStyle/>
                    <a:p>
                      <a:pPr algn="ctr"/>
                      <a:r>
                        <a:rPr sz="14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佔比</a:t>
                      </a:r>
                    </a:p>
                  </a:txBody>
                  <a:tcPr anchor="ctr" marL="36576" marR="36576" marT="18288" marB="18288">
                    <a:solidFill>
                      <a:srgbClr val="333F50"/>
                    </a:solidFill>
                  </a:tcPr>
                </a:tc>
              </a:tr>
              <a:tr h="491490">
                <a:tc>
                  <a:txBody>
                    <a:bodyPr/>
                    <a:lstStyle/>
                    <a:p>
                      <a:pPr algn="l"/>
                      <a:r>
                        <a:rPr sz="1400" b="1">
                          <a:solidFill>
                            <a:srgbClr val="333F50"/>
                          </a:solidFill>
                          <a:latin typeface="楷体"/>
                          <a:ea typeface="楷体"/>
                          <a:cs typeface="楷体"/>
                        </a:rPr>
                        <a:t>火險</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30.2%</a:t>
                      </a:r>
                    </a:p>
                  </a:txBody>
                  <a:tcPr anchor="ctr" marL="36576" marR="36576" marT="18288" marB="18288">
                    <a:solidFill>
                      <a:srgbClr val="FFFFFF"/>
                    </a:solidFill>
                  </a:tcPr>
                </a:tc>
              </a:tr>
              <a:tr h="491490">
                <a:tc>
                  <a:txBody>
                    <a:bodyPr/>
                    <a:lstStyle/>
                    <a:p>
                      <a:pPr algn="l"/>
                      <a:r>
                        <a:rPr sz="1400" b="1">
                          <a:solidFill>
                            <a:srgbClr val="333F50"/>
                          </a:solidFill>
                          <a:latin typeface="楷体"/>
                          <a:ea typeface="楷体"/>
                          <a:cs typeface="楷体"/>
                        </a:rPr>
                        <a:t>財產全險</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28.1%</a:t>
                      </a:r>
                    </a:p>
                  </a:txBody>
                  <a:tcPr anchor="ctr" marL="36576" marR="36576" marT="18288" marB="18288">
                    <a:solidFill>
                      <a:srgbClr val="F7F7F7"/>
                    </a:solidFill>
                  </a:tcPr>
                </a:tc>
              </a:tr>
              <a:tr h="491490">
                <a:tc>
                  <a:txBody>
                    <a:bodyPr/>
                    <a:lstStyle/>
                    <a:p>
                      <a:pPr algn="l"/>
                      <a:r>
                        <a:rPr sz="14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20.0%</a:t>
                      </a:r>
                    </a:p>
                  </a:txBody>
                  <a:tcPr anchor="ctr" marL="36576" marR="36576" marT="18288" marB="18288">
                    <a:solidFill>
                      <a:srgbClr val="FFFFFF"/>
                    </a:solidFill>
                  </a:tcPr>
                </a:tc>
              </a:tr>
              <a:tr h="491490">
                <a:tc>
                  <a:txBody>
                    <a:bodyPr/>
                    <a:lstStyle/>
                    <a:p>
                      <a:pPr algn="l"/>
                      <a:r>
                        <a:rPr sz="1400" b="1">
                          <a:solidFill>
                            <a:srgbClr val="333F50"/>
                          </a:solidFill>
                          <a:latin typeface="楷体"/>
                          <a:ea typeface="楷体"/>
                          <a:cs typeface="楷体"/>
                        </a:rPr>
                        <a:t>汽車險</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14.6%</a:t>
                      </a:r>
                    </a:p>
                  </a:txBody>
                  <a:tcPr anchor="ctr" marL="36576" marR="36576" marT="18288" marB="18288">
                    <a:solidFill>
                      <a:srgbClr val="F7F7F7"/>
                    </a:solidFill>
                  </a:tcPr>
                </a:tc>
              </a:tr>
              <a:tr h="491490">
                <a:tc>
                  <a:txBody>
                    <a:bodyPr/>
                    <a:lstStyle/>
                    <a:p>
                      <a:pPr algn="l"/>
                      <a:r>
                        <a:rPr sz="14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1.2%</a:t>
                      </a:r>
                    </a:p>
                  </a:txBody>
                  <a:tcPr anchor="ctr" marL="36576" marR="36576" marT="18288" marB="18288">
                    <a:solidFill>
                      <a:srgbClr val="FFFFFF"/>
                    </a:solidFill>
                  </a:tcPr>
                </a:tc>
              </a:tr>
              <a:tr h="491490">
                <a:tc>
                  <a:txBody>
                    <a:bodyPr/>
                    <a:lstStyle/>
                    <a:p>
                      <a:pPr algn="l"/>
                      <a:r>
                        <a:rPr sz="14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2.6%</a:t>
                      </a:r>
                    </a:p>
                  </a:txBody>
                  <a:tcPr anchor="ctr" marL="36576" marR="36576" marT="18288" marB="18288">
                    <a:solidFill>
                      <a:srgbClr val="F7F7F7"/>
                    </a:solidFill>
                  </a:tcPr>
                </a:tc>
              </a:tr>
              <a:tr h="491490">
                <a:tc>
                  <a:txBody>
                    <a:bodyPr/>
                    <a:lstStyle/>
                    <a:p>
                      <a:pPr algn="l"/>
                      <a:r>
                        <a:rPr sz="1400" b="1">
                          <a:solidFill>
                            <a:srgbClr val="ED7D31"/>
                          </a:solidFill>
                          <a:latin typeface="楷体"/>
                          <a:ea typeface="楷体"/>
                          <a:cs typeface="楷体"/>
                        </a:rPr>
                        <a:t>其他險</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3.2%</a:t>
                      </a:r>
                    </a:p>
                  </a:txBody>
                  <a:tcPr anchor="ctr" marL="36576" marR="36576" marT="18288" marB="18288">
                    <a:solidFill>
                      <a:srgbClr val="FFFFFF"/>
                    </a:solidFill>
                  </a:tcPr>
                </a:tc>
              </a:tr>
            </a:tbl>
          </a:graphicData>
        </a:graphic>
      </p:graphicFrame>
      <p:sp>
        <p:nvSpPr>
          <p:cNvPr id="9" name="TextBox 8"/>
          <p:cNvSpPr txBox="1"/>
          <p:nvPr/>
        </p:nvSpPr>
        <p:spPr>
          <a:xfrm>
            <a:off x="365760" y="5532120"/>
            <a:ext cx="11338560" cy="777240"/>
          </a:xfrm>
          <a:prstGeom prst="rect">
            <a:avLst/>
          </a:prstGeom>
          <a:noFill/>
        </p:spPr>
        <p:txBody>
          <a:bodyPr wrap="square">
            <a:spAutoFit/>
          </a:bodyPr>
          <a:lstStyle/>
          <a:p>
            <a:pPr algn="l"/>
            <a:r>
              <a:rPr sz="1500" b="0">
                <a:solidFill>
                  <a:srgbClr val="333F50"/>
                </a:solidFill>
                <a:latin typeface="楷体"/>
                <a:ea typeface="楷体"/>
                <a:cs typeface="楷体"/>
              </a:rPr>
              <a:t>佔比最大為火險26.4%（2025：30.2%），其次財產全險23.2%，合同分入23.1%。</a:t>
            </a:r>
          </a:p>
        </p:txBody>
      </p:sp>
      <p:sp>
        <p:nvSpPr>
          <p:cNvPr id="10" name="TextBox 9"/>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毛保費（香港業務）</a:t>
            </a:r>
          </a:p>
        </p:txBody>
      </p:sp>
      <p:sp>
        <p:nvSpPr>
          <p:cNvPr id="5" name="TextBox 4"/>
          <p:cNvSpPr txBox="1"/>
          <p:nvPr/>
        </p:nvSpPr>
        <p:spPr>
          <a:xfrm>
            <a:off x="320040" y="868680"/>
            <a:ext cx="11521440" cy="292608"/>
          </a:xfrm>
          <a:prstGeom prst="rect">
            <a:avLst/>
          </a:prstGeom>
          <a:noFill/>
        </p:spPr>
        <p:txBody>
          <a:bodyPr wrap="square">
            <a:spAutoFit/>
          </a:bodyPr>
          <a:lstStyle/>
          <a:p>
            <a:pPr algn="l"/>
            <a:r>
              <a:rPr sz="1300" b="0">
                <a:solidFill>
                  <a:srgbClr val="888888"/>
                </a:solidFill>
                <a:latin typeface="楷体"/>
                <a:ea typeface="楷体"/>
                <a:cs typeface="楷体"/>
              </a:rPr>
              <a:t>單位：萬港元。累計6,940.6萬，同比增加1,060.2萬。</a:t>
            </a:r>
          </a:p>
        </p:txBody>
      </p:sp>
      <p:graphicFrame>
        <p:nvGraphicFramePr>
          <p:cNvPr id="6" name="Table 5"/>
          <p:cNvGraphicFramePr>
            <a:graphicFrameLocks noGrp="1"/>
          </p:cNvGraphicFramePr>
          <p:nvPr/>
        </p:nvGraphicFramePr>
        <p:xfrm>
          <a:off x="274320" y="1234440"/>
          <a:ext cx="11612880" cy="379476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421640">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佔比</a:t>
                      </a:r>
                    </a:p>
                  </a:txBody>
                  <a:tcPr anchor="ctr" marL="36576" marR="36576" marT="18288" marB="18288">
                    <a:solidFill>
                      <a:srgbClr val="333F50"/>
                    </a:solidFill>
                  </a:tcPr>
                </a:tc>
              </a:tr>
              <a:tr h="421640">
                <a:tc>
                  <a:txBody>
                    <a:bodyPr/>
                    <a:lstStyle/>
                    <a:p>
                      <a:pPr algn="l"/>
                      <a:r>
                        <a:rPr sz="1200" b="1">
                          <a:solidFill>
                            <a:srgbClr val="333F50"/>
                          </a:solidFill>
                          <a:latin typeface="楷体"/>
                          <a:ea typeface="楷体"/>
                          <a:cs typeface="楷体"/>
                        </a:rPr>
                        <a:t>汽車險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1,430.2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2,050.4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-620.2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20.6%</a:t>
                      </a:r>
                    </a:p>
                  </a:txBody>
                  <a:tcPr anchor="ctr" marL="36576" marR="36576" marT="18288" marB="18288">
                    <a:solidFill>
                      <a:srgbClr val="FFFFFF"/>
                    </a:solidFill>
                  </a:tcPr>
                </a:tc>
              </a:tr>
              <a:tr h="421640">
                <a:tc>
                  <a:txBody>
                    <a:bodyPr/>
                    <a:lstStyle/>
                    <a:p>
                      <a:pPr algn="l"/>
                      <a:r>
                        <a:rPr sz="12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890.5</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96.2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794.3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825.7%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12.8%</a:t>
                      </a:r>
                    </a:p>
                  </a:txBody>
                  <a:tcPr anchor="ctr" marL="36576" marR="36576" marT="18288" marB="18288">
                    <a:solidFill>
                      <a:srgbClr val="F7F7F7"/>
                    </a:solidFill>
                  </a:tcPr>
                </a:tc>
              </a:tr>
              <a:tr h="421640">
                <a:tc>
                  <a:txBody>
                    <a:bodyPr/>
                    <a:lstStyle/>
                    <a:p>
                      <a:pPr algn="l"/>
                      <a:r>
                        <a:rPr sz="12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88.4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80.1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10.4%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1.3%</a:t>
                      </a:r>
                    </a:p>
                  </a:txBody>
                  <a:tcPr anchor="ctr" marL="36576" marR="36576" marT="18288" marB="18288">
                    <a:solidFill>
                      <a:srgbClr val="FFFFFF"/>
                    </a:solidFill>
                  </a:tcPr>
                </a:tc>
              </a:tr>
              <a:tr h="421640">
                <a:tc>
                  <a:txBody>
                    <a:bodyPr/>
                    <a:lstStyle/>
                    <a:p>
                      <a:pPr algn="l"/>
                      <a:r>
                        <a:rPr sz="1200" b="1">
                          <a:solidFill>
                            <a:srgbClr val="333F50"/>
                          </a:solidFill>
                          <a:latin typeface="楷体"/>
                          <a:ea typeface="楷体"/>
                          <a:cs typeface="楷体"/>
                        </a:rPr>
                        <a:t>火險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198.6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226.4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-27.8</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-12.3%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2.9%</a:t>
                      </a:r>
                    </a:p>
                  </a:txBody>
                  <a:tcPr anchor="ctr" marL="36576" marR="36576" marT="18288" marB="18288">
                    <a:solidFill>
                      <a:srgbClr val="F7F7F7"/>
                    </a:solidFill>
                  </a:tcPr>
                </a:tc>
              </a:tr>
              <a:tr h="421640">
                <a:tc>
                  <a:txBody>
                    <a:bodyPr/>
                    <a:lstStyle/>
                    <a:p>
                      <a:pPr algn="l"/>
                      <a:r>
                        <a:rPr sz="1200" b="1">
                          <a:solidFill>
                            <a:srgbClr val="333F50"/>
                          </a:solidFill>
                          <a:latin typeface="楷体"/>
                          <a:ea typeface="楷体"/>
                          <a:cs typeface="楷体"/>
                        </a:rPr>
                        <a:t>財產全險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386.2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452.8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-66.6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-14.7%</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5.6%</a:t>
                      </a:r>
                    </a:p>
                  </a:txBody>
                  <a:tcPr anchor="ctr" marL="36576" marR="36576" marT="18288" marB="18288">
                    <a:solidFill>
                      <a:srgbClr val="FFFFFF"/>
                    </a:solidFill>
                  </a:tcPr>
                </a:tc>
              </a:tr>
              <a:tr h="421640">
                <a:tc>
                  <a:txBody>
                    <a:bodyPr/>
                    <a:lstStyle/>
                    <a:p>
                      <a:pPr algn="l"/>
                      <a:r>
                        <a:rPr sz="1200" b="1">
                          <a:solidFill>
                            <a:srgbClr val="333F50"/>
                          </a:solidFill>
                          <a:latin typeface="楷体"/>
                          <a:ea typeface="楷体"/>
                          <a:cs typeface="楷体"/>
                        </a:rPr>
                        <a:t>其他險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76.7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164.5</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-87.8</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-53.4%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1.1%</a:t>
                      </a:r>
                    </a:p>
                  </a:txBody>
                  <a:tcPr anchor="ctr" marL="36576" marR="36576" marT="18288" marB="18288">
                    <a:solidFill>
                      <a:srgbClr val="F7F7F7"/>
                    </a:solidFill>
                  </a:tcPr>
                </a:tc>
              </a:tr>
              <a:tr h="421640">
                <a:tc>
                  <a:txBody>
                    <a:bodyPr/>
                    <a:lstStyle/>
                    <a:p>
                      <a:pPr algn="l"/>
                      <a:r>
                        <a:rPr sz="12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3,870.0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2,810.0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1,060.0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37.7%</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55.8%</a:t>
                      </a:r>
                    </a:p>
                  </a:txBody>
                  <a:tcPr anchor="ctr" marL="36576" marR="36576" marT="18288" marB="18288">
                    <a:solidFill>
                      <a:srgbClr val="FFFFFF"/>
                    </a:solidFill>
                  </a:tcPr>
                </a:tc>
              </a:tr>
              <a:tr h="421640">
                <a:tc>
                  <a:txBody>
                    <a:bodyPr/>
                    <a:lstStyle/>
                    <a:p>
                      <a:pPr algn="l"/>
                      <a:r>
                        <a:rPr sz="12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6,940.6</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5,880.4</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1,060.2</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18.0%</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100%</a:t>
                      </a:r>
                    </a:p>
                  </a:txBody>
                  <a:tcPr anchor="ctr" marL="36576" marR="36576" marT="18288" marB="18288">
                    <a:solidFill>
                      <a:srgbClr val="F7F7F7"/>
                    </a:solidFill>
                  </a:tcPr>
                </a:tc>
              </a:tr>
            </a:tbl>
          </a:graphicData>
        </a:graphic>
      </p:graphicFrame>
      <p:sp>
        <p:nvSpPr>
          <p:cNvPr id="7" name="TextBox 6"/>
          <p:cNvSpPr txBox="1"/>
          <p:nvPr/>
        </p:nvSpPr>
        <p:spPr>
          <a:xfrm>
            <a:off x="320040" y="5212080"/>
            <a:ext cx="11521440" cy="1097280"/>
          </a:xfrm>
          <a:prstGeom prst="rect">
            <a:avLst/>
          </a:prstGeom>
          <a:noFill/>
        </p:spPr>
        <p:txBody>
          <a:bodyPr wrap="square">
            <a:spAutoFit/>
          </a:bodyPr>
          <a:lstStyle/>
          <a:p>
            <a:pPr algn="l"/>
            <a:r>
              <a:rPr sz="1400" b="0">
                <a:solidFill>
                  <a:srgbClr val="333F50"/>
                </a:solidFill>
                <a:latin typeface="楷体"/>
                <a:ea typeface="楷体"/>
                <a:cs typeface="楷体"/>
              </a:rPr>
              <a:t>合同分入佔55.8%（2025：47.8%），汽車險佔20.6%，意外及健康險佔12.8%。</a:t>
            </a:r>
          </a:p>
        </p:txBody>
      </p:sp>
      <p:sp>
        <p:nvSpPr>
          <p:cNvPr id="8" name="TextBox 7"/>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直接業務毛保費（香港業務）</a:t>
            </a:r>
          </a:p>
        </p:txBody>
      </p:sp>
      <p:sp>
        <p:nvSpPr>
          <p:cNvPr id="5" name="TextBox 4"/>
          <p:cNvSpPr txBox="1"/>
          <p:nvPr/>
        </p:nvSpPr>
        <p:spPr>
          <a:xfrm>
            <a:off x="320040" y="868680"/>
            <a:ext cx="11521440" cy="292608"/>
          </a:xfrm>
          <a:prstGeom prst="rect">
            <a:avLst/>
          </a:prstGeom>
          <a:noFill/>
        </p:spPr>
        <p:txBody>
          <a:bodyPr wrap="square">
            <a:spAutoFit/>
          </a:bodyPr>
          <a:lstStyle/>
          <a:p>
            <a:pPr algn="l"/>
            <a:r>
              <a:rPr sz="1300" b="0">
                <a:solidFill>
                  <a:srgbClr val="888888"/>
                </a:solidFill>
                <a:latin typeface="楷体"/>
                <a:ea typeface="楷体"/>
                <a:cs typeface="楷体"/>
              </a:rPr>
              <a:t>單位：萬港元。</a:t>
            </a:r>
          </a:p>
        </p:txBody>
      </p:sp>
      <p:graphicFrame>
        <p:nvGraphicFramePr>
          <p:cNvPr id="6" name="Table 5"/>
          <p:cNvGraphicFramePr>
            <a:graphicFrameLocks noGrp="1"/>
          </p:cNvGraphicFramePr>
          <p:nvPr/>
        </p:nvGraphicFramePr>
        <p:xfrm>
          <a:off x="274320" y="1234440"/>
          <a:ext cx="11612880" cy="379476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474345">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佔比</a:t>
                      </a:r>
                    </a:p>
                  </a:txBody>
                  <a:tcPr anchor="ctr" marL="36576" marR="36576" marT="18288" marB="18288">
                    <a:solidFill>
                      <a:srgbClr val="333F50"/>
                    </a:solidFill>
                  </a:tcPr>
                </a:tc>
              </a:tr>
              <a:tr h="474345">
                <a:tc>
                  <a:txBody>
                    <a:bodyPr/>
                    <a:lstStyle/>
                    <a:p>
                      <a:pPr algn="l"/>
                      <a:r>
                        <a:rPr sz="1200" b="1">
                          <a:solidFill>
                            <a:srgbClr val="333F50"/>
                          </a:solidFill>
                          <a:latin typeface="楷体"/>
                          <a:ea typeface="楷体"/>
                          <a:cs typeface="楷体"/>
                        </a:rPr>
                        <a:t>汽車險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1,430.2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2,050.4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-620.2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46.6%</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380.4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82.0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298.4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363.9%</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12.4%</a:t>
                      </a:r>
                    </a:p>
                  </a:txBody>
                  <a:tcPr anchor="ctr" marL="36576" marR="36576" marT="18288" marB="18288">
                    <a:solidFill>
                      <a:srgbClr val="F7F7F7"/>
                    </a:solidFill>
                  </a:tcPr>
                </a:tc>
              </a:tr>
              <a:tr h="474345">
                <a:tc>
                  <a:txBody>
                    <a:bodyPr/>
                    <a:lstStyle/>
                    <a:p>
                      <a:pPr algn="l"/>
                      <a:r>
                        <a:rPr sz="12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88.4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80.1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10.4%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2.9%</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火險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198.6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226.4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-27.8</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-12.3%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6.5%</a:t>
                      </a:r>
                    </a:p>
                  </a:txBody>
                  <a:tcPr anchor="ctr" marL="36576" marR="36576" marT="18288" marB="18288">
                    <a:solidFill>
                      <a:srgbClr val="F7F7F7"/>
                    </a:solidFill>
                  </a:tcPr>
                </a:tc>
              </a:tr>
              <a:tr h="474345">
                <a:tc>
                  <a:txBody>
                    <a:bodyPr/>
                    <a:lstStyle/>
                    <a:p>
                      <a:pPr algn="l"/>
                      <a:r>
                        <a:rPr sz="1200" b="1">
                          <a:solidFill>
                            <a:srgbClr val="333F50"/>
                          </a:solidFill>
                          <a:latin typeface="楷体"/>
                          <a:ea typeface="楷体"/>
                          <a:cs typeface="楷体"/>
                        </a:rPr>
                        <a:t>財產全險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386.2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452.8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-66.6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-14.7%</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12.6%</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其他險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76.7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110.2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-33.5</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-30.4%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2.5%</a:t>
                      </a:r>
                    </a:p>
                  </a:txBody>
                  <a:tcPr anchor="ctr" marL="36576" marR="36576" marT="18288" marB="18288">
                    <a:solidFill>
                      <a:srgbClr val="F7F7F7"/>
                    </a:solidFill>
                  </a:tcPr>
                </a:tc>
              </a:tr>
              <a:tr h="474345">
                <a:tc>
                  <a:txBody>
                    <a:bodyPr/>
                    <a:lstStyle/>
                    <a:p>
                      <a:pPr algn="l"/>
                      <a:r>
                        <a:rPr sz="12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2,560.5</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3,001.9</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-441.4</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-14.7%</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100%</a:t>
                      </a:r>
                    </a:p>
                  </a:txBody>
                  <a:tcPr anchor="ctr" marL="36576" marR="36576" marT="18288" marB="18288">
                    <a:solidFill>
                      <a:srgbClr val="FFFFFF"/>
                    </a:solidFill>
                  </a:tcPr>
                </a:tc>
              </a:tr>
            </a:tbl>
          </a:graphicData>
        </a:graphic>
      </p:graphicFrame>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分入業務毛保費（香港業務）</a:t>
            </a:r>
          </a:p>
        </p:txBody>
      </p:sp>
      <p:sp>
        <p:nvSpPr>
          <p:cNvPr id="5" name="TextBox 4"/>
          <p:cNvSpPr txBox="1"/>
          <p:nvPr/>
        </p:nvSpPr>
        <p:spPr>
          <a:xfrm>
            <a:off x="320040" y="868680"/>
            <a:ext cx="11521440" cy="292608"/>
          </a:xfrm>
          <a:prstGeom prst="rect">
            <a:avLst/>
          </a:prstGeom>
          <a:noFill/>
        </p:spPr>
        <p:txBody>
          <a:bodyPr wrap="square">
            <a:spAutoFit/>
          </a:bodyPr>
          <a:lstStyle/>
          <a:p>
            <a:pPr algn="l"/>
            <a:r>
              <a:rPr sz="1300" b="0">
                <a:solidFill>
                  <a:srgbClr val="888888"/>
                </a:solidFill>
                <a:latin typeface="楷体"/>
                <a:ea typeface="楷体"/>
                <a:cs typeface="楷体"/>
              </a:rPr>
              <a:t>單位：萬港元。</a:t>
            </a:r>
          </a:p>
        </p:txBody>
      </p:sp>
      <p:graphicFrame>
        <p:nvGraphicFramePr>
          <p:cNvPr id="6" name="Table 5"/>
          <p:cNvGraphicFramePr>
            <a:graphicFrameLocks noGrp="1"/>
          </p:cNvGraphicFramePr>
          <p:nvPr/>
        </p:nvGraphicFramePr>
        <p:xfrm>
          <a:off x="274320" y="1234440"/>
          <a:ext cx="11612880" cy="379476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948690">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佔比</a:t>
                      </a:r>
                    </a:p>
                  </a:txBody>
                  <a:tcPr anchor="ctr" marL="36576" marR="36576" marT="18288" marB="18288">
                    <a:solidFill>
                      <a:srgbClr val="333F50"/>
                    </a:solidFill>
                  </a:tcPr>
                </a:tc>
              </a:tr>
              <a:tr h="948690">
                <a:tc>
                  <a:txBody>
                    <a:bodyPr/>
                    <a:lstStyle/>
                    <a:p>
                      <a:pPr algn="l"/>
                      <a:r>
                        <a:rPr sz="1200" b="1">
                          <a:solidFill>
                            <a:srgbClr val="333F50"/>
                          </a:solidFill>
                          <a:latin typeface="楷体"/>
                          <a:ea typeface="楷体"/>
                          <a:cs typeface="楷体"/>
                        </a:rPr>
                        <a:t>意外及健康險（臨分）</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510.1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495.9</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3492%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11.6%</a:t>
                      </a:r>
                    </a:p>
                  </a:txBody>
                  <a:tcPr anchor="ctr" marL="36576" marR="36576" marT="18288" marB="18288">
                    <a:solidFill>
                      <a:srgbClr val="FFFFFF"/>
                    </a:solidFill>
                  </a:tcPr>
                </a:tc>
              </a:tr>
              <a:tr h="948690">
                <a:tc>
                  <a:txBody>
                    <a:bodyPr/>
                    <a:lstStyle/>
                    <a:p>
                      <a:pPr algn="l"/>
                      <a:r>
                        <a:rPr sz="1200" b="1">
                          <a:solidFill>
                            <a:srgbClr val="333F50"/>
                          </a:solidFill>
                          <a:latin typeface="楷体"/>
                          <a:ea typeface="楷体"/>
                          <a:cs typeface="楷体"/>
                        </a:rPr>
                        <a:t>合同分入</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3,870.0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2,810.0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1,060.0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37.7%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88.4%</a:t>
                      </a:r>
                    </a:p>
                  </a:txBody>
                  <a:tcPr anchor="ctr" marL="36576" marR="36576" marT="18288" marB="18288">
                    <a:solidFill>
                      <a:srgbClr val="F7F7F7"/>
                    </a:solidFill>
                  </a:tcPr>
                </a:tc>
              </a:tr>
              <a:tr h="948690">
                <a:tc>
                  <a:txBody>
                    <a:bodyPr/>
                    <a:lstStyle/>
                    <a:p>
                      <a:pPr algn="l"/>
                      <a:r>
                        <a:rPr sz="12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4,380.1</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2,824.2</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1,555.9</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55.1%</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100%</a:t>
                      </a:r>
                    </a:p>
                  </a:txBody>
                  <a:tcPr anchor="ctr" marL="36576" marR="36576" marT="18288" marB="18288">
                    <a:solidFill>
                      <a:srgbClr val="FFFFFF"/>
                    </a:solidFill>
                  </a:tcPr>
                </a:tc>
              </a:tr>
            </a:tbl>
          </a:graphicData>
        </a:graphic>
      </p:graphicFrame>
      <p:sp>
        <p:nvSpPr>
          <p:cNvPr id="7" name="TextBox 6"/>
          <p:cNvSpPr txBox="1"/>
          <p:nvPr/>
        </p:nvSpPr>
        <p:spPr>
          <a:xfrm>
            <a:off x="320040" y="5212080"/>
            <a:ext cx="11521440" cy="1097280"/>
          </a:xfrm>
          <a:prstGeom prst="rect">
            <a:avLst/>
          </a:prstGeom>
          <a:noFill/>
        </p:spPr>
        <p:txBody>
          <a:bodyPr wrap="square">
            <a:spAutoFit/>
          </a:bodyPr>
          <a:lstStyle/>
          <a:p>
            <a:pPr algn="l"/>
            <a:r>
              <a:rPr sz="1400" b="0">
                <a:solidFill>
                  <a:srgbClr val="333F50"/>
                </a:solidFill>
                <a:latin typeface="楷体"/>
                <a:ea typeface="楷体"/>
                <a:cs typeface="楷体"/>
              </a:rPr>
              <a:t>合同分入增加主要來自虛構的北灣銀行團體醫療及海峽金橋非壽險合同。</a:t>
            </a:r>
          </a:p>
        </p:txBody>
      </p:sp>
      <p:sp>
        <p:nvSpPr>
          <p:cNvPr id="8" name="TextBox 7"/>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毛保費（澳門業務）</a:t>
            </a:r>
          </a:p>
        </p:txBody>
      </p:sp>
      <p:sp>
        <p:nvSpPr>
          <p:cNvPr id="5" name="TextBox 4"/>
          <p:cNvSpPr txBox="1"/>
          <p:nvPr/>
        </p:nvSpPr>
        <p:spPr>
          <a:xfrm>
            <a:off x="320040" y="868680"/>
            <a:ext cx="11521440" cy="292608"/>
          </a:xfrm>
          <a:prstGeom prst="rect">
            <a:avLst/>
          </a:prstGeom>
          <a:noFill/>
        </p:spPr>
        <p:txBody>
          <a:bodyPr wrap="square">
            <a:spAutoFit/>
          </a:bodyPr>
          <a:lstStyle/>
          <a:p>
            <a:pPr algn="l"/>
            <a:r>
              <a:rPr sz="1300" b="0">
                <a:solidFill>
                  <a:srgbClr val="888888"/>
                </a:solidFill>
                <a:latin typeface="楷体"/>
                <a:ea typeface="楷体"/>
                <a:cs typeface="楷体"/>
              </a:rPr>
              <a:t>單位：萬港元。累計9,939.6萬，同比增加1,199.5萬。</a:t>
            </a:r>
          </a:p>
        </p:txBody>
      </p:sp>
      <p:graphicFrame>
        <p:nvGraphicFramePr>
          <p:cNvPr id="6" name="Table 5"/>
          <p:cNvGraphicFramePr>
            <a:graphicFrameLocks noGrp="1"/>
          </p:cNvGraphicFramePr>
          <p:nvPr/>
        </p:nvGraphicFramePr>
        <p:xfrm>
          <a:off x="274320" y="1234440"/>
          <a:ext cx="11612880" cy="379476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474345">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佔比</a:t>
                      </a:r>
                    </a:p>
                  </a:txBody>
                  <a:tcPr anchor="ctr" marL="36576" marR="36576" marT="18288" marB="18288">
                    <a:solidFill>
                      <a:srgbClr val="333F50"/>
                    </a:solidFill>
                  </a:tcPr>
                </a:tc>
              </a:tr>
              <a:tr h="474345">
                <a:tc>
                  <a:txBody>
                    <a:bodyPr/>
                    <a:lstStyle/>
                    <a:p>
                      <a:pPr algn="l"/>
                      <a:r>
                        <a:rPr sz="1200" b="1">
                          <a:solidFill>
                            <a:srgbClr val="333F50"/>
                          </a:solidFill>
                          <a:latin typeface="楷体"/>
                          <a:ea typeface="楷体"/>
                          <a:cs typeface="楷体"/>
                        </a:rPr>
                        <a:t>汽車險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90.2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19.8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22.0%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395.9</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284.0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111.9</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39.4%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4.0%</a:t>
                      </a:r>
                    </a:p>
                  </a:txBody>
                  <a:tcPr anchor="ctr" marL="36576" marR="36576" marT="18288" marB="18288">
                    <a:solidFill>
                      <a:srgbClr val="F7F7F7"/>
                    </a:solidFill>
                  </a:tcPr>
                </a:tc>
              </a:tr>
              <a:tr h="474345">
                <a:tc>
                  <a:txBody>
                    <a:bodyPr/>
                    <a:lstStyle/>
                    <a:p>
                      <a:pPr algn="l"/>
                      <a:r>
                        <a:rPr sz="12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1,322.4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88.4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1,234.0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1395%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13.3%</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火險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4,261.6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4,194.4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67.2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42.9%</a:t>
                      </a:r>
                    </a:p>
                  </a:txBody>
                  <a:tcPr anchor="ctr" marL="36576" marR="36576" marT="18288" marB="18288">
                    <a:solidFill>
                      <a:srgbClr val="F7F7F7"/>
                    </a:solidFill>
                  </a:tcPr>
                </a:tc>
              </a:tr>
              <a:tr h="474345">
                <a:tc>
                  <a:txBody>
                    <a:bodyPr/>
                    <a:lstStyle/>
                    <a:p>
                      <a:pPr algn="l"/>
                      <a:r>
                        <a:rPr sz="1200" b="1">
                          <a:solidFill>
                            <a:srgbClr val="333F50"/>
                          </a:solidFill>
                          <a:latin typeface="楷体"/>
                          <a:ea typeface="楷体"/>
                          <a:cs typeface="楷体"/>
                        </a:rPr>
                        <a:t>財產全險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3,534.3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3,657.6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-123.3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35.6%</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其他險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315.4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425.5</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-110.1</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-25.9%</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3.2%</a:t>
                      </a:r>
                    </a:p>
                  </a:txBody>
                  <a:tcPr anchor="ctr" marL="36576" marR="36576" marT="18288" marB="18288">
                    <a:solidFill>
                      <a:srgbClr val="F7F7F7"/>
                    </a:solidFill>
                  </a:tcPr>
                </a:tc>
              </a:tr>
              <a:tr h="474345">
                <a:tc>
                  <a:txBody>
                    <a:bodyPr/>
                    <a:lstStyle/>
                    <a:p>
                      <a:pPr algn="l"/>
                      <a:r>
                        <a:rPr sz="12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9,939.6</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8,740.1</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1,199.5</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13.7%</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100%</a:t>
                      </a:r>
                    </a:p>
                  </a:txBody>
                  <a:tcPr anchor="ctr" marL="36576" marR="36576" marT="18288" marB="18288">
                    <a:solidFill>
                      <a:srgbClr val="FFFFFF"/>
                    </a:solidFill>
                  </a:tcPr>
                </a:tc>
              </a:tr>
            </a:tbl>
          </a:graphicData>
        </a:graphic>
      </p:graphicFrame>
      <p:sp>
        <p:nvSpPr>
          <p:cNvPr id="7" name="TextBox 6"/>
          <p:cNvSpPr txBox="1"/>
          <p:nvPr/>
        </p:nvSpPr>
        <p:spPr>
          <a:xfrm>
            <a:off x="320040" y="5212080"/>
            <a:ext cx="11521440" cy="1097280"/>
          </a:xfrm>
          <a:prstGeom prst="rect">
            <a:avLst/>
          </a:prstGeom>
          <a:noFill/>
        </p:spPr>
        <p:txBody>
          <a:bodyPr wrap="square">
            <a:spAutoFit/>
          </a:bodyPr>
          <a:lstStyle/>
          <a:p>
            <a:pPr algn="l"/>
            <a:r>
              <a:rPr sz="1400" b="0">
                <a:solidFill>
                  <a:srgbClr val="333F50"/>
                </a:solidFill>
                <a:latin typeface="楷体"/>
                <a:ea typeface="楷体"/>
                <a:cs typeface="楷体"/>
              </a:rPr>
              <a:t>火險為最大險種，佔42.9%（2025：48.0%），其次財產全險35.6%，勞工險13.3%。</a:t>
            </a:r>
          </a:p>
        </p:txBody>
      </p:sp>
      <p:sp>
        <p:nvSpPr>
          <p:cNvPr id="8" name="TextBox 7"/>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直接業務毛保費（澳門業務）</a:t>
            </a:r>
          </a:p>
        </p:txBody>
      </p:sp>
      <p:sp>
        <p:nvSpPr>
          <p:cNvPr id="5" name="TextBox 4"/>
          <p:cNvSpPr txBox="1"/>
          <p:nvPr/>
        </p:nvSpPr>
        <p:spPr>
          <a:xfrm>
            <a:off x="320040" y="868680"/>
            <a:ext cx="11521440" cy="292608"/>
          </a:xfrm>
          <a:prstGeom prst="rect">
            <a:avLst/>
          </a:prstGeom>
          <a:noFill/>
        </p:spPr>
        <p:txBody>
          <a:bodyPr wrap="square">
            <a:spAutoFit/>
          </a:bodyPr>
          <a:lstStyle/>
          <a:p>
            <a:pPr algn="l"/>
            <a:r>
              <a:rPr sz="1300" b="0">
                <a:solidFill>
                  <a:srgbClr val="888888"/>
                </a:solidFill>
                <a:latin typeface="楷体"/>
                <a:ea typeface="楷体"/>
                <a:cs typeface="楷体"/>
              </a:rPr>
              <a:t>單位：萬港元。</a:t>
            </a:r>
          </a:p>
        </p:txBody>
      </p:sp>
      <p:graphicFrame>
        <p:nvGraphicFramePr>
          <p:cNvPr id="6" name="Table 5"/>
          <p:cNvGraphicFramePr>
            <a:graphicFrameLocks noGrp="1"/>
          </p:cNvGraphicFramePr>
          <p:nvPr/>
        </p:nvGraphicFramePr>
        <p:xfrm>
          <a:off x="274320" y="1234440"/>
          <a:ext cx="11612880" cy="379476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474345">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佔比</a:t>
                      </a:r>
                    </a:p>
                  </a:txBody>
                  <a:tcPr anchor="ctr" marL="36576" marR="36576" marT="18288" marB="18288">
                    <a:solidFill>
                      <a:srgbClr val="333F50"/>
                    </a:solidFill>
                  </a:tcPr>
                </a:tc>
              </a:tr>
              <a:tr h="474345">
                <a:tc>
                  <a:txBody>
                    <a:bodyPr/>
                    <a:lstStyle/>
                    <a:p>
                      <a:pPr algn="l"/>
                      <a:r>
                        <a:rPr sz="1200" b="1">
                          <a:solidFill>
                            <a:srgbClr val="333F50"/>
                          </a:solidFill>
                          <a:latin typeface="楷体"/>
                          <a:ea typeface="楷体"/>
                          <a:cs typeface="楷体"/>
                        </a:rPr>
                        <a:t>汽車險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90.2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19.8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22.0%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280.2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210.4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69.8</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33.2%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3.6%</a:t>
                      </a:r>
                    </a:p>
                  </a:txBody>
                  <a:tcPr anchor="ctr" marL="36576" marR="36576" marT="18288" marB="18288">
                    <a:solidFill>
                      <a:srgbClr val="F7F7F7"/>
                    </a:solidFill>
                  </a:tcPr>
                </a:tc>
              </a:tr>
              <a:tr h="474345">
                <a:tc>
                  <a:txBody>
                    <a:bodyPr/>
                    <a:lstStyle/>
                    <a:p>
                      <a:pPr algn="l"/>
                      <a:r>
                        <a:rPr sz="12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188.6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88.4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100.2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113.3%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2.4%</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火險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4,261.6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4,194.4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67.2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54.2%</a:t>
                      </a:r>
                    </a:p>
                  </a:txBody>
                  <a:tcPr anchor="ctr" marL="36576" marR="36576" marT="18288" marB="18288">
                    <a:solidFill>
                      <a:srgbClr val="F7F7F7"/>
                    </a:solidFill>
                  </a:tcPr>
                </a:tc>
              </a:tr>
              <a:tr h="474345">
                <a:tc>
                  <a:txBody>
                    <a:bodyPr/>
                    <a:lstStyle/>
                    <a:p>
                      <a:pPr algn="l"/>
                      <a:r>
                        <a:rPr sz="1200" b="1">
                          <a:solidFill>
                            <a:srgbClr val="333F50"/>
                          </a:solidFill>
                          <a:latin typeface="楷体"/>
                          <a:ea typeface="楷体"/>
                          <a:cs typeface="楷体"/>
                        </a:rPr>
                        <a:t>財產全險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3,534.3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3,657.6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-123.3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45.0%</a:t>
                      </a:r>
                    </a:p>
                  </a:txBody>
                  <a:tcPr anchor="ctr" marL="36576" marR="36576" marT="18288" marB="18288">
                    <a:solidFill>
                      <a:srgbClr val="FFFFFF"/>
                    </a:solidFill>
                  </a:tcPr>
                </a:tc>
              </a:tr>
              <a:tr h="474345">
                <a:tc>
                  <a:txBody>
                    <a:bodyPr/>
                    <a:lstStyle/>
                    <a:p>
                      <a:pPr algn="l"/>
                      <a:r>
                        <a:rPr sz="1200" b="1">
                          <a:solidFill>
                            <a:srgbClr val="333F50"/>
                          </a:solidFill>
                          <a:latin typeface="楷体"/>
                          <a:ea typeface="楷体"/>
                          <a:cs typeface="楷体"/>
                        </a:rPr>
                        <a:t>其他險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220.6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310.2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-89.6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-28.9%</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2.8%</a:t>
                      </a:r>
                    </a:p>
                  </a:txBody>
                  <a:tcPr anchor="ctr" marL="36576" marR="36576" marT="18288" marB="18288">
                    <a:solidFill>
                      <a:srgbClr val="F7F7F7"/>
                    </a:solidFill>
                  </a:tcPr>
                </a:tc>
              </a:tr>
              <a:tr h="474345">
                <a:tc>
                  <a:txBody>
                    <a:bodyPr/>
                    <a:lstStyle/>
                    <a:p>
                      <a:pPr algn="l"/>
                      <a:r>
                        <a:rPr sz="12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7,860.3</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8,551.2</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-690.9</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-8.1%</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100%</a:t>
                      </a:r>
                    </a:p>
                  </a:txBody>
                  <a:tcPr anchor="ctr" marL="36576" marR="36576" marT="18288" marB="18288">
                    <a:solidFill>
                      <a:srgbClr val="FFFFFF"/>
                    </a:solidFill>
                  </a:tcPr>
                </a:tc>
              </a:tr>
            </a:tbl>
          </a:graphicData>
        </a:graphic>
      </p:graphicFrame>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分入業務毛保費（澳門業務）</a:t>
            </a:r>
          </a:p>
        </p:txBody>
      </p:sp>
      <p:sp>
        <p:nvSpPr>
          <p:cNvPr id="5" name="TextBox 4"/>
          <p:cNvSpPr txBox="1"/>
          <p:nvPr/>
        </p:nvSpPr>
        <p:spPr>
          <a:xfrm>
            <a:off x="320040" y="868680"/>
            <a:ext cx="11521440" cy="292608"/>
          </a:xfrm>
          <a:prstGeom prst="rect">
            <a:avLst/>
          </a:prstGeom>
          <a:noFill/>
        </p:spPr>
        <p:txBody>
          <a:bodyPr wrap="square">
            <a:spAutoFit/>
          </a:bodyPr>
          <a:lstStyle/>
          <a:p>
            <a:pPr algn="l"/>
            <a:r>
              <a:rPr sz="1300" b="0">
                <a:solidFill>
                  <a:srgbClr val="888888"/>
                </a:solidFill>
                <a:latin typeface="楷体"/>
                <a:ea typeface="楷体"/>
                <a:cs typeface="楷体"/>
              </a:rPr>
              <a:t>單位：萬港元。</a:t>
            </a:r>
          </a:p>
        </p:txBody>
      </p:sp>
      <p:graphicFrame>
        <p:nvGraphicFramePr>
          <p:cNvPr id="6" name="Table 5"/>
          <p:cNvGraphicFramePr>
            <a:graphicFrameLocks noGrp="1"/>
          </p:cNvGraphicFramePr>
          <p:nvPr/>
        </p:nvGraphicFramePr>
        <p:xfrm>
          <a:off x="274320" y="1234440"/>
          <a:ext cx="11612880" cy="379476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758952">
                <a:tc>
                  <a:txBody>
                    <a:bodyPr/>
                    <a:lstStyle/>
                    <a:p>
                      <a:pPr algn="ctr"/>
                      <a:r>
                        <a:rPr sz="12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佔比</a:t>
                      </a:r>
                    </a:p>
                  </a:txBody>
                  <a:tcPr anchor="ctr" marL="36576" marR="36576" marT="18288" marB="18288">
                    <a:solidFill>
                      <a:srgbClr val="333F50"/>
                    </a:solidFill>
                  </a:tcPr>
                </a:tc>
              </a:tr>
              <a:tr h="758952">
                <a:tc>
                  <a:txBody>
                    <a:bodyPr/>
                    <a:lstStyle/>
                    <a:p>
                      <a:pPr algn="l"/>
                      <a:r>
                        <a:rPr sz="1200" b="1">
                          <a:solidFill>
                            <a:srgbClr val="333F50"/>
                          </a:solidFill>
                          <a:latin typeface="楷体"/>
                          <a:ea typeface="楷体"/>
                          <a:cs typeface="楷体"/>
                        </a:rPr>
                        <a:t>意外及健康險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115.7</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73.6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42.1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57.2%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5.6%</a:t>
                      </a:r>
                    </a:p>
                  </a:txBody>
                  <a:tcPr anchor="ctr" marL="36576" marR="36576" marT="18288" marB="18288">
                    <a:solidFill>
                      <a:srgbClr val="FFFFFF"/>
                    </a:solidFill>
                  </a:tcPr>
                </a:tc>
              </a:tr>
              <a:tr h="758952">
                <a:tc>
                  <a:txBody>
                    <a:bodyPr/>
                    <a:lstStyle/>
                    <a:p>
                      <a:pPr algn="l"/>
                      <a:r>
                        <a:rPr sz="1200" b="1">
                          <a:solidFill>
                            <a:srgbClr val="333F50"/>
                          </a:solidFill>
                          <a:latin typeface="楷体"/>
                          <a:ea typeface="楷体"/>
                          <a:cs typeface="楷体"/>
                        </a:rPr>
                        <a:t>勞工險</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1,133.8</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1,133.8</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54.5%</a:t>
                      </a:r>
                    </a:p>
                  </a:txBody>
                  <a:tcPr anchor="ctr" marL="36576" marR="36576" marT="18288" marB="18288">
                    <a:solidFill>
                      <a:srgbClr val="F7F7F7"/>
                    </a:solidFill>
                  </a:tcPr>
                </a:tc>
              </a:tr>
              <a:tr h="758952">
                <a:tc>
                  <a:txBody>
                    <a:bodyPr/>
                    <a:lstStyle/>
                    <a:p>
                      <a:pPr algn="l"/>
                      <a:r>
                        <a:rPr sz="1200" b="1">
                          <a:solidFill>
                            <a:srgbClr val="333F50"/>
                          </a:solidFill>
                          <a:latin typeface="楷体"/>
                          <a:ea typeface="楷体"/>
                          <a:cs typeface="楷体"/>
                        </a:rPr>
                        <a:t>其他險</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94.8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115.3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-20.5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-17.8%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4.6%</a:t>
                      </a:r>
                    </a:p>
                  </a:txBody>
                  <a:tcPr anchor="ctr" marL="36576" marR="36576" marT="18288" marB="18288">
                    <a:solidFill>
                      <a:srgbClr val="FFFFFF"/>
                    </a:solidFill>
                  </a:tcPr>
                </a:tc>
              </a:tr>
              <a:tr h="758952">
                <a:tc>
                  <a:txBody>
                    <a:bodyPr/>
                    <a:lstStyle/>
                    <a:p>
                      <a:pPr algn="l"/>
                      <a:r>
                        <a:rPr sz="12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2,079.3</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188.9</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1,890.4</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1000%</a:t>
                      </a:r>
                    </a:p>
                  </a:txBody>
                  <a:tcPr anchor="ctr" marL="36576" marR="36576" marT="18288" marB="18288">
                    <a:solidFill>
                      <a:srgbClr val="F7F7F7"/>
                    </a:solidFill>
                  </a:tcPr>
                </a:tc>
                <a:tc>
                  <a:txBody>
                    <a:bodyPr/>
                    <a:lstStyle/>
                    <a:p>
                      <a:pPr algn="ctr"/>
                      <a:r>
                        <a:rPr sz="1200" b="1">
                          <a:solidFill>
                            <a:srgbClr val="ED7D31"/>
                          </a:solidFill>
                          <a:latin typeface="楷体"/>
                          <a:ea typeface="楷体"/>
                          <a:cs typeface="楷体"/>
                        </a:rPr>
                        <a:t>100%</a:t>
                      </a:r>
                    </a:p>
                  </a:txBody>
                  <a:tcPr anchor="ctr" marL="36576" marR="36576" marT="18288" marB="18288">
                    <a:solidFill>
                      <a:srgbClr val="F7F7F7"/>
                    </a:solidFill>
                  </a:tcPr>
                </a:tc>
              </a:tr>
            </a:tbl>
          </a:graphicData>
        </a:graphic>
      </p:graphicFrame>
      <p:sp>
        <p:nvSpPr>
          <p:cNvPr id="7" name="TextBox 6"/>
          <p:cNvSpPr txBox="1"/>
          <p:nvPr/>
        </p:nvSpPr>
        <p:spPr>
          <a:xfrm>
            <a:off x="320040" y="5212080"/>
            <a:ext cx="11521440" cy="1097280"/>
          </a:xfrm>
          <a:prstGeom prst="rect">
            <a:avLst/>
          </a:prstGeom>
          <a:noFill/>
        </p:spPr>
        <p:txBody>
          <a:bodyPr wrap="square">
            <a:spAutoFit/>
          </a:bodyPr>
          <a:lstStyle/>
          <a:p>
            <a:pPr algn="l"/>
            <a:r>
              <a:rPr sz="1400" b="0">
                <a:solidFill>
                  <a:srgbClr val="333F50"/>
                </a:solidFill>
                <a:latin typeface="楷体"/>
                <a:ea typeface="楷体"/>
                <a:cs typeface="楷体"/>
              </a:rPr>
              <a:t>勞工險分入來自虛構的南灣勞務險合約。</a:t>
            </a:r>
          </a:p>
        </p:txBody>
      </p:sp>
      <p:sp>
        <p:nvSpPr>
          <p:cNvPr id="8" name="TextBox 7"/>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已承付申索淨額</a:t>
            </a:r>
          </a:p>
        </p:txBody>
      </p:sp>
      <p:sp>
        <p:nvSpPr>
          <p:cNvPr id="5" name="TextBox 4"/>
          <p:cNvSpPr txBox="1"/>
          <p:nvPr/>
        </p:nvSpPr>
        <p:spPr>
          <a:xfrm>
            <a:off x="274320" y="868680"/>
            <a:ext cx="10972800" cy="256032"/>
          </a:xfrm>
          <a:prstGeom prst="rect">
            <a:avLst/>
          </a:prstGeom>
          <a:noFill/>
        </p:spPr>
        <p:txBody>
          <a:bodyPr wrap="square">
            <a:spAutoFit/>
          </a:bodyPr>
          <a:lstStyle/>
          <a:p>
            <a:pPr algn="l"/>
            <a:r>
              <a:rPr sz="1200" b="0">
                <a:solidFill>
                  <a:srgbClr val="888888"/>
                </a:solidFill>
                <a:latin typeface="楷体"/>
                <a:ea typeface="楷体"/>
                <a:cs typeface="楷体"/>
              </a:rPr>
              <a:t>單位：萬港元。2026年1–9月。</a:t>
            </a:r>
          </a:p>
        </p:txBody>
      </p:sp>
      <p:graphicFrame>
        <p:nvGraphicFramePr>
          <p:cNvPr id="6" name="Table 5"/>
          <p:cNvGraphicFramePr>
            <a:graphicFrameLocks noGrp="1"/>
          </p:cNvGraphicFramePr>
          <p:nvPr/>
        </p:nvGraphicFramePr>
        <p:xfrm>
          <a:off x="182880" y="1188720"/>
          <a:ext cx="11841480" cy="3657600"/>
        </p:xfrm>
        <a:graphic>
          <a:graphicData uri="http://schemas.openxmlformats.org/drawingml/2006/table">
            <a:tbl>
              <a:tblPr firstRow="1" bandRow="1">
                <a:tableStyleId>{5C22544A-7EE6-4342-B048-85BDC9FD1C3A}</a:tableStyleId>
              </a:tblPr>
              <a:tblGrid>
                <a:gridCol w="1480185"/>
                <a:gridCol w="1480185"/>
                <a:gridCol w="1480185"/>
                <a:gridCol w="1480185"/>
                <a:gridCol w="1480185"/>
                <a:gridCol w="1480185"/>
                <a:gridCol w="1480185"/>
                <a:gridCol w="1480185"/>
              </a:tblGrid>
              <a:tr h="457200">
                <a:tc>
                  <a:txBody>
                    <a:bodyPr/>
                    <a:lstStyle/>
                    <a:p>
                      <a:pPr algn="ctr"/>
                      <a:r>
                        <a:rPr sz="11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香港</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香港同比</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澳門</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澳門同比</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合計</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合計同比</a:t>
                      </a:r>
                    </a:p>
                  </a:txBody>
                  <a:tcPr anchor="ctr" marL="36576" marR="36576" marT="18288" marB="18288">
                    <a:solidFill>
                      <a:srgbClr val="333F50"/>
                    </a:solidFill>
                  </a:tcPr>
                </a:tc>
                <a:tc>
                  <a:txBody>
                    <a:bodyPr/>
                    <a:lstStyle/>
                    <a:p>
                      <a:pPr algn="ctr"/>
                      <a:r>
                        <a:rPr sz="1100" b="1">
                          <a:solidFill>
                            <a:srgbClr val="FFFFFF"/>
                          </a:solidFill>
                          <a:latin typeface="楷体"/>
                          <a:ea typeface="楷体"/>
                          <a:cs typeface="楷体"/>
                        </a:rPr>
                        <a:t>合計同比%</a:t>
                      </a:r>
                    </a:p>
                  </a:txBody>
                  <a:tcPr anchor="ctr" marL="36576" marR="36576" marT="18288" marB="18288">
                    <a:solidFill>
                      <a:srgbClr val="333F50"/>
                    </a:solidFill>
                  </a:tcPr>
                </a:tc>
              </a:tr>
              <a:tr h="457200">
                <a:tc>
                  <a:txBody>
                    <a:bodyPr/>
                    <a:lstStyle/>
                    <a:p>
                      <a:pPr algn="l"/>
                      <a:r>
                        <a:rPr sz="1100" b="1">
                          <a:solidFill>
                            <a:srgbClr val="333F50"/>
                          </a:solidFill>
                          <a:latin typeface="楷体"/>
                          <a:ea typeface="楷体"/>
                          <a:cs typeface="楷体"/>
                        </a:rPr>
                        <a:t>汽車險</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1,760.4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88.2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48.6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12.4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1,809.0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100.6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5.9%</a:t>
                      </a:r>
                    </a:p>
                  </a:txBody>
                  <a:tcPr anchor="ctr" marL="36576" marR="36576" marT="18288" marB="18288">
                    <a:solidFill>
                      <a:srgbClr val="FFFFFF"/>
                    </a:solidFill>
                  </a:tcPr>
                </a:tc>
              </a:tr>
              <a:tr h="457200">
                <a:tc>
                  <a:txBody>
                    <a:bodyPr/>
                    <a:lstStyle/>
                    <a:p>
                      <a:pPr algn="l"/>
                      <a:r>
                        <a:rPr sz="1100" b="1">
                          <a:solidFill>
                            <a:srgbClr val="333F50"/>
                          </a:solidFill>
                          <a:latin typeface="楷体"/>
                          <a:ea typeface="楷体"/>
                          <a:cs typeface="楷体"/>
                        </a:rPr>
                        <a:t>意外及健康險</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540.2</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360.4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142.8</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18.6</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683.0</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379.0</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124.6%</a:t>
                      </a:r>
                    </a:p>
                  </a:txBody>
                  <a:tcPr anchor="ctr" marL="36576" marR="36576" marT="18288" marB="18288">
                    <a:solidFill>
                      <a:srgbClr val="F7F7F7"/>
                    </a:solidFill>
                  </a:tcPr>
                </a:tc>
              </a:tr>
              <a:tr h="457200">
                <a:tc>
                  <a:txBody>
                    <a:bodyPr/>
                    <a:lstStyle/>
                    <a:p>
                      <a:pPr algn="l"/>
                      <a:r>
                        <a:rPr sz="1100" b="1">
                          <a:solidFill>
                            <a:srgbClr val="333F50"/>
                          </a:solidFill>
                          <a:latin typeface="楷体"/>
                          <a:ea typeface="楷体"/>
                          <a:cs typeface="楷体"/>
                        </a:rPr>
                        <a:t>勞工險</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-60.4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22.8</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690.5</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520.2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630.1</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543.0</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623%</a:t>
                      </a:r>
                    </a:p>
                  </a:txBody>
                  <a:tcPr anchor="ctr" marL="36576" marR="36576" marT="18288" marB="18288">
                    <a:solidFill>
                      <a:srgbClr val="FFFFFF"/>
                    </a:solidFill>
                  </a:tcPr>
                </a:tc>
              </a:tr>
              <a:tr h="457200">
                <a:tc>
                  <a:txBody>
                    <a:bodyPr/>
                    <a:lstStyle/>
                    <a:p>
                      <a:pPr algn="l"/>
                      <a:r>
                        <a:rPr sz="1100" b="1">
                          <a:solidFill>
                            <a:srgbClr val="333F50"/>
                          </a:solidFill>
                          <a:latin typeface="楷体"/>
                          <a:ea typeface="楷体"/>
                          <a:cs typeface="楷体"/>
                        </a:rPr>
                        <a:t>火險</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6.4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-8.2</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-86.2</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-98.4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-79.8</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-106.6</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-398%</a:t>
                      </a:r>
                    </a:p>
                  </a:txBody>
                  <a:tcPr anchor="ctr" marL="36576" marR="36576" marT="18288" marB="18288">
                    <a:solidFill>
                      <a:srgbClr val="F7F7F7"/>
                    </a:solidFill>
                  </a:tcPr>
                </a:tc>
              </a:tr>
              <a:tr h="457200">
                <a:tc>
                  <a:txBody>
                    <a:bodyPr/>
                    <a:lstStyle/>
                    <a:p>
                      <a:pPr algn="l"/>
                      <a:r>
                        <a:rPr sz="1100" b="1">
                          <a:solidFill>
                            <a:srgbClr val="333F50"/>
                          </a:solidFill>
                          <a:latin typeface="楷体"/>
                          <a:ea typeface="楷体"/>
                          <a:cs typeface="楷体"/>
                        </a:rPr>
                        <a:t>財產全險</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18.2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4.6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-32.4</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-70.2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-14.2</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-65.6</a:t>
                      </a:r>
                    </a:p>
                  </a:txBody>
                  <a:tcPr anchor="ctr" marL="36576" marR="36576" marT="18288" marB="18288">
                    <a:solidFill>
                      <a:srgbClr val="FFFFFF"/>
                    </a:solidFill>
                  </a:tcPr>
                </a:tc>
                <a:tc>
                  <a:txBody>
                    <a:bodyPr/>
                    <a:lstStyle/>
                    <a:p>
                      <a:pPr algn="ctr"/>
                      <a:r>
                        <a:rPr sz="1100" b="0">
                          <a:solidFill>
                            <a:srgbClr val="333F50"/>
                          </a:solidFill>
                          <a:latin typeface="楷体"/>
                          <a:ea typeface="楷体"/>
                          <a:cs typeface="楷体"/>
                        </a:rPr>
                        <a:t>-128%</a:t>
                      </a:r>
                    </a:p>
                  </a:txBody>
                  <a:tcPr anchor="ctr" marL="36576" marR="36576" marT="18288" marB="18288">
                    <a:solidFill>
                      <a:srgbClr val="FFFFFF"/>
                    </a:solidFill>
                  </a:tcPr>
                </a:tc>
              </a:tr>
              <a:tr h="457200">
                <a:tc>
                  <a:txBody>
                    <a:bodyPr/>
                    <a:lstStyle/>
                    <a:p>
                      <a:pPr algn="l"/>
                      <a:r>
                        <a:rPr sz="1100" b="1">
                          <a:solidFill>
                            <a:srgbClr val="333F50"/>
                          </a:solidFill>
                          <a:latin typeface="楷体"/>
                          <a:ea typeface="楷体"/>
                          <a:cs typeface="楷体"/>
                        </a:rPr>
                        <a:t>合同分入</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1,360.5</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320.4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0.0</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0.0</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1,360.5</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320.4</a:t>
                      </a:r>
                    </a:p>
                  </a:txBody>
                  <a:tcPr anchor="ctr" marL="36576" marR="36576" marT="18288" marB="18288">
                    <a:solidFill>
                      <a:srgbClr val="F7F7F7"/>
                    </a:solidFill>
                  </a:tcPr>
                </a:tc>
                <a:tc>
                  <a:txBody>
                    <a:bodyPr/>
                    <a:lstStyle/>
                    <a:p>
                      <a:pPr algn="ctr"/>
                      <a:r>
                        <a:rPr sz="1100" b="0">
                          <a:solidFill>
                            <a:srgbClr val="333F50"/>
                          </a:solidFill>
                          <a:latin typeface="楷体"/>
                          <a:ea typeface="楷体"/>
                          <a:cs typeface="楷体"/>
                        </a:rPr>
                        <a:t>30.8%</a:t>
                      </a:r>
                    </a:p>
                  </a:txBody>
                  <a:tcPr anchor="ctr" marL="36576" marR="36576" marT="18288" marB="18288">
                    <a:solidFill>
                      <a:srgbClr val="F7F7F7"/>
                    </a:solidFill>
                  </a:tcPr>
                </a:tc>
              </a:tr>
              <a:tr h="457200">
                <a:tc>
                  <a:txBody>
                    <a:bodyPr/>
                    <a:lstStyle/>
                    <a:p>
                      <a:pPr algn="l"/>
                      <a:r>
                        <a:rPr sz="11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100" b="1">
                          <a:solidFill>
                            <a:srgbClr val="ED7D31"/>
                          </a:solidFill>
                          <a:latin typeface="楷体"/>
                          <a:ea typeface="楷体"/>
                          <a:cs typeface="楷体"/>
                        </a:rPr>
                        <a:t>3,625.3</a:t>
                      </a:r>
                    </a:p>
                  </a:txBody>
                  <a:tcPr anchor="ctr" marL="36576" marR="36576" marT="18288" marB="18288">
                    <a:solidFill>
                      <a:srgbClr val="FFFFFF"/>
                    </a:solidFill>
                  </a:tcPr>
                </a:tc>
                <a:tc>
                  <a:txBody>
                    <a:bodyPr/>
                    <a:lstStyle/>
                    <a:p>
                      <a:pPr algn="ctr"/>
                      <a:r>
                        <a:rPr sz="1100" b="1">
                          <a:solidFill>
                            <a:srgbClr val="ED7D31"/>
                          </a:solidFill>
                          <a:latin typeface="楷体"/>
                          <a:ea typeface="楷体"/>
                          <a:cs typeface="楷体"/>
                        </a:rPr>
                        <a:t>788.2</a:t>
                      </a:r>
                    </a:p>
                  </a:txBody>
                  <a:tcPr anchor="ctr" marL="36576" marR="36576" marT="18288" marB="18288">
                    <a:solidFill>
                      <a:srgbClr val="FFFFFF"/>
                    </a:solidFill>
                  </a:tcPr>
                </a:tc>
                <a:tc>
                  <a:txBody>
                    <a:bodyPr/>
                    <a:lstStyle/>
                    <a:p>
                      <a:pPr algn="ctr"/>
                      <a:r>
                        <a:rPr sz="1100" b="1">
                          <a:solidFill>
                            <a:srgbClr val="ED7D31"/>
                          </a:solidFill>
                          <a:latin typeface="楷体"/>
                          <a:ea typeface="楷体"/>
                          <a:cs typeface="楷体"/>
                        </a:rPr>
                        <a:t>763.3</a:t>
                      </a:r>
                    </a:p>
                  </a:txBody>
                  <a:tcPr anchor="ctr" marL="36576" marR="36576" marT="18288" marB="18288">
                    <a:solidFill>
                      <a:srgbClr val="FFFFFF"/>
                    </a:solidFill>
                  </a:tcPr>
                </a:tc>
                <a:tc>
                  <a:txBody>
                    <a:bodyPr/>
                    <a:lstStyle/>
                    <a:p>
                      <a:pPr algn="ctr"/>
                      <a:r>
                        <a:rPr sz="1100" b="1">
                          <a:solidFill>
                            <a:srgbClr val="ED7D31"/>
                          </a:solidFill>
                          <a:latin typeface="楷体"/>
                          <a:ea typeface="楷体"/>
                          <a:cs typeface="楷体"/>
                        </a:rPr>
                        <a:t>382.6</a:t>
                      </a:r>
                    </a:p>
                  </a:txBody>
                  <a:tcPr anchor="ctr" marL="36576" marR="36576" marT="18288" marB="18288">
                    <a:solidFill>
                      <a:srgbClr val="FFFFFF"/>
                    </a:solidFill>
                  </a:tcPr>
                </a:tc>
                <a:tc>
                  <a:txBody>
                    <a:bodyPr/>
                    <a:lstStyle/>
                    <a:p>
                      <a:pPr algn="ctr"/>
                      <a:r>
                        <a:rPr sz="1100" b="1">
                          <a:solidFill>
                            <a:srgbClr val="ED7D31"/>
                          </a:solidFill>
                          <a:latin typeface="楷体"/>
                          <a:ea typeface="楷体"/>
                          <a:cs typeface="楷体"/>
                        </a:rPr>
                        <a:t>4,388.6</a:t>
                      </a:r>
                    </a:p>
                  </a:txBody>
                  <a:tcPr anchor="ctr" marL="36576" marR="36576" marT="18288" marB="18288">
                    <a:solidFill>
                      <a:srgbClr val="FFFFFF"/>
                    </a:solidFill>
                  </a:tcPr>
                </a:tc>
                <a:tc>
                  <a:txBody>
                    <a:bodyPr/>
                    <a:lstStyle/>
                    <a:p>
                      <a:pPr algn="ctr"/>
                      <a:r>
                        <a:rPr sz="1100" b="1">
                          <a:solidFill>
                            <a:srgbClr val="ED7D31"/>
                          </a:solidFill>
                          <a:latin typeface="楷体"/>
                          <a:ea typeface="楷体"/>
                          <a:cs typeface="楷体"/>
                        </a:rPr>
                        <a:t>1,170.8</a:t>
                      </a:r>
                    </a:p>
                  </a:txBody>
                  <a:tcPr anchor="ctr" marL="36576" marR="36576" marT="18288" marB="18288">
                    <a:solidFill>
                      <a:srgbClr val="FFFFFF"/>
                    </a:solidFill>
                  </a:tcPr>
                </a:tc>
                <a:tc>
                  <a:txBody>
                    <a:bodyPr/>
                    <a:lstStyle/>
                    <a:p>
                      <a:pPr algn="ctr"/>
                      <a:r>
                        <a:rPr sz="1100" b="1">
                          <a:solidFill>
                            <a:srgbClr val="ED7D31"/>
                          </a:solidFill>
                          <a:latin typeface="楷体"/>
                          <a:ea typeface="楷体"/>
                          <a:cs typeface="楷体"/>
                        </a:rPr>
                        <a:t>36.4%</a:t>
                      </a:r>
                    </a:p>
                  </a:txBody>
                  <a:tcPr anchor="ctr" marL="36576" marR="36576" marT="18288" marB="18288">
                    <a:solidFill>
                      <a:srgbClr val="FFFFFF"/>
                    </a:solidFill>
                  </a:tcPr>
                </a:tc>
              </a:tr>
            </a:tbl>
          </a:graphicData>
        </a:graphic>
      </p:graphicFrame>
      <p:sp>
        <p:nvSpPr>
          <p:cNvPr id="7" name="TextBox 6"/>
          <p:cNvSpPr txBox="1"/>
          <p:nvPr/>
        </p:nvSpPr>
        <p:spPr>
          <a:xfrm>
            <a:off x="274320" y="5074920"/>
            <a:ext cx="11612880" cy="1280160"/>
          </a:xfrm>
          <a:prstGeom prst="rect">
            <a:avLst/>
          </a:prstGeom>
          <a:noFill/>
        </p:spPr>
        <p:txBody>
          <a:bodyPr wrap="square">
            <a:spAutoFit/>
          </a:bodyPr>
          <a:lstStyle/>
          <a:p>
            <a:pPr algn="l"/>
            <a:r>
              <a:rPr sz="1400" b="0">
                <a:solidFill>
                  <a:srgbClr val="333F50"/>
                </a:solidFill>
                <a:latin typeface="楷体"/>
                <a:ea typeface="楷体"/>
                <a:cs typeface="楷体"/>
              </a:rPr>
              <a:t>累計已承付申索淨額4,388.6萬，同比增加1,170.8萬，主要是勞工險、意外及健康險及合同分入。
香港3,625.3萬，同比增加788.2萬。澳門763.3萬，同比增加382.6萬。</a:t>
            </a:r>
          </a:p>
        </p:txBody>
      </p:sp>
      <p:sp>
        <p:nvSpPr>
          <p:cNvPr id="8" name="TextBox 7"/>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綜合成本率</a:t>
            </a:r>
          </a:p>
        </p:txBody>
      </p:sp>
      <p:graphicFrame>
        <p:nvGraphicFramePr>
          <p:cNvPr id="5" name="Table 4"/>
          <p:cNvGraphicFramePr>
            <a:graphicFrameLocks noGrp="1"/>
          </p:cNvGraphicFramePr>
          <p:nvPr/>
        </p:nvGraphicFramePr>
        <p:xfrm>
          <a:off x="256032" y="1051560"/>
          <a:ext cx="11658600" cy="3200400"/>
        </p:xfrm>
        <a:graphic>
          <a:graphicData uri="http://schemas.openxmlformats.org/drawingml/2006/table">
            <a:tbl>
              <a:tblPr firstRow="1" bandRow="1">
                <a:tableStyleId>{5C22544A-7EE6-4342-B048-85BDC9FD1C3A}</a:tableStyleId>
              </a:tblPr>
              <a:tblGrid>
                <a:gridCol w="1665514"/>
                <a:gridCol w="1665514"/>
                <a:gridCol w="1665514"/>
                <a:gridCol w="1665514"/>
                <a:gridCol w="1665514"/>
                <a:gridCol w="1665514"/>
                <a:gridCol w="1665516"/>
              </a:tblGrid>
              <a:tr h="457200">
                <a:tc>
                  <a:txBody>
                    <a:bodyPr/>
                    <a:lstStyle/>
                    <a:p>
                      <a:pPr algn="ctr"/>
                      <a:r>
                        <a:rPr sz="13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淨佣金率</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賠付率</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費用率</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綜合成本率</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去年綜合</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變動(百分點)</a:t>
                      </a:r>
                    </a:p>
                  </a:txBody>
                  <a:tcPr anchor="ctr" marL="36576" marR="36576" marT="18288" marB="18288">
                    <a:solidFill>
                      <a:srgbClr val="333F50"/>
                    </a:solidFill>
                  </a:tcPr>
                </a:tc>
              </a:tr>
              <a:tr h="457200">
                <a:tc>
                  <a:txBody>
                    <a:bodyPr/>
                    <a:lstStyle/>
                    <a:p>
                      <a:pPr algn="l"/>
                      <a:r>
                        <a:rPr sz="1300" b="1">
                          <a:solidFill>
                            <a:srgbClr val="333F50"/>
                          </a:solidFill>
                          <a:latin typeface="楷体"/>
                          <a:ea typeface="楷体"/>
                          <a:cs typeface="楷体"/>
                        </a:rPr>
                        <a:t>意外及健康險</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8.8%</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73.6%</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90.4%</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89.6%</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0.8</a:t>
                      </a:r>
                    </a:p>
                  </a:txBody>
                  <a:tcPr anchor="ctr" marL="36576" marR="36576" marT="18288" marB="18288">
                    <a:solidFill>
                      <a:srgbClr val="FFFFFF"/>
                    </a:solidFill>
                  </a:tcPr>
                </a:tc>
              </a:tr>
              <a:tr h="457200">
                <a:tc>
                  <a:txBody>
                    <a:bodyPr/>
                    <a:lstStyle/>
                    <a:p>
                      <a:pPr algn="l"/>
                      <a:r>
                        <a:rPr sz="1300" b="1">
                          <a:solidFill>
                            <a:srgbClr val="333F50"/>
                          </a:solidFill>
                          <a:latin typeface="楷体"/>
                          <a:ea typeface="楷体"/>
                          <a:cs typeface="楷体"/>
                        </a:rPr>
                        <a:t>汽車險</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28.2%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106.4%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9.5%</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144.1%</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136.2%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7.9</a:t>
                      </a:r>
                    </a:p>
                  </a:txBody>
                  <a:tcPr anchor="ctr" marL="36576" marR="36576" marT="18288" marB="18288">
                    <a:solidFill>
                      <a:srgbClr val="F7F7F7"/>
                    </a:solidFill>
                  </a:tcPr>
                </a:tc>
              </a:tr>
              <a:tr h="457200">
                <a:tc>
                  <a:txBody>
                    <a:bodyPr/>
                    <a:lstStyle/>
                    <a:p>
                      <a:pPr algn="l"/>
                      <a:r>
                        <a:rPr sz="1300" b="1">
                          <a:solidFill>
                            <a:srgbClr val="333F50"/>
                          </a:solidFill>
                          <a:latin typeface="楷体"/>
                          <a:ea typeface="楷体"/>
                          <a:cs typeface="楷体"/>
                        </a:rPr>
                        <a:t>財產險</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69.5%</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0.8%</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5.6%</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75.9%</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82.4%</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-6.5</a:t>
                      </a:r>
                    </a:p>
                  </a:txBody>
                  <a:tcPr anchor="ctr" marL="36576" marR="36576" marT="18288" marB="18288">
                    <a:solidFill>
                      <a:srgbClr val="FFFFFF"/>
                    </a:solidFill>
                  </a:tcPr>
                </a:tc>
              </a:tr>
              <a:tr h="457200">
                <a:tc>
                  <a:txBody>
                    <a:bodyPr/>
                    <a:lstStyle/>
                    <a:p>
                      <a:pPr algn="l"/>
                      <a:r>
                        <a:rPr sz="1300" b="1">
                          <a:solidFill>
                            <a:srgbClr val="333F50"/>
                          </a:solidFill>
                          <a:latin typeface="楷体"/>
                          <a:ea typeface="楷体"/>
                          <a:cs typeface="楷体"/>
                        </a:rPr>
                        <a:t>勞工險</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8.4%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98.2%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13.1%</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119.7%</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52.4%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67.3</a:t>
                      </a:r>
                    </a:p>
                  </a:txBody>
                  <a:tcPr anchor="ctr" marL="36576" marR="36576" marT="18288" marB="18288">
                    <a:solidFill>
                      <a:srgbClr val="F7F7F7"/>
                    </a:solidFill>
                  </a:tcPr>
                </a:tc>
              </a:tr>
              <a:tr h="457200">
                <a:tc>
                  <a:txBody>
                    <a:bodyPr/>
                    <a:lstStyle/>
                    <a:p>
                      <a:pPr algn="l"/>
                      <a:r>
                        <a:rPr sz="13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29.0%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45.2%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0.3%</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74.5%</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72.1%</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2.4</a:t>
                      </a:r>
                    </a:p>
                  </a:txBody>
                  <a:tcPr anchor="ctr" marL="36576" marR="36576" marT="18288" marB="18288">
                    <a:solidFill>
                      <a:srgbClr val="FFFFFF"/>
                    </a:solidFill>
                  </a:tcPr>
                </a:tc>
              </a:tr>
              <a:tr h="457200">
                <a:tc>
                  <a:txBody>
                    <a:bodyPr/>
                    <a:lstStyle/>
                    <a:p>
                      <a:pPr algn="l"/>
                      <a:r>
                        <a:rPr sz="13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47.2%</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32.6%</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5.5%</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85.3%</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86.8%</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-1.5</a:t>
                      </a:r>
                    </a:p>
                  </a:txBody>
                  <a:tcPr anchor="ctr" marL="36576" marR="36576" marT="18288" marB="18288">
                    <a:solidFill>
                      <a:srgbClr val="F7F7F7"/>
                    </a:solidFill>
                  </a:tcPr>
                </a:tc>
              </a:tr>
            </a:tbl>
          </a:graphicData>
        </a:graphic>
      </p:graphicFrame>
      <p:sp>
        <p:nvSpPr>
          <p:cNvPr id="6" name="TextBox 5"/>
          <p:cNvSpPr txBox="1"/>
          <p:nvPr/>
        </p:nvSpPr>
        <p:spPr>
          <a:xfrm>
            <a:off x="320040" y="4480560"/>
            <a:ext cx="11521440" cy="1737360"/>
          </a:xfrm>
          <a:prstGeom prst="rect">
            <a:avLst/>
          </a:prstGeom>
          <a:noFill/>
        </p:spPr>
        <p:txBody>
          <a:bodyPr wrap="square">
            <a:spAutoFit/>
          </a:bodyPr>
          <a:lstStyle/>
          <a:p>
            <a:pPr algn="l"/>
            <a:r>
              <a:rPr sz="1500" b="0">
                <a:solidFill>
                  <a:srgbClr val="333F50"/>
                </a:solidFill>
                <a:latin typeface="楷体"/>
                <a:ea typeface="楷体"/>
                <a:cs typeface="楷体"/>
              </a:rPr>
              <a:t>截至9月底，綜合成本率85.3%，比去年同期86.8%下降1.5個百分點。
淨佣金率47.2%，比預算48.5%低1.3個百分點。
賠付率32.6%，比預算29.0%高3.6個百分點。費用率5.5%，比預算5.8%低0.3個百分點。</a:t>
            </a:r>
          </a:p>
        </p:txBody>
      </p:sp>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保險服務業績</a:t>
            </a:r>
          </a:p>
        </p:txBody>
      </p:sp>
      <p:graphicFrame>
        <p:nvGraphicFramePr>
          <p:cNvPr id="5" name="Table 4"/>
          <p:cNvGraphicFramePr>
            <a:graphicFrameLocks noGrp="1"/>
          </p:cNvGraphicFramePr>
          <p:nvPr/>
        </p:nvGraphicFramePr>
        <p:xfrm>
          <a:off x="182880" y="1051560"/>
          <a:ext cx="11841480" cy="3931920"/>
        </p:xfrm>
        <a:graphic>
          <a:graphicData uri="http://schemas.openxmlformats.org/drawingml/2006/table">
            <a:tbl>
              <a:tblPr firstRow="1" bandRow="1">
                <a:tableStyleId>{5C22544A-7EE6-4342-B048-85BDC9FD1C3A}</a:tableStyleId>
              </a:tblPr>
              <a:tblGrid>
                <a:gridCol w="1691640"/>
                <a:gridCol w="1691640"/>
                <a:gridCol w="1691640"/>
                <a:gridCol w="1691640"/>
                <a:gridCol w="1691640"/>
                <a:gridCol w="1691640"/>
                <a:gridCol w="1691640"/>
              </a:tblGrid>
              <a:tr h="561702">
                <a:tc>
                  <a:txBody>
                    <a:bodyPr/>
                    <a:lstStyle/>
                    <a:p>
                      <a:pPr algn="ctr"/>
                      <a:r>
                        <a:rPr sz="1300" b="1">
                          <a:solidFill>
                            <a:srgbClr val="FFFFFF"/>
                          </a:solidFill>
                          <a:latin typeface="楷体"/>
                          <a:ea typeface="楷体"/>
                          <a:cs typeface="楷体"/>
                        </a:rPr>
                        <a:t>險種</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毛保費</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保險收入</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保險服務費用</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再保費用淨額</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保險服務業績</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同比%</a:t>
                      </a:r>
                    </a:p>
                  </a:txBody>
                  <a:tcPr anchor="ctr" marL="36576" marR="36576" marT="18288" marB="18288">
                    <a:solidFill>
                      <a:srgbClr val="333F50"/>
                    </a:solidFill>
                  </a:tcPr>
                </a:tc>
              </a:tr>
              <a:tr h="561702">
                <a:tc>
                  <a:txBody>
                    <a:bodyPr/>
                    <a:lstStyle/>
                    <a:p>
                      <a:pPr algn="l"/>
                      <a:r>
                        <a:rPr sz="1300" b="1">
                          <a:solidFill>
                            <a:srgbClr val="333F50"/>
                          </a:solidFill>
                          <a:latin typeface="楷体"/>
                          <a:ea typeface="楷体"/>
                          <a:cs typeface="楷体"/>
                        </a:rPr>
                        <a:t>意外及健康險</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1,286.4</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910.2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802.4</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18.6</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89.2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96%</a:t>
                      </a:r>
                    </a:p>
                  </a:txBody>
                  <a:tcPr anchor="ctr" marL="36576" marR="36576" marT="18288" marB="18288">
                    <a:solidFill>
                      <a:srgbClr val="FFFFFF"/>
                    </a:solidFill>
                  </a:tcPr>
                </a:tc>
              </a:tr>
              <a:tr h="561702">
                <a:tc>
                  <a:txBody>
                    <a:bodyPr/>
                    <a:lstStyle/>
                    <a:p>
                      <a:pPr algn="l"/>
                      <a:r>
                        <a:rPr sz="1300" b="1">
                          <a:solidFill>
                            <a:srgbClr val="333F50"/>
                          </a:solidFill>
                          <a:latin typeface="楷体"/>
                          <a:ea typeface="楷体"/>
                          <a:cs typeface="楷体"/>
                        </a:rPr>
                        <a:t>汽車險</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1,540.2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1,860.5</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2,420.6</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198.4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-758.5</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12%</a:t>
                      </a:r>
                    </a:p>
                  </a:txBody>
                  <a:tcPr anchor="ctr" marL="36576" marR="36576" marT="18288" marB="18288">
                    <a:solidFill>
                      <a:srgbClr val="F7F7F7"/>
                    </a:solidFill>
                  </a:tcPr>
                </a:tc>
              </a:tr>
              <a:tr h="561702">
                <a:tc>
                  <a:txBody>
                    <a:bodyPr/>
                    <a:lstStyle/>
                    <a:p>
                      <a:pPr algn="l"/>
                      <a:r>
                        <a:rPr sz="1300" b="1">
                          <a:solidFill>
                            <a:srgbClr val="333F50"/>
                          </a:solidFill>
                          <a:latin typeface="楷体"/>
                          <a:ea typeface="楷体"/>
                          <a:cs typeface="楷体"/>
                        </a:rPr>
                        <a:t>財產險</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8,380.7</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7,820.4</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5,210.2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860.5</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1,749.7</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24%</a:t>
                      </a:r>
                    </a:p>
                  </a:txBody>
                  <a:tcPr anchor="ctr" marL="36576" marR="36576" marT="18288" marB="18288">
                    <a:solidFill>
                      <a:srgbClr val="FFFFFF"/>
                    </a:solidFill>
                  </a:tcPr>
                </a:tc>
              </a:tr>
              <a:tr h="561702">
                <a:tc>
                  <a:txBody>
                    <a:bodyPr/>
                    <a:lstStyle/>
                    <a:p>
                      <a:pPr algn="l"/>
                      <a:r>
                        <a:rPr sz="1300" b="1">
                          <a:solidFill>
                            <a:srgbClr val="333F50"/>
                          </a:solidFill>
                          <a:latin typeface="楷体"/>
                          <a:ea typeface="楷体"/>
                          <a:cs typeface="楷体"/>
                        </a:rPr>
                        <a:t>勞工險</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1,410.8</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640.2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688.4</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92.6</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-140.8</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-180%</a:t>
                      </a:r>
                    </a:p>
                  </a:txBody>
                  <a:tcPr anchor="ctr" marL="36576" marR="36576" marT="18288" marB="18288">
                    <a:solidFill>
                      <a:srgbClr val="F7F7F7"/>
                    </a:solidFill>
                  </a:tcPr>
                </a:tc>
              </a:tr>
              <a:tr h="561702">
                <a:tc>
                  <a:txBody>
                    <a:bodyPr/>
                    <a:lstStyle/>
                    <a:p>
                      <a:pPr algn="l"/>
                      <a:r>
                        <a:rPr sz="1300" b="1">
                          <a:solidFill>
                            <a:srgbClr val="333F50"/>
                          </a:solidFill>
                          <a:latin typeface="楷体"/>
                          <a:ea typeface="楷体"/>
                          <a:cs typeface="楷体"/>
                        </a:rPr>
                        <a:t>合同分入</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3,900.0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3,528.9</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2,480.2</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1,048.7</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22%</a:t>
                      </a:r>
                    </a:p>
                  </a:txBody>
                  <a:tcPr anchor="ctr" marL="36576" marR="36576" marT="18288" marB="18288">
                    <a:solidFill>
                      <a:srgbClr val="FFFFFF"/>
                    </a:solidFill>
                  </a:tcPr>
                </a:tc>
              </a:tr>
              <a:tr h="561708">
                <a:tc>
                  <a:txBody>
                    <a:bodyPr/>
                    <a:lstStyle/>
                    <a:p>
                      <a:pPr algn="l"/>
                      <a:r>
                        <a:rPr sz="13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16,880.2</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14,760.2</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11,601.8</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1,320.3</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1,838.1</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21%</a:t>
                      </a:r>
                    </a:p>
                  </a:txBody>
                  <a:tcPr anchor="ctr" marL="36576" marR="36576" marT="18288" marB="18288">
                    <a:solidFill>
                      <a:srgbClr val="F7F7F7"/>
                    </a:solidFill>
                  </a:tcPr>
                </a:tc>
              </a:tr>
            </a:tbl>
          </a:graphicData>
        </a:graphic>
      </p:graphicFrame>
      <p:sp>
        <p:nvSpPr>
          <p:cNvPr id="6" name="TextBox 5"/>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投資收益</a:t>
            </a:r>
          </a:p>
        </p:txBody>
      </p:sp>
      <p:graphicFrame>
        <p:nvGraphicFramePr>
          <p:cNvPr id="5" name="Table 4"/>
          <p:cNvGraphicFramePr>
            <a:graphicFrameLocks noGrp="1"/>
          </p:cNvGraphicFramePr>
          <p:nvPr/>
        </p:nvGraphicFramePr>
        <p:xfrm>
          <a:off x="201168" y="1005840"/>
          <a:ext cx="11795760" cy="3977639"/>
        </p:xfrm>
        <a:graphic>
          <a:graphicData uri="http://schemas.openxmlformats.org/drawingml/2006/table">
            <a:tbl>
              <a:tblPr firstRow="1" bandRow="1">
                <a:tableStyleId>{5C22544A-7EE6-4342-B048-85BDC9FD1C3A}</a:tableStyleId>
              </a:tblPr>
              <a:tblGrid>
                <a:gridCol w="1685108"/>
                <a:gridCol w="1685108"/>
                <a:gridCol w="1685108"/>
                <a:gridCol w="1685108"/>
                <a:gridCol w="1685108"/>
                <a:gridCol w="1685108"/>
                <a:gridCol w="1685112"/>
              </a:tblGrid>
              <a:tr h="497204">
                <a:tc>
                  <a:txBody>
                    <a:bodyPr/>
                    <a:lstStyle/>
                    <a:p>
                      <a:pPr algn="ctr"/>
                      <a:r>
                        <a:rPr sz="1200" b="1">
                          <a:solidFill>
                            <a:srgbClr val="FFFFFF"/>
                          </a:solidFill>
                          <a:latin typeface="楷体"/>
                          <a:ea typeface="楷体"/>
                          <a:cs typeface="楷体"/>
                        </a:rPr>
                        <a:t>項目</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投資規模</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2026年1–9月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2025年1–9月</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同比增減</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同比%</a:t>
                      </a:r>
                    </a:p>
                  </a:txBody>
                  <a:tcPr anchor="ctr" marL="36576" marR="36576" marT="18288" marB="18288">
                    <a:solidFill>
                      <a:srgbClr val="333F50"/>
                    </a:solidFill>
                  </a:tcPr>
                </a:tc>
                <a:tc>
                  <a:txBody>
                    <a:bodyPr/>
                    <a:lstStyle/>
                    <a:p>
                      <a:pPr algn="ctr"/>
                      <a:r>
                        <a:rPr sz="1200" b="1">
                          <a:solidFill>
                            <a:srgbClr val="FFFFFF"/>
                          </a:solidFill>
                          <a:latin typeface="楷体"/>
                          <a:ea typeface="楷体"/>
                          <a:cs typeface="楷体"/>
                        </a:rPr>
                        <a:t>回報率</a:t>
                      </a:r>
                    </a:p>
                  </a:txBody>
                  <a:tcPr anchor="ctr" marL="36576" marR="36576" marT="18288" marB="18288">
                    <a:solidFill>
                      <a:srgbClr val="333F50"/>
                    </a:solidFill>
                  </a:tcPr>
                </a:tc>
              </a:tr>
              <a:tr h="497204">
                <a:tc>
                  <a:txBody>
                    <a:bodyPr/>
                    <a:lstStyle/>
                    <a:p>
                      <a:pPr algn="l"/>
                      <a:r>
                        <a:rPr sz="1200" b="1">
                          <a:solidFill>
                            <a:srgbClr val="333F50"/>
                          </a:solidFill>
                          <a:latin typeface="楷体"/>
                          <a:ea typeface="楷体"/>
                          <a:cs typeface="楷体"/>
                        </a:rPr>
                        <a:t>銀行存款</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23,800.0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318.4</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470.2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-151.8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-32.3%</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1.79%</a:t>
                      </a:r>
                    </a:p>
                  </a:txBody>
                  <a:tcPr anchor="ctr" marL="36576" marR="36576" marT="18288" marB="18288">
                    <a:solidFill>
                      <a:srgbClr val="FFFFFF"/>
                    </a:solidFill>
                  </a:tcPr>
                </a:tc>
              </a:tr>
              <a:tr h="497204">
                <a:tc>
                  <a:txBody>
                    <a:bodyPr/>
                    <a:lstStyle/>
                    <a:p>
                      <a:pPr algn="l"/>
                      <a:r>
                        <a:rPr sz="1200" b="1">
                          <a:solidFill>
                            <a:srgbClr val="333F50"/>
                          </a:solidFill>
                          <a:latin typeface="楷体"/>
                          <a:ea typeface="楷体"/>
                          <a:cs typeface="楷体"/>
                        </a:rPr>
                        <a:t>債券</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16,420.0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466.8</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288.6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178.2</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61.7%</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3.79%</a:t>
                      </a:r>
                    </a:p>
                  </a:txBody>
                  <a:tcPr anchor="ctr" marL="36576" marR="36576" marT="18288" marB="18288">
                    <a:solidFill>
                      <a:srgbClr val="F7F7F7"/>
                    </a:solidFill>
                  </a:tcPr>
                </a:tc>
              </a:tr>
              <a:tr h="497204">
                <a:tc>
                  <a:txBody>
                    <a:bodyPr/>
                    <a:lstStyle/>
                    <a:p>
                      <a:pPr algn="l"/>
                      <a:r>
                        <a:rPr sz="1200" b="1">
                          <a:solidFill>
                            <a:srgbClr val="333F50"/>
                          </a:solidFill>
                          <a:latin typeface="楷体"/>
                          <a:ea typeface="楷体"/>
                          <a:cs typeface="楷体"/>
                        </a:rPr>
                        <a:t>股票-FVOCI</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11,200.0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442.6</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340.5</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102.1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5.27%</a:t>
                      </a:r>
                    </a:p>
                  </a:txBody>
                  <a:tcPr anchor="ctr" marL="36576" marR="36576" marT="18288" marB="18288">
                    <a:solidFill>
                      <a:srgbClr val="FFFFFF"/>
                    </a:solidFill>
                  </a:tcPr>
                </a:tc>
              </a:tr>
              <a:tr h="497204">
                <a:tc>
                  <a:txBody>
                    <a:bodyPr/>
                    <a:lstStyle/>
                    <a:p>
                      <a:pPr algn="l"/>
                      <a:r>
                        <a:rPr sz="1200" b="1">
                          <a:solidFill>
                            <a:srgbClr val="333F50"/>
                          </a:solidFill>
                          <a:latin typeface="楷体"/>
                          <a:ea typeface="楷体"/>
                          <a:cs typeface="楷体"/>
                        </a:rPr>
                        <a:t>股票-ETF/FVPL</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1,480.0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-210.4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8.6</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-219.0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-18.95%</a:t>
                      </a:r>
                    </a:p>
                  </a:txBody>
                  <a:tcPr anchor="ctr" marL="36576" marR="36576" marT="18288" marB="18288">
                    <a:solidFill>
                      <a:srgbClr val="F7F7F7"/>
                    </a:solidFill>
                  </a:tcPr>
                </a:tc>
              </a:tr>
              <a:tr h="497204">
                <a:tc>
                  <a:txBody>
                    <a:bodyPr/>
                    <a:lstStyle/>
                    <a:p>
                      <a:pPr algn="l"/>
                      <a:r>
                        <a:rPr sz="1200" b="1">
                          <a:solidFill>
                            <a:srgbClr val="333F50"/>
                          </a:solidFill>
                          <a:latin typeface="楷体"/>
                          <a:ea typeface="楷体"/>
                          <a:cs typeface="楷体"/>
                        </a:rPr>
                        <a:t>貨幣基金</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920.0</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14.2</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11.1</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358%</a:t>
                      </a:r>
                    </a:p>
                  </a:txBody>
                  <a:tcPr anchor="ctr" marL="36576" marR="36576" marT="18288" marB="18288">
                    <a:solidFill>
                      <a:srgbClr val="FFFFFF"/>
                    </a:solidFill>
                  </a:tcPr>
                </a:tc>
                <a:tc>
                  <a:txBody>
                    <a:bodyPr/>
                    <a:lstStyle/>
                    <a:p>
                      <a:pPr algn="ctr"/>
                      <a:r>
                        <a:rPr sz="1200" b="0">
                          <a:solidFill>
                            <a:srgbClr val="333F50"/>
                          </a:solidFill>
                          <a:latin typeface="楷体"/>
                          <a:ea typeface="楷体"/>
                          <a:cs typeface="楷体"/>
                        </a:rPr>
                        <a:t>2.06%</a:t>
                      </a:r>
                    </a:p>
                  </a:txBody>
                  <a:tcPr anchor="ctr" marL="36576" marR="36576" marT="18288" marB="18288">
                    <a:solidFill>
                      <a:srgbClr val="FFFFFF"/>
                    </a:solidFill>
                  </a:tcPr>
                </a:tc>
              </a:tr>
              <a:tr h="497204">
                <a:tc>
                  <a:txBody>
                    <a:bodyPr/>
                    <a:lstStyle/>
                    <a:p>
                      <a:pPr algn="l"/>
                      <a:r>
                        <a:rPr sz="1200" b="1">
                          <a:solidFill>
                            <a:srgbClr val="333F50"/>
                          </a:solidFill>
                          <a:latin typeface="楷体"/>
                          <a:ea typeface="楷体"/>
                          <a:cs typeface="楷体"/>
                        </a:rPr>
                        <a:t>投資物業</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11,860.0</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62.3</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493.1</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-430.8</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-87.4%</a:t>
                      </a:r>
                    </a:p>
                  </a:txBody>
                  <a:tcPr anchor="ctr" marL="36576" marR="36576" marT="18288" marB="18288">
                    <a:solidFill>
                      <a:srgbClr val="F7F7F7"/>
                    </a:solidFill>
                  </a:tcPr>
                </a:tc>
                <a:tc>
                  <a:txBody>
                    <a:bodyPr/>
                    <a:lstStyle/>
                    <a:p>
                      <a:pPr algn="ctr"/>
                      <a:r>
                        <a:rPr sz="1200" b="0">
                          <a:solidFill>
                            <a:srgbClr val="333F50"/>
                          </a:solidFill>
                          <a:latin typeface="楷体"/>
                          <a:ea typeface="楷体"/>
                          <a:cs typeface="楷体"/>
                        </a:rPr>
                        <a:t>0.70%</a:t>
                      </a:r>
                    </a:p>
                  </a:txBody>
                  <a:tcPr anchor="ctr" marL="36576" marR="36576" marT="18288" marB="18288">
                    <a:solidFill>
                      <a:srgbClr val="F7F7F7"/>
                    </a:solidFill>
                  </a:tcPr>
                </a:tc>
              </a:tr>
              <a:tr h="497211">
                <a:tc>
                  <a:txBody>
                    <a:bodyPr/>
                    <a:lstStyle/>
                    <a:p>
                      <a:pPr algn="l"/>
                      <a:r>
                        <a:rPr sz="12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65,680.0</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1,093.9</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1,604.1</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-510.2</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-31.8%</a:t>
                      </a:r>
                    </a:p>
                  </a:txBody>
                  <a:tcPr anchor="ctr" marL="36576" marR="36576" marT="18288" marB="18288">
                    <a:solidFill>
                      <a:srgbClr val="FFFFFF"/>
                    </a:solidFill>
                  </a:tcPr>
                </a:tc>
                <a:tc>
                  <a:txBody>
                    <a:bodyPr/>
                    <a:lstStyle/>
                    <a:p>
                      <a:pPr algn="ctr"/>
                      <a:r>
                        <a:rPr sz="1200" b="1">
                          <a:solidFill>
                            <a:srgbClr val="ED7D31"/>
                          </a:solidFill>
                          <a:latin typeface="楷体"/>
                          <a:ea typeface="楷体"/>
                          <a:cs typeface="楷体"/>
                        </a:rPr>
                        <a:t>2.22%</a:t>
                      </a:r>
                    </a:p>
                  </a:txBody>
                  <a:tcPr anchor="ctr" marL="36576" marR="36576" marT="18288" marB="18288">
                    <a:solidFill>
                      <a:srgbClr val="FFFFFF"/>
                    </a:solidFill>
                  </a:tcPr>
                </a:tc>
              </a:tr>
            </a:tbl>
          </a:graphicData>
        </a:graphic>
      </p:graphicFrame>
      <p:sp>
        <p:nvSpPr>
          <p:cNvPr id="6" name="TextBox 5"/>
          <p:cNvSpPr txBox="1"/>
          <p:nvPr/>
        </p:nvSpPr>
        <p:spPr>
          <a:xfrm>
            <a:off x="320040" y="5212080"/>
            <a:ext cx="11521440" cy="1097280"/>
          </a:xfrm>
          <a:prstGeom prst="rect">
            <a:avLst/>
          </a:prstGeom>
          <a:noFill/>
        </p:spPr>
        <p:txBody>
          <a:bodyPr wrap="square">
            <a:spAutoFit/>
          </a:bodyPr>
          <a:lstStyle/>
          <a:p>
            <a:pPr algn="l"/>
            <a:r>
              <a:rPr sz="1500" b="0">
                <a:solidFill>
                  <a:srgbClr val="333F50"/>
                </a:solidFill>
                <a:latin typeface="楷体"/>
                <a:ea typeface="楷体"/>
                <a:cs typeface="楷体"/>
              </a:rPr>
              <a:t>累計投資收益1,093.9萬。ETF/FVPL未實現虧損210.4萬。股票當年估值減少720.0萬（虛構）。</a:t>
            </a:r>
          </a:p>
        </p:txBody>
      </p:sp>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償付能力</a:t>
            </a:r>
          </a:p>
        </p:txBody>
      </p:sp>
      <p:sp>
        <p:nvSpPr>
          <p:cNvPr id="5" name="TextBox 4"/>
          <p:cNvSpPr txBox="1"/>
          <p:nvPr/>
        </p:nvSpPr>
        <p:spPr>
          <a:xfrm>
            <a:off x="640080" y="2011680"/>
            <a:ext cx="10972800" cy="822960"/>
          </a:xfrm>
          <a:prstGeom prst="rect">
            <a:avLst/>
          </a:prstGeom>
          <a:noFill/>
        </p:spPr>
        <p:txBody>
          <a:bodyPr wrap="square">
            <a:spAutoFit/>
          </a:bodyPr>
          <a:lstStyle/>
          <a:p>
            <a:pPr algn="l"/>
            <a:r>
              <a:rPr sz="3200" b="1">
                <a:solidFill>
                  <a:srgbClr val="333F50"/>
                </a:solidFill>
                <a:latin typeface="微软雅黑"/>
                <a:ea typeface="微软雅黑"/>
                <a:cs typeface="微软雅黑"/>
              </a:rPr>
              <a:t>9月底澳門業務償付比率為 226%</a:t>
            </a:r>
          </a:p>
        </p:txBody>
      </p:sp>
      <p:sp>
        <p:nvSpPr>
          <p:cNvPr id="6" name="Rectangle 5"/>
          <p:cNvSpPr/>
          <p:nvPr/>
        </p:nvSpPr>
        <p:spPr>
          <a:xfrm>
            <a:off x="640080" y="2971800"/>
            <a:ext cx="2011680" cy="73152"/>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291840"/>
            <a:ext cx="10058400" cy="457200"/>
          </a:xfrm>
          <a:prstGeom prst="rect">
            <a:avLst/>
          </a:prstGeom>
          <a:noFill/>
        </p:spPr>
        <p:txBody>
          <a:bodyPr wrap="square">
            <a:spAutoFit/>
          </a:bodyPr>
          <a:lstStyle/>
          <a:p>
            <a:pPr algn="l"/>
            <a:r>
              <a:rPr sz="2200" b="0">
                <a:solidFill>
                  <a:srgbClr val="333F50"/>
                </a:solidFill>
                <a:latin typeface="楷体"/>
                <a:ea typeface="楷体"/>
                <a:cs typeface="楷体"/>
              </a:rPr>
              <a:t>環比上月減少 6 個百分點</a:t>
            </a:r>
          </a:p>
        </p:txBody>
      </p:sp>
      <p:sp>
        <p:nvSpPr>
          <p:cNvPr id="8" name="TextBox 7"/>
          <p:cNvSpPr txBox="1"/>
          <p:nvPr/>
        </p:nvSpPr>
        <p:spPr>
          <a:xfrm>
            <a:off x="640080" y="4023360"/>
            <a:ext cx="10058400" cy="457200"/>
          </a:xfrm>
          <a:prstGeom prst="rect">
            <a:avLst/>
          </a:prstGeom>
          <a:noFill/>
        </p:spPr>
        <p:txBody>
          <a:bodyPr wrap="square">
            <a:spAutoFit/>
          </a:bodyPr>
          <a:lstStyle/>
          <a:p>
            <a:pPr algn="l"/>
            <a:r>
              <a:rPr sz="2200" b="0">
                <a:solidFill>
                  <a:srgbClr val="333F50"/>
                </a:solidFill>
                <a:latin typeface="楷体"/>
                <a:ea typeface="楷体"/>
                <a:cs typeface="楷体"/>
              </a:rPr>
              <a:t>符合澳門法例最低要求（150%）</a:t>
            </a:r>
          </a:p>
        </p:txBody>
      </p:sp>
      <p:sp>
        <p:nvSpPr>
          <p:cNvPr id="9" name="TextBox 8"/>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應收保費（香港業務）</a:t>
            </a:r>
          </a:p>
        </p:txBody>
      </p:sp>
      <p:sp>
        <p:nvSpPr>
          <p:cNvPr id="5" name="TextBox 4"/>
          <p:cNvSpPr txBox="1"/>
          <p:nvPr/>
        </p:nvSpPr>
        <p:spPr>
          <a:xfrm>
            <a:off x="320040" y="896112"/>
            <a:ext cx="11521440" cy="365760"/>
          </a:xfrm>
          <a:prstGeom prst="rect">
            <a:avLst/>
          </a:prstGeom>
          <a:noFill/>
        </p:spPr>
        <p:txBody>
          <a:bodyPr wrap="square">
            <a:spAutoFit/>
          </a:bodyPr>
          <a:lstStyle/>
          <a:p>
            <a:pPr algn="l"/>
            <a:r>
              <a:rPr sz="1400" b="0">
                <a:solidFill>
                  <a:srgbClr val="888888"/>
                </a:solidFill>
                <a:latin typeface="楷体"/>
                <a:ea typeface="楷体"/>
                <a:cs typeface="楷体"/>
              </a:rPr>
              <a:t>截至9月底應收保費6,647.2萬，環比減少110.4萬。單位：萬港元。</a:t>
            </a:r>
          </a:p>
        </p:txBody>
      </p:sp>
      <p:graphicFrame>
        <p:nvGraphicFramePr>
          <p:cNvPr id="6" name="Table 5"/>
          <p:cNvGraphicFramePr>
            <a:graphicFrameLocks noGrp="1"/>
          </p:cNvGraphicFramePr>
          <p:nvPr/>
        </p:nvGraphicFramePr>
        <p:xfrm>
          <a:off x="365760" y="1417320"/>
          <a:ext cx="11430000" cy="301752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603504">
                <a:tc>
                  <a:txBody>
                    <a:bodyPr/>
                    <a:lstStyle/>
                    <a:p>
                      <a:pPr algn="ctr"/>
                      <a:r>
                        <a:rPr sz="1400" b="1">
                          <a:solidFill>
                            <a:srgbClr val="FFFFFF"/>
                          </a:solidFill>
                          <a:latin typeface="楷体"/>
                          <a:ea typeface="楷体"/>
                          <a:cs typeface="楷体"/>
                        </a:rPr>
                        <a:t>渠道</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拖欠應收</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總應收</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拖欠比率</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預警值</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行動值</a:t>
                      </a:r>
                    </a:p>
                  </a:txBody>
                  <a:tcPr anchor="ctr" marL="36576" marR="36576" marT="18288" marB="18288">
                    <a:solidFill>
                      <a:srgbClr val="333F50"/>
                    </a:solidFill>
                  </a:tcPr>
                </a:tc>
              </a:tr>
              <a:tr h="603504">
                <a:tc>
                  <a:txBody>
                    <a:bodyPr/>
                    <a:lstStyle/>
                    <a:p>
                      <a:pPr algn="l"/>
                      <a:r>
                        <a:rPr sz="1400" b="1">
                          <a:solidFill>
                            <a:srgbClr val="333F50"/>
                          </a:solidFill>
                          <a:latin typeface="楷体"/>
                          <a:ea typeface="楷体"/>
                          <a:cs typeface="楷体"/>
                        </a:rPr>
                        <a:t>直接（逾期&gt;60天）</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16.8</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302.5</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5.6%</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20%</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25%</a:t>
                      </a:r>
                    </a:p>
                  </a:txBody>
                  <a:tcPr anchor="ctr" marL="36576" marR="36576" marT="18288" marB="18288">
                    <a:solidFill>
                      <a:srgbClr val="FFFFFF"/>
                    </a:solidFill>
                  </a:tcPr>
                </a:tc>
              </a:tr>
              <a:tr h="603504">
                <a:tc>
                  <a:txBody>
                    <a:bodyPr/>
                    <a:lstStyle/>
                    <a:p>
                      <a:pPr algn="l"/>
                      <a:r>
                        <a:rPr sz="1400" b="1">
                          <a:solidFill>
                            <a:srgbClr val="333F50"/>
                          </a:solidFill>
                          <a:latin typeface="楷体"/>
                          <a:ea typeface="楷体"/>
                          <a:cs typeface="楷体"/>
                        </a:rPr>
                        <a:t>臨分分入（逾期&gt;90天）</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268.4</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1,240.2</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21.6%</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40%</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50%</a:t>
                      </a:r>
                    </a:p>
                  </a:txBody>
                  <a:tcPr anchor="ctr" marL="36576" marR="36576" marT="18288" marB="18288">
                    <a:solidFill>
                      <a:srgbClr val="F7F7F7"/>
                    </a:solidFill>
                  </a:tcPr>
                </a:tc>
              </a:tr>
              <a:tr h="603504">
                <a:tc>
                  <a:txBody>
                    <a:bodyPr/>
                    <a:lstStyle/>
                    <a:p>
                      <a:pPr algn="l"/>
                      <a:r>
                        <a:rPr sz="1400" b="1">
                          <a:solidFill>
                            <a:srgbClr val="333F50"/>
                          </a:solidFill>
                          <a:latin typeface="楷体"/>
                          <a:ea typeface="楷体"/>
                          <a:cs typeface="楷体"/>
                        </a:rPr>
                        <a:t>合同分入（逾期&gt;90天）</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1,520.6</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5,104.5</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29.8%</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40%</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50%</a:t>
                      </a:r>
                    </a:p>
                  </a:txBody>
                  <a:tcPr anchor="ctr" marL="36576" marR="36576" marT="18288" marB="18288">
                    <a:solidFill>
                      <a:srgbClr val="FFFFFF"/>
                    </a:solidFill>
                  </a:tcPr>
                </a:tc>
              </a:tr>
              <a:tr h="603504">
                <a:tc>
                  <a:txBody>
                    <a:bodyPr/>
                    <a:lstStyle/>
                    <a:p>
                      <a:pPr algn="l"/>
                      <a:r>
                        <a:rPr sz="1400" b="1">
                          <a:solidFill>
                            <a:srgbClr val="ED7D31"/>
                          </a:solidFill>
                          <a:latin typeface="楷体"/>
                          <a:ea typeface="楷体"/>
                          <a:cs typeface="楷体"/>
                        </a:rPr>
                        <a:t>合計</a:t>
                      </a:r>
                    </a:p>
                  </a:txBody>
                  <a:tcPr anchor="ctr" marL="36576" marR="36576" marT="18288" marB="18288">
                    <a:solidFill>
                      <a:srgbClr val="F7F7F7"/>
                    </a:solidFill>
                  </a:tcPr>
                </a:tc>
                <a:tc>
                  <a:txBody>
                    <a:bodyPr/>
                    <a:lstStyle/>
                    <a:p>
                      <a:pPr algn="ctr"/>
                      <a:r>
                        <a:rPr sz="1400" b="1">
                          <a:solidFill>
                            <a:srgbClr val="ED7D31"/>
                          </a:solidFill>
                          <a:latin typeface="楷体"/>
                          <a:ea typeface="楷体"/>
                          <a:cs typeface="楷体"/>
                        </a:rPr>
                        <a:t>1,805.8</a:t>
                      </a:r>
                    </a:p>
                  </a:txBody>
                  <a:tcPr anchor="ctr" marL="36576" marR="36576" marT="18288" marB="18288">
                    <a:solidFill>
                      <a:srgbClr val="F7F7F7"/>
                    </a:solidFill>
                  </a:tcPr>
                </a:tc>
                <a:tc>
                  <a:txBody>
                    <a:bodyPr/>
                    <a:lstStyle/>
                    <a:p>
                      <a:pPr algn="ctr"/>
                      <a:r>
                        <a:rPr sz="1400" b="1">
                          <a:solidFill>
                            <a:srgbClr val="ED7D31"/>
                          </a:solidFill>
                          <a:latin typeface="楷体"/>
                          <a:ea typeface="楷体"/>
                          <a:cs typeface="楷体"/>
                        </a:rPr>
                        <a:t>6,647.2</a:t>
                      </a:r>
                    </a:p>
                  </a:txBody>
                  <a:tcPr anchor="ctr" marL="36576" marR="36576" marT="18288" marB="18288">
                    <a:solidFill>
                      <a:srgbClr val="F7F7F7"/>
                    </a:solidFill>
                  </a:tcPr>
                </a:tc>
                <a:tc>
                  <a:txBody>
                    <a:bodyPr/>
                    <a:lstStyle/>
                    <a:p>
                      <a:pPr algn="ctr"/>
                      <a:r>
                        <a:rPr sz="1400" b="1">
                          <a:solidFill>
                            <a:srgbClr val="ED7D31"/>
                          </a:solidFill>
                          <a:latin typeface="楷体"/>
                          <a:ea typeface="楷体"/>
                          <a:cs typeface="楷体"/>
                        </a:rPr>
                        <a:t>27.2%</a:t>
                      </a:r>
                    </a:p>
                  </a:txBody>
                  <a:tcPr anchor="ctr" marL="36576" marR="36576" marT="18288" marB="18288">
                    <a:solidFill>
                      <a:srgbClr val="F7F7F7"/>
                    </a:solidFill>
                  </a:tcPr>
                </a:tc>
                <a:tc>
                  <a:txBody>
                    <a:bodyPr/>
                    <a:lstStyle/>
                    <a:p>
                      <a:pPr algn="ctr"/>
                      <a:r>
                        <a:rPr sz="1400" b="1">
                          <a:solidFill>
                            <a:srgbClr val="ED7D31"/>
                          </a:solidFill>
                          <a:latin typeface="楷体"/>
                          <a:ea typeface="楷体"/>
                          <a:cs typeface="楷体"/>
                        </a:rPr>
                        <a:t>—</a:t>
                      </a:r>
                    </a:p>
                  </a:txBody>
                  <a:tcPr anchor="ctr" marL="36576" marR="36576" marT="18288" marB="18288">
                    <a:solidFill>
                      <a:srgbClr val="F7F7F7"/>
                    </a:solidFill>
                  </a:tcPr>
                </a:tc>
                <a:tc>
                  <a:txBody>
                    <a:bodyPr/>
                    <a:lstStyle/>
                    <a:p>
                      <a:pPr algn="ctr"/>
                      <a:r>
                        <a:rPr sz="1400" b="1">
                          <a:solidFill>
                            <a:srgbClr val="ED7D31"/>
                          </a:solidFill>
                          <a:latin typeface="楷体"/>
                          <a:ea typeface="楷体"/>
                          <a:cs typeface="楷体"/>
                        </a:rPr>
                        <a:t>—</a:t>
                      </a:r>
                    </a:p>
                  </a:txBody>
                  <a:tcPr anchor="ctr" marL="36576" marR="36576" marT="18288" marB="18288">
                    <a:solidFill>
                      <a:srgbClr val="F7F7F7"/>
                    </a:solidFill>
                  </a:tcPr>
                </a:tc>
              </a:tr>
            </a:tbl>
          </a:graphicData>
        </a:graphic>
      </p:graphicFrame>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應收保費（澳門業務）</a:t>
            </a:r>
          </a:p>
        </p:txBody>
      </p:sp>
      <p:sp>
        <p:nvSpPr>
          <p:cNvPr id="5" name="TextBox 4"/>
          <p:cNvSpPr txBox="1"/>
          <p:nvPr/>
        </p:nvSpPr>
        <p:spPr>
          <a:xfrm>
            <a:off x="320040" y="896112"/>
            <a:ext cx="11521440" cy="365760"/>
          </a:xfrm>
          <a:prstGeom prst="rect">
            <a:avLst/>
          </a:prstGeom>
          <a:noFill/>
        </p:spPr>
        <p:txBody>
          <a:bodyPr wrap="square">
            <a:spAutoFit/>
          </a:bodyPr>
          <a:lstStyle/>
          <a:p>
            <a:pPr algn="l"/>
            <a:r>
              <a:rPr sz="1400" b="0">
                <a:solidFill>
                  <a:srgbClr val="888888"/>
                </a:solidFill>
                <a:latin typeface="楷体"/>
                <a:ea typeface="楷体"/>
                <a:cs typeface="楷体"/>
              </a:rPr>
              <a:t>截至9月底應收保費2,796.8萬，環比減少64.2萬。單位：萬港元。</a:t>
            </a:r>
          </a:p>
        </p:txBody>
      </p:sp>
      <p:graphicFrame>
        <p:nvGraphicFramePr>
          <p:cNvPr id="6" name="Table 5"/>
          <p:cNvGraphicFramePr>
            <a:graphicFrameLocks noGrp="1"/>
          </p:cNvGraphicFramePr>
          <p:nvPr/>
        </p:nvGraphicFramePr>
        <p:xfrm>
          <a:off x="365760" y="1417320"/>
          <a:ext cx="11430000" cy="301752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754380">
                <a:tc>
                  <a:txBody>
                    <a:bodyPr/>
                    <a:lstStyle/>
                    <a:p>
                      <a:pPr algn="ctr"/>
                      <a:r>
                        <a:rPr sz="1400" b="1">
                          <a:solidFill>
                            <a:srgbClr val="FFFFFF"/>
                          </a:solidFill>
                          <a:latin typeface="楷体"/>
                          <a:ea typeface="楷体"/>
                          <a:cs typeface="楷体"/>
                        </a:rPr>
                        <a:t>渠道</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拖欠應收</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總應收</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拖欠比率</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預警值</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行動值</a:t>
                      </a:r>
                    </a:p>
                  </a:txBody>
                  <a:tcPr anchor="ctr" marL="36576" marR="36576" marT="18288" marB="18288">
                    <a:solidFill>
                      <a:srgbClr val="333F50"/>
                    </a:solidFill>
                  </a:tcPr>
                </a:tc>
              </a:tr>
              <a:tr h="754380">
                <a:tc>
                  <a:txBody>
                    <a:bodyPr/>
                    <a:lstStyle/>
                    <a:p>
                      <a:pPr algn="l"/>
                      <a:r>
                        <a:rPr sz="1400" b="1">
                          <a:solidFill>
                            <a:srgbClr val="333F50"/>
                          </a:solidFill>
                          <a:latin typeface="楷体"/>
                          <a:ea typeface="楷体"/>
                          <a:cs typeface="楷体"/>
                        </a:rPr>
                        <a:t>直接（逾期&gt;60天）</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108.6</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1,452.4</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7.5%</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20%</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25%</a:t>
                      </a:r>
                    </a:p>
                  </a:txBody>
                  <a:tcPr anchor="ctr" marL="36576" marR="36576" marT="18288" marB="18288">
                    <a:solidFill>
                      <a:srgbClr val="FFFFFF"/>
                    </a:solidFill>
                  </a:tcPr>
                </a:tc>
              </a:tr>
              <a:tr h="754380">
                <a:tc>
                  <a:txBody>
                    <a:bodyPr/>
                    <a:lstStyle/>
                    <a:p>
                      <a:pPr algn="l"/>
                      <a:r>
                        <a:rPr sz="1400" b="1">
                          <a:solidFill>
                            <a:srgbClr val="333F50"/>
                          </a:solidFill>
                          <a:latin typeface="楷体"/>
                          <a:ea typeface="楷体"/>
                          <a:cs typeface="楷体"/>
                        </a:rPr>
                        <a:t>臨分分入（逾期&gt;90天）</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22.4</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1,344.4</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1.7%</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40%</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50%</a:t>
                      </a:r>
                    </a:p>
                  </a:txBody>
                  <a:tcPr anchor="ctr" marL="36576" marR="36576" marT="18288" marB="18288">
                    <a:solidFill>
                      <a:srgbClr val="F7F7F7"/>
                    </a:solidFill>
                  </a:tcPr>
                </a:tc>
              </a:tr>
              <a:tr h="754380">
                <a:tc>
                  <a:txBody>
                    <a:bodyPr/>
                    <a:lstStyle/>
                    <a:p>
                      <a:pPr algn="l"/>
                      <a:r>
                        <a:rPr sz="14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131.0</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2,796.8</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4.7%</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a:t>
                      </a:r>
                    </a:p>
                  </a:txBody>
                  <a:tcPr anchor="ctr" marL="36576" marR="36576" marT="18288" marB="18288">
                    <a:solidFill>
                      <a:srgbClr val="FFFFFF"/>
                    </a:solidFill>
                  </a:tcPr>
                </a:tc>
              </a:tr>
            </a:tbl>
          </a:graphicData>
        </a:graphic>
      </p:graphicFrame>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財務表現摘要 – 再保應付款</a:t>
            </a:r>
          </a:p>
        </p:txBody>
      </p:sp>
      <p:sp>
        <p:nvSpPr>
          <p:cNvPr id="5" name="TextBox 4"/>
          <p:cNvSpPr txBox="1"/>
          <p:nvPr/>
        </p:nvSpPr>
        <p:spPr>
          <a:xfrm>
            <a:off x="274320" y="868680"/>
            <a:ext cx="11430000" cy="274320"/>
          </a:xfrm>
          <a:prstGeom prst="rect">
            <a:avLst/>
          </a:prstGeom>
          <a:noFill/>
        </p:spPr>
        <p:txBody>
          <a:bodyPr wrap="square">
            <a:spAutoFit/>
          </a:bodyPr>
          <a:lstStyle/>
          <a:p>
            <a:pPr algn="l"/>
            <a:r>
              <a:rPr sz="1200" b="0">
                <a:solidFill>
                  <a:srgbClr val="888888"/>
                </a:solidFill>
                <a:latin typeface="楷体"/>
                <a:ea typeface="楷体"/>
                <a:cs typeface="楷体"/>
              </a:rPr>
              <a:t>單位：港元。截至2026年9月底。公司名為虛構代號，負數表示應付。</a:t>
            </a:r>
          </a:p>
        </p:txBody>
      </p:sp>
      <p:graphicFrame>
        <p:nvGraphicFramePr>
          <p:cNvPr id="6" name="Table 5"/>
          <p:cNvGraphicFramePr>
            <a:graphicFrameLocks noGrp="1"/>
          </p:cNvGraphicFramePr>
          <p:nvPr/>
        </p:nvGraphicFramePr>
        <p:xfrm>
          <a:off x="256032" y="1234440"/>
          <a:ext cx="11658600" cy="3657600"/>
        </p:xfrm>
        <a:graphic>
          <a:graphicData uri="http://schemas.openxmlformats.org/drawingml/2006/table">
            <a:tbl>
              <a:tblPr firstRow="1" bandRow="1">
                <a:tableStyleId>{5C22544A-7EE6-4342-B048-85BDC9FD1C3A}</a:tableStyleId>
              </a:tblPr>
              <a:tblGrid>
                <a:gridCol w="1665514"/>
                <a:gridCol w="1665514"/>
                <a:gridCol w="1665514"/>
                <a:gridCol w="1665514"/>
                <a:gridCol w="1665514"/>
                <a:gridCol w="1665514"/>
                <a:gridCol w="1665516"/>
              </a:tblGrid>
              <a:tr h="522514">
                <a:tc>
                  <a:txBody>
                    <a:bodyPr/>
                    <a:lstStyle/>
                    <a:p>
                      <a:pPr algn="ctr"/>
                      <a:r>
                        <a:rPr sz="1300" b="1">
                          <a:solidFill>
                            <a:srgbClr val="FFFFFF"/>
                          </a:solidFill>
                          <a:latin typeface="楷体"/>
                          <a:ea typeface="楷体"/>
                          <a:cs typeface="楷体"/>
                        </a:rPr>
                        <a:t>公司</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&gt;1年</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&gt;180天</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&gt;90天</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&gt;30天</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current</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總計</a:t>
                      </a:r>
                    </a:p>
                  </a:txBody>
                  <a:tcPr anchor="ctr" marL="36576" marR="36576" marT="18288" marB="18288">
                    <a:solidFill>
                      <a:srgbClr val="333F50"/>
                    </a:solidFill>
                  </a:tcPr>
                </a:tc>
              </a:tr>
              <a:tr h="522514">
                <a:tc>
                  <a:txBody>
                    <a:bodyPr/>
                    <a:lstStyle/>
                    <a:p>
                      <a:pPr algn="l"/>
                      <a:r>
                        <a:rPr sz="1300" b="1">
                          <a:solidFill>
                            <a:srgbClr val="333F50"/>
                          </a:solidFill>
                          <a:latin typeface="楷体"/>
                          <a:ea typeface="楷体"/>
                          <a:cs typeface="楷体"/>
                        </a:rPr>
                        <a:t>模擬再保A</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-180,000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-40,000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-160,000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-8,000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-6,000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-394,000</a:t>
                      </a:r>
                    </a:p>
                  </a:txBody>
                  <a:tcPr anchor="ctr" marL="36576" marR="36576" marT="18288" marB="18288">
                    <a:solidFill>
                      <a:srgbClr val="FFFFFF"/>
                    </a:solidFill>
                  </a:tcPr>
                </a:tc>
              </a:tr>
              <a:tr h="522514">
                <a:tc>
                  <a:txBody>
                    <a:bodyPr/>
                    <a:lstStyle/>
                    <a:p>
                      <a:pPr algn="l"/>
                      <a:r>
                        <a:rPr sz="1300" b="1">
                          <a:solidFill>
                            <a:srgbClr val="333F50"/>
                          </a:solidFill>
                          <a:latin typeface="楷体"/>
                          <a:ea typeface="楷体"/>
                          <a:cs typeface="楷体"/>
                        </a:rPr>
                        <a:t>模擬經紀B</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-52,000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-48,000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-70,000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-12,000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-9,000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-191,000</a:t>
                      </a:r>
                    </a:p>
                  </a:txBody>
                  <a:tcPr anchor="ctr" marL="36576" marR="36576" marT="18288" marB="18288">
                    <a:solidFill>
                      <a:srgbClr val="F7F7F7"/>
                    </a:solidFill>
                  </a:tcPr>
                </a:tc>
              </a:tr>
              <a:tr h="522514">
                <a:tc>
                  <a:txBody>
                    <a:bodyPr/>
                    <a:lstStyle/>
                    <a:p>
                      <a:pPr algn="l"/>
                      <a:r>
                        <a:rPr sz="1300" b="1">
                          <a:solidFill>
                            <a:srgbClr val="333F50"/>
                          </a:solidFill>
                          <a:latin typeface="楷体"/>
                          <a:ea typeface="楷体"/>
                          <a:cs typeface="楷体"/>
                        </a:rPr>
                        <a:t>模擬再保D</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-960,000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-30,000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-520,000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-40,000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-1,550,000</a:t>
                      </a:r>
                    </a:p>
                  </a:txBody>
                  <a:tcPr anchor="ctr" marL="36576" marR="36576" marT="18288" marB="18288">
                    <a:solidFill>
                      <a:srgbClr val="FFFFFF"/>
                    </a:solidFill>
                  </a:tcPr>
                </a:tc>
              </a:tr>
              <a:tr h="522514">
                <a:tc>
                  <a:txBody>
                    <a:bodyPr/>
                    <a:lstStyle/>
                    <a:p>
                      <a:pPr algn="l"/>
                      <a:r>
                        <a:rPr sz="1300" b="1">
                          <a:solidFill>
                            <a:srgbClr val="333F50"/>
                          </a:solidFill>
                          <a:latin typeface="楷体"/>
                          <a:ea typeface="楷体"/>
                          <a:cs typeface="楷体"/>
                        </a:rPr>
                        <a:t>模擬經紀E</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-210,000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-80,000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-120,000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-8,000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-30,000</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-448,000</a:t>
                      </a:r>
                    </a:p>
                  </a:txBody>
                  <a:tcPr anchor="ctr" marL="36576" marR="36576" marT="18288" marB="18288">
                    <a:solidFill>
                      <a:srgbClr val="F7F7F7"/>
                    </a:solidFill>
                  </a:tcPr>
                </a:tc>
              </a:tr>
              <a:tr h="522514">
                <a:tc>
                  <a:txBody>
                    <a:bodyPr/>
                    <a:lstStyle/>
                    <a:p>
                      <a:pPr algn="l"/>
                      <a:r>
                        <a:rPr sz="1300" b="1">
                          <a:solidFill>
                            <a:srgbClr val="333F50"/>
                          </a:solidFill>
                          <a:latin typeface="楷体"/>
                          <a:ea typeface="楷体"/>
                          <a:cs typeface="楷体"/>
                        </a:rPr>
                        <a:t>模擬再保G</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-700,000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-70,000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-110,000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-50,000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-16,000</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-946,000</a:t>
                      </a:r>
                    </a:p>
                  </a:txBody>
                  <a:tcPr anchor="ctr" marL="36576" marR="36576" marT="18288" marB="18288">
                    <a:solidFill>
                      <a:srgbClr val="FFFFFF"/>
                    </a:solidFill>
                  </a:tcPr>
                </a:tc>
              </a:tr>
              <a:tr h="522516">
                <a:tc>
                  <a:txBody>
                    <a:bodyPr/>
                    <a:lstStyle/>
                    <a:p>
                      <a:pPr algn="l"/>
                      <a:r>
                        <a:rPr sz="1300" b="1">
                          <a:solidFill>
                            <a:srgbClr val="ED7D31"/>
                          </a:solidFill>
                          <a:latin typeface="楷体"/>
                          <a:ea typeface="楷体"/>
                          <a:cs typeface="楷体"/>
                        </a:rPr>
                        <a:t>總計</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-2,102,000</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-268,000</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-980,000</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-118,000</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-61,000</a:t>
                      </a:r>
                    </a:p>
                  </a:txBody>
                  <a:tcPr anchor="ctr" marL="36576" marR="36576" marT="18288" marB="18288">
                    <a:solidFill>
                      <a:srgbClr val="F7F7F7"/>
                    </a:solidFill>
                  </a:tcPr>
                </a:tc>
                <a:tc>
                  <a:txBody>
                    <a:bodyPr/>
                    <a:lstStyle/>
                    <a:p>
                      <a:pPr algn="ctr"/>
                      <a:r>
                        <a:rPr sz="1300" b="1">
                          <a:solidFill>
                            <a:srgbClr val="ED7D31"/>
                          </a:solidFill>
                          <a:latin typeface="楷体"/>
                          <a:ea typeface="楷体"/>
                          <a:cs typeface="楷体"/>
                        </a:rPr>
                        <a:t>-3,529,000</a:t>
                      </a:r>
                    </a:p>
                  </a:txBody>
                  <a:tcPr anchor="ctr" marL="36576" marR="36576" marT="18288" marB="18288">
                    <a:solidFill>
                      <a:srgbClr val="F7F7F7"/>
                    </a:solidFill>
                  </a:tcPr>
                </a:tc>
              </a:tr>
            </a:tbl>
          </a:graphicData>
        </a:graphic>
      </p:graphicFrame>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業務工作動態報告</a:t>
            </a:r>
          </a:p>
        </p:txBody>
      </p:sp>
      <p:sp>
        <p:nvSpPr>
          <p:cNvPr id="5" name="TextBox 4"/>
          <p:cNvSpPr txBox="1"/>
          <p:nvPr/>
        </p:nvSpPr>
        <p:spPr>
          <a:xfrm>
            <a:off x="320040" y="896112"/>
            <a:ext cx="10972800" cy="292608"/>
          </a:xfrm>
          <a:prstGeom prst="rect">
            <a:avLst/>
          </a:prstGeom>
          <a:noFill/>
        </p:spPr>
        <p:txBody>
          <a:bodyPr wrap="square">
            <a:spAutoFit/>
          </a:bodyPr>
          <a:lstStyle/>
          <a:p>
            <a:pPr algn="l"/>
            <a:r>
              <a:rPr sz="1600" b="1">
                <a:solidFill>
                  <a:srgbClr val="ED7D31"/>
                </a:solidFill>
                <a:latin typeface="楷体"/>
                <a:ea typeface="楷体"/>
                <a:cs typeface="楷体"/>
              </a:rPr>
              <a:t>一、上月工作（2026年9月1日至9月30日）</a:t>
            </a:r>
          </a:p>
        </p:txBody>
      </p:sp>
      <p:graphicFrame>
        <p:nvGraphicFramePr>
          <p:cNvPr id="6" name="Table 5"/>
          <p:cNvGraphicFramePr>
            <a:graphicFrameLocks noGrp="1"/>
          </p:cNvGraphicFramePr>
          <p:nvPr/>
        </p:nvGraphicFramePr>
        <p:xfrm>
          <a:off x="320040" y="1234440"/>
          <a:ext cx="11521440" cy="1874519"/>
        </p:xfrm>
        <a:graphic>
          <a:graphicData uri="http://schemas.openxmlformats.org/drawingml/2006/table">
            <a:tbl>
              <a:tblPr firstRow="1" bandRow="1">
                <a:tableStyleId>{5C22544A-7EE6-4342-B048-85BDC9FD1C3A}</a:tableStyleId>
              </a:tblPr>
              <a:tblGrid>
                <a:gridCol w="3840480"/>
                <a:gridCol w="3840480"/>
                <a:gridCol w="3840480"/>
              </a:tblGrid>
              <a:tr h="468629">
                <a:tc>
                  <a:txBody>
                    <a:bodyPr/>
                    <a:lstStyle/>
                    <a:p>
                      <a:pPr algn="ctr"/>
                      <a:r>
                        <a:rPr sz="1300" b="1">
                          <a:solidFill>
                            <a:srgbClr val="FFFFFF"/>
                          </a:solidFill>
                          <a:latin typeface="楷体"/>
                          <a:ea typeface="楷体"/>
                          <a:cs typeface="楷体"/>
                        </a:rPr>
                        <a:t>序號</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主要工作內容</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主要工作成效</a:t>
                      </a:r>
                    </a:p>
                  </a:txBody>
                  <a:tcPr anchor="ctr" marL="36576" marR="36576" marT="18288" marB="18288">
                    <a:solidFill>
                      <a:srgbClr val="333F50"/>
                    </a:solidFill>
                  </a:tcPr>
                </a:tc>
              </a:tr>
              <a:tr h="468629">
                <a:tc>
                  <a:txBody>
                    <a:bodyPr/>
                    <a:lstStyle/>
                    <a:p>
                      <a:pPr algn="l"/>
                      <a:r>
                        <a:rPr sz="1300" b="1">
                          <a:solidFill>
                            <a:srgbClr val="333F50"/>
                          </a:solidFill>
                          <a:latin typeface="楷体"/>
                          <a:ea typeface="楷体"/>
                          <a:cs typeface="楷体"/>
                        </a:rPr>
                        <a:t>1</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開通南灣銀行網上銀行</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已完成開戶，待測試</a:t>
                      </a:r>
                    </a:p>
                  </a:txBody>
                  <a:tcPr anchor="ctr" marL="36576" marR="36576" marT="18288" marB="18288">
                    <a:solidFill>
                      <a:srgbClr val="FFFFFF"/>
                    </a:solidFill>
                  </a:tcPr>
                </a:tc>
              </a:tr>
              <a:tr h="468629">
                <a:tc>
                  <a:txBody>
                    <a:bodyPr/>
                    <a:lstStyle/>
                    <a:p>
                      <a:pPr algn="l"/>
                      <a:r>
                        <a:rPr sz="1300" b="1">
                          <a:solidFill>
                            <a:srgbClr val="333F50"/>
                          </a:solidFill>
                          <a:latin typeface="楷体"/>
                          <a:ea typeface="楷体"/>
                          <a:cs typeface="楷体"/>
                        </a:rPr>
                        <a:t>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啟動代表處註銷</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已提交申請</a:t>
                      </a:r>
                    </a:p>
                  </a:txBody>
                  <a:tcPr anchor="ctr" marL="36576" marR="36576" marT="18288" marB="18288">
                    <a:solidFill>
                      <a:srgbClr val="F7F7F7"/>
                    </a:solidFill>
                  </a:tcPr>
                </a:tc>
              </a:tr>
              <a:tr h="468632">
                <a:tc>
                  <a:txBody>
                    <a:bodyPr/>
                    <a:lstStyle/>
                    <a:p>
                      <a:pPr algn="l"/>
                      <a:r>
                        <a:rPr sz="1300" b="1">
                          <a:solidFill>
                            <a:srgbClr val="ED7D31"/>
                          </a:solidFill>
                          <a:latin typeface="楷体"/>
                          <a:ea typeface="楷体"/>
                          <a:cs typeface="楷体"/>
                        </a:rPr>
                        <a:t>3</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拜訪合作經紀（虛構）</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確認分入意向</a:t>
                      </a:r>
                    </a:p>
                  </a:txBody>
                  <a:tcPr anchor="ctr" marL="36576" marR="36576" marT="18288" marB="18288">
                    <a:solidFill>
                      <a:srgbClr val="FFFFFF"/>
                    </a:solidFill>
                  </a:tcPr>
                </a:tc>
              </a:tr>
            </a:tbl>
          </a:graphicData>
        </a:graphic>
      </p:graphicFrame>
      <p:sp>
        <p:nvSpPr>
          <p:cNvPr id="7" name="TextBox 6"/>
          <p:cNvSpPr txBox="1"/>
          <p:nvPr/>
        </p:nvSpPr>
        <p:spPr>
          <a:xfrm>
            <a:off x="320040" y="3291840"/>
            <a:ext cx="10972800" cy="292608"/>
          </a:xfrm>
          <a:prstGeom prst="rect">
            <a:avLst/>
          </a:prstGeom>
          <a:noFill/>
        </p:spPr>
        <p:txBody>
          <a:bodyPr wrap="square">
            <a:spAutoFit/>
          </a:bodyPr>
          <a:lstStyle/>
          <a:p>
            <a:pPr algn="l"/>
            <a:r>
              <a:rPr sz="1600" b="1">
                <a:solidFill>
                  <a:srgbClr val="ED7D31"/>
                </a:solidFill>
                <a:latin typeface="楷体"/>
                <a:ea typeface="楷体"/>
                <a:cs typeface="楷体"/>
              </a:rPr>
              <a:t>二、本月工作計畫（2026年10月1日至10月31日）</a:t>
            </a:r>
          </a:p>
        </p:txBody>
      </p:sp>
      <p:graphicFrame>
        <p:nvGraphicFramePr>
          <p:cNvPr id="8" name="Table 7"/>
          <p:cNvGraphicFramePr>
            <a:graphicFrameLocks noGrp="1"/>
          </p:cNvGraphicFramePr>
          <p:nvPr/>
        </p:nvGraphicFramePr>
        <p:xfrm>
          <a:off x="320040" y="3657600"/>
          <a:ext cx="11521440" cy="1874519"/>
        </p:xfrm>
        <a:graphic>
          <a:graphicData uri="http://schemas.openxmlformats.org/drawingml/2006/table">
            <a:tbl>
              <a:tblPr firstRow="1" bandRow="1">
                <a:tableStyleId>{5C22544A-7EE6-4342-B048-85BDC9FD1C3A}</a:tableStyleId>
              </a:tblPr>
              <a:tblGrid>
                <a:gridCol w="3840480"/>
                <a:gridCol w="3840480"/>
                <a:gridCol w="3840480"/>
              </a:tblGrid>
              <a:tr h="468629">
                <a:tc>
                  <a:txBody>
                    <a:bodyPr/>
                    <a:lstStyle/>
                    <a:p>
                      <a:pPr algn="ctr"/>
                      <a:r>
                        <a:rPr sz="1300" b="1">
                          <a:solidFill>
                            <a:srgbClr val="FFFFFF"/>
                          </a:solidFill>
                          <a:latin typeface="楷体"/>
                          <a:ea typeface="楷体"/>
                          <a:cs typeface="楷体"/>
                        </a:rPr>
                        <a:t>序號</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主要工作內容</a:t>
                      </a:r>
                    </a:p>
                  </a:txBody>
                  <a:tcPr anchor="ctr" marL="36576" marR="36576" marT="18288" marB="18288">
                    <a:solidFill>
                      <a:srgbClr val="333F50"/>
                    </a:solidFill>
                  </a:tcPr>
                </a:tc>
                <a:tc>
                  <a:txBody>
                    <a:bodyPr/>
                    <a:lstStyle/>
                    <a:p>
                      <a:pPr algn="ctr"/>
                      <a:r>
                        <a:rPr sz="1300" b="1">
                          <a:solidFill>
                            <a:srgbClr val="FFFFFF"/>
                          </a:solidFill>
                          <a:latin typeface="楷体"/>
                          <a:ea typeface="楷体"/>
                          <a:cs typeface="楷体"/>
                        </a:rPr>
                        <a:t>主要工作成效</a:t>
                      </a:r>
                    </a:p>
                  </a:txBody>
                  <a:tcPr anchor="ctr" marL="36576" marR="36576" marT="18288" marB="18288">
                    <a:solidFill>
                      <a:srgbClr val="333F50"/>
                    </a:solidFill>
                  </a:tcPr>
                </a:tc>
              </a:tr>
              <a:tr h="468629">
                <a:tc>
                  <a:txBody>
                    <a:bodyPr/>
                    <a:lstStyle/>
                    <a:p>
                      <a:pPr algn="l"/>
                      <a:r>
                        <a:rPr sz="1300" b="1">
                          <a:solidFill>
                            <a:srgbClr val="333F50"/>
                          </a:solidFill>
                          <a:latin typeface="楷体"/>
                          <a:ea typeface="楷体"/>
                          <a:cs typeface="楷体"/>
                        </a:rPr>
                        <a:t>1</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測試南灣銀行網上銀行</a:t>
                      </a:r>
                    </a:p>
                  </a:txBody>
                  <a:tcPr anchor="ctr" marL="36576" marR="36576" marT="18288" marB="18288">
                    <a:solidFill>
                      <a:srgbClr val="FFFFFF"/>
                    </a:solidFill>
                  </a:tcPr>
                </a:tc>
                <a:tc>
                  <a:txBody>
                    <a:bodyPr/>
                    <a:lstStyle/>
                    <a:p>
                      <a:pPr algn="ctr"/>
                      <a:r>
                        <a:rPr sz="1300" b="0">
                          <a:solidFill>
                            <a:srgbClr val="333F50"/>
                          </a:solidFill>
                          <a:latin typeface="楷体"/>
                          <a:ea typeface="楷体"/>
                          <a:cs typeface="楷体"/>
                        </a:rPr>
                        <a:t>計畫完成小額入賬</a:t>
                      </a:r>
                    </a:p>
                  </a:txBody>
                  <a:tcPr anchor="ctr" marL="36576" marR="36576" marT="18288" marB="18288">
                    <a:solidFill>
                      <a:srgbClr val="FFFFFF"/>
                    </a:solidFill>
                  </a:tcPr>
                </a:tc>
              </a:tr>
              <a:tr h="468629">
                <a:tc>
                  <a:txBody>
                    <a:bodyPr/>
                    <a:lstStyle/>
                    <a:p>
                      <a:pPr algn="l"/>
                      <a:r>
                        <a:rPr sz="1300" b="1">
                          <a:solidFill>
                            <a:srgbClr val="333F50"/>
                          </a:solidFill>
                          <a:latin typeface="楷体"/>
                          <a:ea typeface="楷体"/>
                          <a:cs typeface="楷体"/>
                        </a:rPr>
                        <a:t>2</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跟進代表處註銷</a:t>
                      </a:r>
                    </a:p>
                  </a:txBody>
                  <a:tcPr anchor="ctr" marL="36576" marR="36576" marT="18288" marB="18288">
                    <a:solidFill>
                      <a:srgbClr val="F7F7F7"/>
                    </a:solidFill>
                  </a:tcPr>
                </a:tc>
                <a:tc>
                  <a:txBody>
                    <a:bodyPr/>
                    <a:lstStyle/>
                    <a:p>
                      <a:pPr algn="ctr"/>
                      <a:r>
                        <a:rPr sz="1300" b="0">
                          <a:solidFill>
                            <a:srgbClr val="333F50"/>
                          </a:solidFill>
                          <a:latin typeface="楷体"/>
                          <a:ea typeface="楷体"/>
                          <a:cs typeface="楷体"/>
                        </a:rPr>
                        <a:t>計畫補齊文件</a:t>
                      </a:r>
                    </a:p>
                  </a:txBody>
                  <a:tcPr anchor="ctr" marL="36576" marR="36576" marT="18288" marB="18288">
                    <a:solidFill>
                      <a:srgbClr val="F7F7F7"/>
                    </a:solidFill>
                  </a:tcPr>
                </a:tc>
              </a:tr>
              <a:tr h="468632">
                <a:tc>
                  <a:txBody>
                    <a:bodyPr/>
                    <a:lstStyle/>
                    <a:p>
                      <a:pPr algn="l"/>
                      <a:r>
                        <a:rPr sz="1300" b="1">
                          <a:solidFill>
                            <a:srgbClr val="ED7D31"/>
                          </a:solidFill>
                          <a:latin typeface="楷体"/>
                          <a:ea typeface="楷体"/>
                          <a:cs typeface="楷体"/>
                        </a:rPr>
                        <a:t>3</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編制2027年預算</a:t>
                      </a:r>
                    </a:p>
                  </a:txBody>
                  <a:tcPr anchor="ctr" marL="36576" marR="36576" marT="18288" marB="18288">
                    <a:solidFill>
                      <a:srgbClr val="FFFFFF"/>
                    </a:solidFill>
                  </a:tcPr>
                </a:tc>
                <a:tc>
                  <a:txBody>
                    <a:bodyPr/>
                    <a:lstStyle/>
                    <a:p>
                      <a:pPr algn="ctr"/>
                      <a:r>
                        <a:rPr sz="1300" b="1">
                          <a:solidFill>
                            <a:srgbClr val="ED7D31"/>
                          </a:solidFill>
                          <a:latin typeface="楷体"/>
                          <a:ea typeface="楷体"/>
                          <a:cs typeface="楷体"/>
                        </a:rPr>
                        <a:t>計畫出初稿</a:t>
                      </a:r>
                    </a:p>
                  </a:txBody>
                  <a:tcPr anchor="ctr" marL="36576" marR="36576" marT="18288" marB="18288">
                    <a:solidFill>
                      <a:srgbClr val="FFFFFF"/>
                    </a:solidFill>
                  </a:tcPr>
                </a:tc>
              </a:tr>
            </a:tbl>
          </a:graphicData>
        </a:graphic>
      </p:graphicFrame>
      <p:sp>
        <p:nvSpPr>
          <p:cNvPr id="9" name="TextBox 8"/>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333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695" cy="5486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46304"/>
            <a:ext cx="11155680" cy="457200"/>
          </a:xfrm>
          <a:prstGeom prst="rect">
            <a:avLst/>
          </a:prstGeom>
          <a:noFill/>
        </p:spPr>
        <p:txBody>
          <a:bodyPr wrap="square">
            <a:spAutoFit/>
          </a:bodyPr>
          <a:lstStyle/>
          <a:p>
            <a:pPr algn="l"/>
            <a:r>
              <a:rPr sz="2200" b="1">
                <a:solidFill>
                  <a:srgbClr val="FFFFFF"/>
                </a:solidFill>
                <a:latin typeface="楷体"/>
                <a:ea typeface="楷体"/>
                <a:cs typeface="楷体"/>
              </a:rPr>
              <a:t>附錄1：汽車險（香港業務）統計</a:t>
            </a:r>
          </a:p>
        </p:txBody>
      </p:sp>
      <p:sp>
        <p:nvSpPr>
          <p:cNvPr id="5" name="TextBox 4"/>
          <p:cNvSpPr txBox="1"/>
          <p:nvPr/>
        </p:nvSpPr>
        <p:spPr>
          <a:xfrm>
            <a:off x="274320" y="868680"/>
            <a:ext cx="11612880" cy="411480"/>
          </a:xfrm>
          <a:prstGeom prst="rect">
            <a:avLst/>
          </a:prstGeom>
          <a:noFill/>
        </p:spPr>
        <p:txBody>
          <a:bodyPr wrap="square">
            <a:spAutoFit/>
          </a:bodyPr>
          <a:lstStyle/>
          <a:p>
            <a:pPr algn="l"/>
            <a:r>
              <a:rPr sz="1300" b="0">
                <a:solidFill>
                  <a:srgbClr val="888888"/>
                </a:solidFill>
                <a:latin typeface="楷体"/>
                <a:ea typeface="楷体"/>
                <a:cs typeface="楷体"/>
              </a:rPr>
              <a:t>截至9月底，承保虧損688萬港元。私家車全保盈利28.4萬，第三者責任虧損820.6萬。電單車盈利142.2萬。單位：萬港元。</a:t>
            </a:r>
          </a:p>
        </p:txBody>
      </p:sp>
      <p:graphicFrame>
        <p:nvGraphicFramePr>
          <p:cNvPr id="6" name="Table 5"/>
          <p:cNvGraphicFramePr>
            <a:graphicFrameLocks noGrp="1"/>
          </p:cNvGraphicFramePr>
          <p:nvPr/>
        </p:nvGraphicFramePr>
        <p:xfrm>
          <a:off x="320040" y="1417320"/>
          <a:ext cx="11521440" cy="3291840"/>
        </p:xfrm>
        <a:graphic>
          <a:graphicData uri="http://schemas.openxmlformats.org/drawingml/2006/table">
            <a:tbl>
              <a:tblPr firstRow="1" bandRow="1">
                <a:tableStyleId>{5C22544A-7EE6-4342-B048-85BDC9FD1C3A}</a:tableStyleId>
              </a:tblPr>
              <a:tblGrid>
                <a:gridCol w="1645920"/>
                <a:gridCol w="1645920"/>
                <a:gridCol w="1645920"/>
                <a:gridCol w="1645920"/>
                <a:gridCol w="1645920"/>
                <a:gridCol w="1645920"/>
                <a:gridCol w="1645920"/>
              </a:tblGrid>
              <a:tr h="548640">
                <a:tc>
                  <a:txBody>
                    <a:bodyPr/>
                    <a:lstStyle/>
                    <a:p>
                      <a:pPr algn="ctr"/>
                      <a:r>
                        <a:rPr sz="1400" b="1">
                          <a:solidFill>
                            <a:srgbClr val="FFFFFF"/>
                          </a:solidFill>
                          <a:latin typeface="楷体"/>
                          <a:ea typeface="楷体"/>
                          <a:cs typeface="楷体"/>
                        </a:rPr>
                        <a:t>車種</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保障</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毛保費</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滿期保費</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淨佣金</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淨賠付</a:t>
                      </a:r>
                    </a:p>
                  </a:txBody>
                  <a:tcPr anchor="ctr" marL="36576" marR="36576" marT="18288" marB="18288">
                    <a:solidFill>
                      <a:srgbClr val="333F50"/>
                    </a:solidFill>
                  </a:tcPr>
                </a:tc>
                <a:tc>
                  <a:txBody>
                    <a:bodyPr/>
                    <a:lstStyle/>
                    <a:p>
                      <a:pPr algn="ctr"/>
                      <a:r>
                        <a:rPr sz="1400" b="1">
                          <a:solidFill>
                            <a:srgbClr val="FFFFFF"/>
                          </a:solidFill>
                          <a:latin typeface="楷体"/>
                          <a:ea typeface="楷体"/>
                          <a:cs typeface="楷体"/>
                        </a:rPr>
                        <a:t>承保收入</a:t>
                      </a:r>
                    </a:p>
                  </a:txBody>
                  <a:tcPr anchor="ctr" marL="36576" marR="36576" marT="18288" marB="18288">
                    <a:solidFill>
                      <a:srgbClr val="333F50"/>
                    </a:solidFill>
                  </a:tcPr>
                </a:tc>
              </a:tr>
              <a:tr h="548640">
                <a:tc>
                  <a:txBody>
                    <a:bodyPr/>
                    <a:lstStyle/>
                    <a:p>
                      <a:pPr algn="l"/>
                      <a:r>
                        <a:rPr sz="1400" b="1">
                          <a:solidFill>
                            <a:srgbClr val="333F50"/>
                          </a:solidFill>
                          <a:latin typeface="楷体"/>
                          <a:ea typeface="楷体"/>
                          <a:cs typeface="楷体"/>
                        </a:rPr>
                        <a:t>私家車</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全保</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78.6</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98.4</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26.2</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48.8</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28.4</a:t>
                      </a:r>
                    </a:p>
                  </a:txBody>
                  <a:tcPr anchor="ctr" marL="36576" marR="36576" marT="18288" marB="18288">
                    <a:solidFill>
                      <a:srgbClr val="FFFFFF"/>
                    </a:solidFill>
                  </a:tcPr>
                </a:tc>
              </a:tr>
              <a:tr h="548640">
                <a:tc>
                  <a:txBody>
                    <a:bodyPr/>
                    <a:lstStyle/>
                    <a:p>
                      <a:pPr algn="l"/>
                      <a:r>
                        <a:rPr sz="1400" b="1">
                          <a:solidFill>
                            <a:srgbClr val="333F50"/>
                          </a:solidFill>
                          <a:latin typeface="楷体"/>
                          <a:ea typeface="楷体"/>
                          <a:cs typeface="楷体"/>
                        </a:rPr>
                        <a:t>私家車</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第三者</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660.4</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820.5</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240.6</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1,410.2</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-820.6</a:t>
                      </a:r>
                    </a:p>
                  </a:txBody>
                  <a:tcPr anchor="ctr" marL="36576" marR="36576" marT="18288" marB="18288">
                    <a:solidFill>
                      <a:srgbClr val="F7F7F7"/>
                    </a:solidFill>
                  </a:tcPr>
                </a:tc>
              </a:tr>
              <a:tr h="548640">
                <a:tc>
                  <a:txBody>
                    <a:bodyPr/>
                    <a:lstStyle/>
                    <a:p>
                      <a:pPr algn="l"/>
                      <a:r>
                        <a:rPr sz="1400" b="1">
                          <a:solidFill>
                            <a:srgbClr val="333F50"/>
                          </a:solidFill>
                          <a:latin typeface="楷体"/>
                          <a:ea typeface="楷体"/>
                          <a:cs typeface="楷体"/>
                        </a:rPr>
                        <a:t>電單車</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第三者</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520.8</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505.2</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152.4</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230.6</a:t>
                      </a:r>
                    </a:p>
                  </a:txBody>
                  <a:tcPr anchor="ctr" marL="36576" marR="36576" marT="18288" marB="18288">
                    <a:solidFill>
                      <a:srgbClr val="FFFFFF"/>
                    </a:solidFill>
                  </a:tcPr>
                </a:tc>
                <a:tc>
                  <a:txBody>
                    <a:bodyPr/>
                    <a:lstStyle/>
                    <a:p>
                      <a:pPr algn="ctr"/>
                      <a:r>
                        <a:rPr sz="1400" b="0">
                          <a:solidFill>
                            <a:srgbClr val="333F50"/>
                          </a:solidFill>
                          <a:latin typeface="楷体"/>
                          <a:ea typeface="楷体"/>
                          <a:cs typeface="楷体"/>
                        </a:rPr>
                        <a:t>142.2</a:t>
                      </a:r>
                    </a:p>
                  </a:txBody>
                  <a:tcPr anchor="ctr" marL="36576" marR="36576" marT="18288" marB="18288">
                    <a:solidFill>
                      <a:srgbClr val="FFFFFF"/>
                    </a:solidFill>
                  </a:tcPr>
                </a:tc>
              </a:tr>
              <a:tr h="548640">
                <a:tc>
                  <a:txBody>
                    <a:bodyPr/>
                    <a:lstStyle/>
                    <a:p>
                      <a:pPr algn="l"/>
                      <a:r>
                        <a:rPr sz="1400" b="1">
                          <a:solidFill>
                            <a:srgbClr val="333F50"/>
                          </a:solidFill>
                          <a:latin typeface="楷体"/>
                          <a:ea typeface="楷体"/>
                          <a:cs typeface="楷体"/>
                        </a:rPr>
                        <a:t>其他</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第三者</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6.8</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7.2</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1.5</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3.8</a:t>
                      </a:r>
                    </a:p>
                  </a:txBody>
                  <a:tcPr anchor="ctr" marL="36576" marR="36576" marT="18288" marB="18288">
                    <a:solidFill>
                      <a:srgbClr val="F7F7F7"/>
                    </a:solidFill>
                  </a:tcPr>
                </a:tc>
                <a:tc>
                  <a:txBody>
                    <a:bodyPr/>
                    <a:lstStyle/>
                    <a:p>
                      <a:pPr algn="ctr"/>
                      <a:r>
                        <a:rPr sz="1400" b="0">
                          <a:solidFill>
                            <a:srgbClr val="333F50"/>
                          </a:solidFill>
                          <a:latin typeface="楷体"/>
                          <a:ea typeface="楷体"/>
                          <a:cs typeface="楷体"/>
                        </a:rPr>
                        <a:t>1.6</a:t>
                      </a:r>
                    </a:p>
                  </a:txBody>
                  <a:tcPr anchor="ctr" marL="36576" marR="36576" marT="18288" marB="18288">
                    <a:solidFill>
                      <a:srgbClr val="F7F7F7"/>
                    </a:solidFill>
                  </a:tcPr>
                </a:tc>
              </a:tr>
              <a:tr h="548640">
                <a:tc>
                  <a:txBody>
                    <a:bodyPr/>
                    <a:lstStyle/>
                    <a:p>
                      <a:pPr algn="l"/>
                      <a:r>
                        <a:rPr sz="1400" b="1">
                          <a:solidFill>
                            <a:srgbClr val="ED7D31"/>
                          </a:solidFill>
                          <a:latin typeface="楷体"/>
                          <a:ea typeface="楷体"/>
                          <a:cs typeface="楷体"/>
                        </a:rPr>
                        <a:t>合計</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1,266.6</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1,431.3</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420.7</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1,693.4</a:t>
                      </a:r>
                    </a:p>
                  </a:txBody>
                  <a:tcPr anchor="ctr" marL="36576" marR="36576" marT="18288" marB="18288">
                    <a:solidFill>
                      <a:srgbClr val="FFFFFF"/>
                    </a:solidFill>
                  </a:tcPr>
                </a:tc>
                <a:tc>
                  <a:txBody>
                    <a:bodyPr/>
                    <a:lstStyle/>
                    <a:p>
                      <a:pPr algn="ctr"/>
                      <a:r>
                        <a:rPr sz="1400" b="1">
                          <a:solidFill>
                            <a:srgbClr val="ED7D31"/>
                          </a:solidFill>
                          <a:latin typeface="楷体"/>
                          <a:ea typeface="楷体"/>
                          <a:cs typeface="楷体"/>
                        </a:rPr>
                        <a:t>-688.0</a:t>
                      </a:r>
                    </a:p>
                  </a:txBody>
                  <a:tcPr anchor="ctr" marL="36576" marR="36576" marT="18288" marB="18288">
                    <a:solidFill>
                      <a:srgbClr val="FFFFFF"/>
                    </a:solidFill>
                  </a:tcPr>
                </a:tc>
              </a:tr>
            </a:tbl>
          </a:graphicData>
        </a:graphic>
      </p:graphicFrame>
      <p:sp>
        <p:nvSpPr>
          <p:cNvPr id="7" name="TextBox 6"/>
          <p:cNvSpPr txBox="1"/>
          <p:nvPr/>
        </p:nvSpPr>
        <p:spPr>
          <a:xfrm>
            <a:off x="11247120" y="6446520"/>
            <a:ext cx="731520" cy="256032"/>
          </a:xfrm>
          <a:prstGeom prst="rect">
            <a:avLst/>
          </a:prstGeom>
          <a:noFill/>
        </p:spPr>
        <p:txBody>
          <a:bodyPr wrap="square">
            <a:spAutoFit/>
          </a:bodyPr>
          <a:lstStyle/>
          <a:p>
            <a:pPr algn="r"/>
            <a:r>
              <a:rPr sz="1200" b="1">
                <a:solidFill>
                  <a:srgbClr val="888888"/>
                </a:solidFill>
                <a:latin typeface="楷体"/>
                <a:ea typeface="楷体"/>
                <a:cs typeface="楷体"/>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DC5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51760"/>
            <a:ext cx="10058400" cy="822960"/>
          </a:xfrm>
          <a:prstGeom prst="rect">
            <a:avLst/>
          </a:prstGeom>
          <a:noFill/>
        </p:spPr>
        <p:txBody>
          <a:bodyPr wrap="square">
            <a:spAutoFit/>
          </a:bodyPr>
          <a:lstStyle/>
          <a:p>
            <a:pPr algn="l"/>
            <a:r>
              <a:rPr sz="4000" b="1">
                <a:solidFill>
                  <a:srgbClr val="DC572A"/>
                </a:solidFill>
                <a:latin typeface="微软雅黑"/>
                <a:ea typeface="微软雅黑"/>
                <a:cs typeface="微软雅黑"/>
              </a:rPr>
              <a:t>彙報完畢，謝謝</a:t>
            </a:r>
          </a:p>
        </p:txBody>
      </p:sp>
      <p:sp>
        <p:nvSpPr>
          <p:cNvPr id="5" name="TextBox 4"/>
          <p:cNvSpPr txBox="1"/>
          <p:nvPr/>
        </p:nvSpPr>
        <p:spPr>
          <a:xfrm>
            <a:off x="822960" y="3749039"/>
            <a:ext cx="7315200" cy="365760"/>
          </a:xfrm>
          <a:prstGeom prst="rect">
            <a:avLst/>
          </a:prstGeom>
          <a:noFill/>
        </p:spPr>
        <p:txBody>
          <a:bodyPr wrap="square">
            <a:spAutoFit/>
          </a:bodyPr>
          <a:lstStyle/>
          <a:p>
            <a:pPr algn="l"/>
            <a:r>
              <a:rPr sz="1800" b="0">
                <a:solidFill>
                  <a:srgbClr val="333F50"/>
                </a:solidFill>
                <a:latin typeface="楷体"/>
                <a:ea typeface="楷体"/>
                <a:cs typeface="楷体"/>
              </a:rPr>
              <a:t>2026年9月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