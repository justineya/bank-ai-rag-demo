
<file path=[Content_Types].xml><?xml version="1.0" encoding="utf-8"?>
<Types xmlns="http://schemas.openxmlformats.org/package/2006/content-types">
  <Default Extension="jpeg" ContentType="image/jpeg"/>
  <Default Extension="png" ContentType="image/png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embeddedFontLst>
    <p:embeddedFont>
      <p:font typeface="Source Han Sans"/>
      <p:regular r:id="rId25"/>
    </p:embeddedFont>
    <p:embeddedFont>
      <p:font typeface="Source Han Sans CN Bold"/>
      <p:regular r:id="rId26"/>
    </p:embeddedFont>
    <p:embeddedFont>
      <p:font typeface="OPPOSans R"/>
      <p:regular r:id="rId27"/>
    </p:embeddedFont>
    <p:embeddedFont>
      <p:font typeface="OPPOSans H"/>
      <p:regular r:id="rId28"/>
    </p:embeddedFont>
    <p:embeddedFont>
      <p:font typeface="OPPOSans B"/>
      <p:regular r:id="rId29"/>
    </p:embeddedFont>
  </p:embeddedFon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Relationship Id="rId23" Type="http://schemas.openxmlformats.org/officeDocument/2006/relationships/slide" Target="slides/slide21.xml"/>
<Relationship Id="rId24" Type="http://schemas.openxmlformats.org/officeDocument/2006/relationships/slide" Target="slides/slide22.xml"/>
<Relationship Id="rId25" Type="http://schemas.openxmlformats.org/officeDocument/2006/relationships/font" Target="fonts/font5.fntdata"/>
<Relationship Id="rId26" Type="http://schemas.openxmlformats.org/officeDocument/2006/relationships/font" Target="fonts/font2.fntdata"/>
<Relationship Id="rId27" Type="http://schemas.openxmlformats.org/officeDocument/2006/relationships/font" Target="fonts/font4.fntdata"/>
<Relationship Id="rId28" Type="http://schemas.openxmlformats.org/officeDocument/2006/relationships/font" Target="fonts/font1.fntdata"/>
<Relationship Id="rId29" Type="http://schemas.openxmlformats.org/officeDocument/2006/relationships/font" Target="fonts/font3.fntdata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jpeg"/>
<Relationship Id="rId3" Type="http://schemas.openxmlformats.org/officeDocument/2006/relationships/image" Target="../media/image4.jpeg"/>
<Relationship Id="rId4" Type="http://schemas.openxmlformats.org/officeDocument/2006/relationships/image" Target="../media/image3.jpeg"/>
<Relationship Id="rId5" Type="http://schemas.openxmlformats.org/officeDocument/2006/relationships/image" Target="../media/image1.jpeg"/>
<Relationship Id="rId6" Type="http://schemas.openxmlformats.org/officeDocument/2006/relationships/image" Target="../media/image7.jpe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jpeg"/>
<Relationship Id="rId3" Type="http://schemas.openxmlformats.org/officeDocument/2006/relationships/image" Target="../media/image10.jpe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8.png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1" flipV="0">
            <a:off x="7005412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65439" y="3676650"/>
            <a:ext cx="7409020" cy="23347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9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84847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71465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5524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155359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24665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13977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1485832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566201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12204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58229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01600" y="4938102"/>
            <a:ext cx="155029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主讲人：AiPPT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122029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068054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247100" y="4938102"/>
            <a:ext cx="1678946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时间：20XX.X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10800000" flipH="0" flipV="1">
            <a:off x="10409152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 flipH="0" flipV="0">
            <a:off x="3356362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65439" y="1401955"/>
            <a:ext cx="5984400" cy="20928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闽信保险有限公司PPT模板设计大纲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0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16667" t="0" r="16667" b="0"/>
          <a:stretch>
            <a:fillRect/>
          </a:stretch>
        </p:blipFill>
        <p:spPr>
          <a:xfrm rot="0" flipH="0" flipV="0">
            <a:off x="700541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" name="标题 1"/>
          <p:cNvSpPr txBox="1"/>
          <p:nvPr/>
        </p:nvSpPr>
        <p:spPr>
          <a:xfrm rot="0" flipH="0" flipV="0">
            <a:off x="710247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6496130" y="1001601"/>
            <a:ext cx="902452" cy="531418"/>
          </a:xfrm>
          <a:prstGeom prst="wedgeRoundRectCallout">
            <a:avLst>
              <a:gd name="adj1" fmla="val 31880"/>
              <a:gd name="adj2" fmla="val 65793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649839" y="1118108"/>
            <a:ext cx="595034" cy="298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202X</a:t>
            </a:r>
            <a:endParaRPr kumimoji="1" lang="zh-CN" alt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-1119718" y="-2097544"/>
            <a:ext cx="7491530" cy="11206744"/>
          </a:xfrm>
          <a:prstGeom prst="ellipse">
            <a:avLst/>
          </a:prstGeom>
          <a:noFill/>
          <a:ln w="6350" cap="sq">
            <a:gradFill>
              <a:gsLst>
                <a:gs pos="0">
                  <a:schemeClr val="accent1"/>
                </a:gs>
                <a:gs pos="49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-10152185" y="-3376400"/>
            <a:ext cx="17695349" cy="13529996"/>
          </a:xfrm>
          <a:prstGeom prst="ellipse">
            <a:avLst/>
          </a:prstGeom>
          <a:noFill/>
          <a:ln w="6350" cap="sq">
            <a:gradFill>
              <a:gsLst>
                <a:gs pos="0">
                  <a:schemeClr val="accent1"/>
                </a:gs>
                <a:gs pos="49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-1" y="-25400"/>
            <a:ext cx="5108121" cy="6858000"/>
          </a:xfrm>
          <a:custGeom>
            <a:avLst/>
            <a:gdLst>
              <a:gd name="connsiteX0" fmla="*/ 0 w 5108121"/>
              <a:gd name="connsiteY0" fmla="*/ 0 h 6858000"/>
              <a:gd name="connsiteX1" fmla="*/ 4041422 w 5108121"/>
              <a:gd name="connsiteY1" fmla="*/ 0 h 6858000"/>
              <a:gd name="connsiteX2" fmla="*/ 4157048 w 5108121"/>
              <a:gd name="connsiteY2" fmla="*/ 177000 h 6858000"/>
              <a:gd name="connsiteX3" fmla="*/ 5108121 w 5108121"/>
              <a:gd name="connsiteY3" fmla="*/ 3622703 h 6858000"/>
              <a:gd name="connsiteX4" fmla="*/ 4290520 w 5108121"/>
              <a:gd name="connsiteY4" fmla="*/ 6842617 h 6858000"/>
              <a:gd name="connsiteX5" fmla="*/ 4281426 w 5108121"/>
              <a:gd name="connsiteY5" fmla="*/ 6858000 h 6858000"/>
              <a:gd name="connsiteX6" fmla="*/ 0 w 5108121"/>
              <a:gd name="connsiteY6" fmla="*/ 6858000 h 6858000"/>
            </a:gdLst>
            <a:rect l="l" t="t" r="r" b="b"/>
            <a:pathLst>
              <a:path w="5108121" h="6858000">
                <a:moveTo>
                  <a:pt x="0" y="0"/>
                </a:moveTo>
                <a:lnTo>
                  <a:pt x="4041422" y="0"/>
                </a:lnTo>
                <a:lnTo>
                  <a:pt x="4157048" y="177000"/>
                </a:lnTo>
                <a:cubicBezTo>
                  <a:pt x="4754383" y="1137847"/>
                  <a:pt x="5108121" y="2330580"/>
                  <a:pt x="5108121" y="3622703"/>
                </a:cubicBezTo>
                <a:cubicBezTo>
                  <a:pt x="5108121" y="4815432"/>
                  <a:pt x="4806711" y="5923474"/>
                  <a:pt x="4290520" y="6842617"/>
                </a:cubicBezTo>
                <a:lnTo>
                  <a:pt x="42814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4020798" y="-25610"/>
            <a:ext cx="1563120" cy="6858000"/>
          </a:xfrm>
          <a:custGeom>
            <a:avLst/>
            <a:gdLst>
              <a:gd name="connsiteX0" fmla="*/ 0 w 1563120"/>
              <a:gd name="connsiteY0" fmla="*/ 0 h 6858000"/>
              <a:gd name="connsiteX1" fmla="*/ 602472 w 1563120"/>
              <a:gd name="connsiteY1" fmla="*/ 0 h 6858000"/>
              <a:gd name="connsiteX2" fmla="*/ 701442 w 1563120"/>
              <a:gd name="connsiteY2" fmla="*/ 143397 h 6858000"/>
              <a:gd name="connsiteX3" fmla="*/ 1563120 w 1563120"/>
              <a:gd name="connsiteY3" fmla="*/ 3234063 h 6858000"/>
              <a:gd name="connsiteX4" fmla="*/ 324453 w 1563120"/>
              <a:gd name="connsiteY4" fmla="*/ 6846737 h 6858000"/>
              <a:gd name="connsiteX5" fmla="*/ 314662 w 1563120"/>
              <a:gd name="connsiteY5" fmla="*/ 6858000 h 6858000"/>
              <a:gd name="connsiteX6" fmla="*/ 237307 w 1563120"/>
              <a:gd name="connsiteY6" fmla="*/ 6858000 h 6858000"/>
              <a:gd name="connsiteX7" fmla="*/ 329210 w 1563120"/>
              <a:gd name="connsiteY7" fmla="*/ 6697479 h 6858000"/>
              <a:gd name="connsiteX8" fmla="*/ 1067917 w 1563120"/>
              <a:gd name="connsiteY8" fmla="*/ 3622703 h 6858000"/>
              <a:gd name="connsiteX9" fmla="*/ 184679 w 1563120"/>
              <a:gd name="connsiteY9" fmla="*/ 288888 h 6858000"/>
            </a:gdLst>
            <a:rect l="l" t="t" r="r" b="b"/>
            <a:pathLst>
              <a:path w="1563120" h="6858000">
                <a:moveTo>
                  <a:pt x="0" y="0"/>
                </a:moveTo>
                <a:lnTo>
                  <a:pt x="602472" y="0"/>
                </a:lnTo>
                <a:lnTo>
                  <a:pt x="701442" y="143397"/>
                </a:lnTo>
                <a:cubicBezTo>
                  <a:pt x="1242274" y="1002583"/>
                  <a:pt x="1563120" y="2073250"/>
                  <a:pt x="1563120" y="3234063"/>
                </a:cubicBezTo>
                <a:cubicBezTo>
                  <a:pt x="1563120" y="4643623"/>
                  <a:pt x="1090036" y="5920261"/>
                  <a:pt x="324453" y="6846737"/>
                </a:cubicBezTo>
                <a:lnTo>
                  <a:pt x="314662" y="6858000"/>
                </a:lnTo>
                <a:lnTo>
                  <a:pt x="237307" y="6858000"/>
                </a:lnTo>
                <a:lnTo>
                  <a:pt x="329210" y="6697479"/>
                </a:lnTo>
                <a:cubicBezTo>
                  <a:pt x="797086" y="5807824"/>
                  <a:pt x="1067917" y="4753311"/>
                  <a:pt x="1067917" y="3622703"/>
                </a:cubicBezTo>
                <a:cubicBezTo>
                  <a:pt x="1067917" y="2380278"/>
                  <a:pt x="740865" y="1229743"/>
                  <a:pt x="184679" y="288888"/>
                </a:cubicBezTo>
                <a:close/>
              </a:path>
            </a:pathLst>
          </a:custGeom>
          <a:solidFill>
            <a:schemeClr val="accent2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-505386" y="-40125"/>
            <a:ext cx="1402080" cy="7099300"/>
          </a:xfrm>
          <a:prstGeom prst="rect">
            <a:avLst/>
          </a:prstGeom>
          <a:noFill/>
          <a:ln cap="sq">
            <a:noFill/>
          </a:ln>
        </p:spPr>
        <p:txBody>
          <a:bodyPr vert="eaVert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9600">
                <a:ln w="12700">
                  <a:noFill/>
                </a:ln>
                <a:solidFill>
                  <a:srgbClr val="FFFFFF">
                    <a:alpha val="50000"/>
                  </a:srgbClr>
                </a:solidFill>
                <a:latin typeface="OPPOSans R"/>
                <a:ea typeface="OPPOSans R"/>
                <a:cs typeface="OPPOSans R"/>
              </a:rPr>
              <a:t>CONTENT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585792" y="2199413"/>
            <a:ext cx="1498265" cy="2442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90000"/>
              </a:lnSpc>
            </a:pPr>
            <a:r>
              <a:rPr kumimoji="1" lang="en-US" altLang="zh-CN" sz="8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目录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7971905" y="4334095"/>
            <a:ext cx="3408972" cy="6290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内容页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500328" y="584200"/>
            <a:ext cx="3408972" cy="6290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封面页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971905" y="1834165"/>
            <a:ext cx="3408972" cy="6290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目录页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147737" y="3084130"/>
            <a:ext cx="3408972" cy="6290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章节过渡页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500328" y="5584059"/>
            <a:ext cx="3408972" cy="6290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结束页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548366" y="577990"/>
            <a:ext cx="749170" cy="749170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accent1">
                <a:lumMod val="20000"/>
                <a:lumOff val="8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660698" y="737132"/>
            <a:ext cx="524507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01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019943" y="1827955"/>
            <a:ext cx="749170" cy="749170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accent1">
                <a:lumMod val="20000"/>
                <a:lumOff val="8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7132275" y="1987097"/>
            <a:ext cx="524507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02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7195775" y="3077920"/>
            <a:ext cx="749170" cy="749170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accent1">
                <a:lumMod val="20000"/>
                <a:lumOff val="8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7308107" y="3237062"/>
            <a:ext cx="524507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7019943" y="4327885"/>
            <a:ext cx="749170" cy="749170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accent1">
                <a:lumMod val="20000"/>
                <a:lumOff val="8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7132275" y="4487027"/>
            <a:ext cx="524507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04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6548366" y="5577849"/>
            <a:ext cx="749170" cy="749170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accent1">
                <a:lumMod val="20000"/>
                <a:lumOff val="8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6660698" y="5736991"/>
            <a:ext cx="524507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05</a:t>
            </a:r>
            <a:endParaRPr kumimoji="1" lang="zh-CN" alt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封面页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01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20XX</a:t>
            </a:r>
            <a:endParaRPr kumimoji="1" lang="zh-CN" alt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970211" y="1738582"/>
            <a:ext cx="4745803" cy="23835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762000" y="1586702"/>
            <a:ext cx="4745803" cy="2383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706741" y="1698007"/>
            <a:ext cx="856325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092235" y="2495974"/>
            <a:ext cx="4085334" cy="122621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稳健保障 · 创新未来（可替换为产品/业务主题）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6635594" y="1727249"/>
            <a:ext cx="4745803" cy="23835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427383" y="1575369"/>
            <a:ext cx="4745803" cy="2383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324834" y="1686673"/>
            <a:ext cx="950902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757618" y="2495974"/>
            <a:ext cx="4085334" cy="1225126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元素：公司Logo、简洁几何线条/色块、行业相关图标（如盾牌、建筑、数据图表）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74701" y="4602866"/>
            <a:ext cx="10604499" cy="139096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闽信保险有限公司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 rot="0" flipH="0" flipV="0">
            <a:off x="5994400" y="4440820"/>
            <a:ext cx="406400" cy="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/>
            <a:headEnd type="oval"/>
            <a:tailEnd type="oval"/>
          </a:ln>
        </p:spPr>
      </p:cxnSp>
      <p:sp>
        <p:nvSpPr>
          <p:cNvPr id="13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主标题</a:t>
            </a:r>
            <a:endParaRPr kumimoji="1" lang="zh-CN" alt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目录页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20XX</a:t>
            </a:r>
            <a:endParaRPr kumimoji="1" lang="zh-CN" alt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836836" y="1337268"/>
            <a:ext cx="736654" cy="7137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91876" y="1694135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808733" y="254521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介绍公司成立背景、发展历程、核心业务
展示公司文化、价值观、团队建设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08734" y="2025915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企业概况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596789" y="1337268"/>
            <a:ext cx="736654" cy="71373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4451830" y="1694135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568687" y="254521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阐述业务覆盖范围、市场定位
分析业务模式、运营流程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568687" y="2025914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业务布局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356743" y="1337268"/>
            <a:ext cx="736654" cy="7137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211782" y="1694135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328640" y="254521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介绍产品种类、特色
分析产品竞争力、市场反馈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328640" y="2025915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产品优势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36836" y="3790679"/>
            <a:ext cx="736654" cy="7137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91876" y="4147546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08733" y="499862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展示业务数据、财务数据
分析数据趋势、行业对比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08734" y="4479325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数据成果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4596789" y="3790679"/>
            <a:ext cx="736654" cy="71373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4451830" y="4147546"/>
            <a:ext cx="3307117" cy="1986554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4568687" y="4998625"/>
            <a:ext cx="2998762" cy="108984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阐述短期目标、长期愿景
分析战略规划、实施路径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568687" y="4479324"/>
            <a:ext cx="2998761" cy="5052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未来规划</a:t>
            </a:r>
            <a:endParaRPr kumimoji="1" lang="zh-CN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28455" t="15740" r="26629" b="6607"/>
          <a:stretch>
            <a:fillRect/>
          </a:stretch>
        </p:blipFill>
        <p:spPr>
          <a:xfrm rot="0" flipH="0" flipV="0">
            <a:off x="660400" y="1382900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6" y="0"/>
                  <a:pt x="781526" y="169508"/>
                  <a:pt x="781526" y="378607"/>
                </a:cubicBezTo>
                <a:cubicBezTo>
                  <a:pt x="781526" y="587706"/>
                  <a:pt x="606576" y="757214"/>
                  <a:pt x="390763" y="757214"/>
                </a:cubicBezTo>
                <a:cubicBezTo>
                  <a:pt x="174950" y="757214"/>
                  <a:pt x="0" y="587706"/>
                  <a:pt x="0" y="378607"/>
                </a:cubicBezTo>
                <a:cubicBezTo>
                  <a:pt x="0" y="169508"/>
                  <a:pt x="174950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4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30777" t="7619" r="20323" b="7842"/>
          <a:stretch>
            <a:fillRect/>
          </a:stretch>
        </p:blipFill>
        <p:spPr>
          <a:xfrm rot="0" flipH="0" flipV="0">
            <a:off x="4420353" y="1382899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5" y="0"/>
                  <a:pt x="781526" y="169508"/>
                  <a:pt x="781526" y="378607"/>
                </a:cubicBezTo>
                <a:cubicBezTo>
                  <a:pt x="781526" y="587706"/>
                  <a:pt x="606575" y="757214"/>
                  <a:pt x="390763" y="757214"/>
                </a:cubicBezTo>
                <a:cubicBezTo>
                  <a:pt x="174951" y="757214"/>
                  <a:pt x="0" y="587706"/>
                  <a:pt x="0" y="378607"/>
                </a:cubicBezTo>
                <a:cubicBezTo>
                  <a:pt x="0" y="169508"/>
                  <a:pt x="174951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5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23812" t="8076" r="28812" b="10021"/>
          <a:stretch>
            <a:fillRect/>
          </a:stretch>
        </p:blipFill>
        <p:spPr>
          <a:xfrm rot="0" flipH="0" flipV="0">
            <a:off x="8180307" y="1382900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5" y="0"/>
                  <a:pt x="781526" y="169508"/>
                  <a:pt x="781526" y="378607"/>
                </a:cubicBezTo>
                <a:cubicBezTo>
                  <a:pt x="781526" y="587706"/>
                  <a:pt x="606575" y="757214"/>
                  <a:pt x="390763" y="757214"/>
                </a:cubicBezTo>
                <a:cubicBezTo>
                  <a:pt x="174951" y="757214"/>
                  <a:pt x="0" y="587706"/>
                  <a:pt x="0" y="378607"/>
                </a:cubicBezTo>
                <a:cubicBezTo>
                  <a:pt x="0" y="169508"/>
                  <a:pt x="174951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6" name=""/>
          <p:cNvPicPr>
            <a:picLocks noChangeAspect="1"/>
          </p:cNvPicPr>
          <p:nvPr/>
        </p:nvPicPr>
        <p:blipFill>
          <a:blip r:embed="rId5">
            <a:alphaModFix amt="100000"/>
          </a:blip>
          <a:srcRect l="21078" t="0" r="21078" b="0"/>
          <a:stretch>
            <a:fillRect/>
          </a:stretch>
        </p:blipFill>
        <p:spPr>
          <a:xfrm rot="0" flipH="0" flipV="0">
            <a:off x="660400" y="3839853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6" y="0"/>
                  <a:pt x="781526" y="169508"/>
                  <a:pt x="781526" y="378607"/>
                </a:cubicBezTo>
                <a:cubicBezTo>
                  <a:pt x="781526" y="587706"/>
                  <a:pt x="606576" y="757214"/>
                  <a:pt x="390763" y="757214"/>
                </a:cubicBezTo>
                <a:cubicBezTo>
                  <a:pt x="174950" y="757214"/>
                  <a:pt x="0" y="587706"/>
                  <a:pt x="0" y="378607"/>
                </a:cubicBezTo>
                <a:cubicBezTo>
                  <a:pt x="0" y="169508"/>
                  <a:pt x="174950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7" name=""/>
          <p:cNvPicPr>
            <a:picLocks noChangeAspect="1"/>
          </p:cNvPicPr>
          <p:nvPr/>
        </p:nvPicPr>
        <p:blipFill>
          <a:blip r:embed="rId6">
            <a:alphaModFix amt="100000"/>
          </a:blip>
          <a:srcRect l="21078" t="0" r="21078" b="0"/>
          <a:stretch>
            <a:fillRect/>
          </a:stretch>
        </p:blipFill>
        <p:spPr>
          <a:xfrm rot="0" flipH="0" flipV="0">
            <a:off x="4420353" y="3839852"/>
            <a:ext cx="781526" cy="757214"/>
          </a:xfrm>
          <a:custGeom>
            <a:avLst/>
            <a:gdLst/>
            <a:rect l="l" t="t" r="r" b="b"/>
            <a:pathLst>
              <a:path w="781526" h="757214">
                <a:moveTo>
                  <a:pt x="390763" y="0"/>
                </a:moveTo>
                <a:cubicBezTo>
                  <a:pt x="606575" y="0"/>
                  <a:pt x="781526" y="169508"/>
                  <a:pt x="781526" y="378607"/>
                </a:cubicBezTo>
                <a:cubicBezTo>
                  <a:pt x="781526" y="587706"/>
                  <a:pt x="606575" y="757214"/>
                  <a:pt x="390763" y="757214"/>
                </a:cubicBezTo>
                <a:cubicBezTo>
                  <a:pt x="174951" y="757214"/>
                  <a:pt x="0" y="587706"/>
                  <a:pt x="0" y="378607"/>
                </a:cubicBezTo>
                <a:cubicBezTo>
                  <a:pt x="0" y="169508"/>
                  <a:pt x="174951" y="0"/>
                  <a:pt x="3907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8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章节导航</a:t>
            </a:r>
            <a:endParaRPr kumimoji="1" lang="zh-CN" alt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章节过渡页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03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20XX</a:t>
            </a:r>
            <a:endParaRPr kumimoji="1" lang="zh-CN" alt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2194560" y="3031061"/>
            <a:ext cx="9997440" cy="236407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7180" t="7180" r="7180" b="7180"/>
          <a:stretch>
            <a:fillRect/>
          </a:stretch>
        </p:blipFill>
        <p:spPr>
          <a:xfrm rot="0" flipH="0" flipV="0">
            <a:off x="260021" y="1134225"/>
            <a:ext cx="3284361" cy="49277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rot="0" flipH="0" flipV="0">
            <a:off x="3769474" y="1768812"/>
            <a:ext cx="7486453" cy="7746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企业概况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444177" y="3739487"/>
            <a:ext cx="2004759" cy="1335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成立时间/注册资本/资质荣誉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3748063" y="3739487"/>
            <a:ext cx="2004759" cy="1335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公司定位：香港专业财产险服务商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3768551" y="3426163"/>
            <a:ext cx="295913" cy="45719"/>
          </a:xfrm>
          <a:prstGeom prst="rect">
            <a:avLst/>
          </a:pr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444179" y="3426163"/>
            <a:ext cx="295913" cy="45719"/>
          </a:xfrm>
          <a:prstGeom prst="rect">
            <a:avLst/>
          </a:pr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12375" t="34060" r="71313" b="15464"/>
          <a:stretch>
            <a:fillRect/>
          </a:stretch>
        </p:blipFill>
        <p:spPr>
          <a:xfrm rot="0" flipH="0" flipV="0">
            <a:off x="789081" y="1281198"/>
            <a:ext cx="2221614" cy="4582256"/>
          </a:xfrm>
          <a:custGeom>
            <a:avLst/>
            <a:gdLst/>
            <a:rect l="l" t="t" r="r" b="b"/>
            <a:pathLst>
              <a:path w="2221614" h="4582256">
                <a:moveTo>
                  <a:pt x="370277" y="0"/>
                </a:moveTo>
                <a:lnTo>
                  <a:pt x="1851337" y="0"/>
                </a:lnTo>
                <a:cubicBezTo>
                  <a:pt x="2055836" y="0"/>
                  <a:pt x="2221614" y="165778"/>
                  <a:pt x="2221614" y="370277"/>
                </a:cubicBezTo>
                <a:lnTo>
                  <a:pt x="2221614" y="4211979"/>
                </a:lnTo>
                <a:cubicBezTo>
                  <a:pt x="2221614" y="4416478"/>
                  <a:pt x="2055836" y="4582256"/>
                  <a:pt x="1851337" y="4582256"/>
                </a:cubicBezTo>
                <a:lnTo>
                  <a:pt x="370277" y="4582256"/>
                </a:lnTo>
                <a:cubicBezTo>
                  <a:pt x="165778" y="4582256"/>
                  <a:pt x="0" y="4416478"/>
                  <a:pt x="0" y="4211979"/>
                </a:cubicBezTo>
                <a:lnTo>
                  <a:pt x="0" y="370277"/>
                </a:lnTo>
                <a:cubicBezTo>
                  <a:pt x="0" y="165778"/>
                  <a:pt x="165778" y="0"/>
                  <a:pt x="370277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" name="标题 1"/>
          <p:cNvSpPr txBox="1"/>
          <p:nvPr/>
        </p:nvSpPr>
        <p:spPr>
          <a:xfrm rot="0" flipH="0" flipV="0">
            <a:off x="9140290" y="3739487"/>
            <a:ext cx="2004759" cy="13354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业务覆盖领域（如企业财产险、责任险、工程险等）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9140292" y="3426163"/>
            <a:ext cx="295913" cy="45719"/>
          </a:xfrm>
          <a:prstGeom prst="rect">
            <a:avLst/>
          </a:pr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章节标题</a:t>
            </a:r>
            <a:endParaRPr kumimoji="1" lang="zh-CN" alt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4223" t="1678" r="40636" b="51439"/>
          <a:stretch>
            <a:fillRect/>
          </a:stretch>
        </p:blipFill>
        <p:spPr>
          <a:xfrm rot="0" flipH="0" flipV="0">
            <a:off x="660399" y="1772522"/>
            <a:ext cx="4320000" cy="2160000"/>
          </a:xfrm>
          <a:custGeom>
            <a:avLst/>
            <a:gdLst/>
            <a:rect l="l" t="t" r="r" b="b"/>
            <a:pathLst>
              <a:path w="4320000" h="2160000">
                <a:moveTo>
                  <a:pt x="0" y="0"/>
                </a:moveTo>
                <a:lnTo>
                  <a:pt x="4320000" y="0"/>
                </a:lnTo>
                <a:lnTo>
                  <a:pt x="4320000" y="2160000"/>
                </a:lnTo>
                <a:lnTo>
                  <a:pt x="0" y="216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0" flipH="0" flipV="0">
            <a:off x="660398" y="4136201"/>
            <a:ext cx="4320000" cy="13556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业务布局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292624" y="3128201"/>
            <a:ext cx="5220000" cy="10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431741" y="3128201"/>
            <a:ext cx="864000" cy="10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6486475" y="3236201"/>
            <a:ext cx="4860000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数据支撑：承保规模增长率、客户留存率等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289213" y="1772522"/>
            <a:ext cx="5220000" cy="10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428330" y="1772522"/>
            <a:ext cx="864000" cy="10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01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486475" y="1880522"/>
            <a:ext cx="4860000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差异化竞争力（如风险管理能力、全球化再保网络）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298900" y="4483878"/>
            <a:ext cx="5220000" cy="10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438017" y="4483878"/>
            <a:ext cx="864000" cy="10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03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486475" y="4591878"/>
            <a:ext cx="4860000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客户案例图标化展示（知名合作企业Logo墙）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章节标题</a:t>
            </a:r>
            <a:endParaRPr kumimoji="1" lang="zh-CN" alt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3812469"/>
            <a:ext cx="504000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 rot="0" flipH="0" flipV="0">
            <a:off x="-134983" y="3247094"/>
            <a:ext cx="12461966" cy="0"/>
          </a:xfrm>
          <a:prstGeom prst="line">
            <a:avLst/>
          </a:prstGeom>
          <a:noFill/>
          <a:ln w="12700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5" name="标题 1"/>
          <p:cNvSpPr txBox="1"/>
          <p:nvPr/>
        </p:nvSpPr>
        <p:spPr>
          <a:xfrm rot="0" flipH="0" flipV="0">
            <a:off x="6060000" y="3211094"/>
            <a:ext cx="72000" cy="7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60400" y="4180526"/>
            <a:ext cx="5040000" cy="1850207"/>
          </a:xfrm>
          <a:prstGeom prst="roundRect">
            <a:avLst>
              <a:gd name="adj" fmla="val 16667"/>
            </a:avLst>
          </a:prstGeom>
          <a:solidFill>
            <a:srgbClr val="D9D9D9">
              <a:alpha val="70000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41023" y="4469928"/>
            <a:ext cx="4279913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产品矩阵图（按险种分类+核心产品亮点）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2859447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2979094" y="3069136"/>
            <a:ext cx="376306" cy="329450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8691100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810748" y="3072884"/>
            <a:ext cx="376304" cy="311256"/>
          </a:xfrm>
          <a:custGeom>
            <a:avLst/>
            <a:gdLst>
              <a:gd name="connsiteX0" fmla="*/ 114387 w 870468"/>
              <a:gd name="connsiteY0" fmla="*/ 394297 h 720000"/>
              <a:gd name="connsiteX1" fmla="*/ 125598 w 870468"/>
              <a:gd name="connsiteY1" fmla="*/ 421319 h 720000"/>
              <a:gd name="connsiteX2" fmla="*/ 153878 w 870468"/>
              <a:gd name="connsiteY2" fmla="*/ 433051 h 720000"/>
              <a:gd name="connsiteX3" fmla="*/ 449972 w 870468"/>
              <a:gd name="connsiteY3" fmla="*/ 433051 h 720000"/>
              <a:gd name="connsiteX4" fmla="*/ 478295 w 870468"/>
              <a:gd name="connsiteY4" fmla="*/ 421319 h 720000"/>
              <a:gd name="connsiteX5" fmla="*/ 489465 w 870468"/>
              <a:gd name="connsiteY5" fmla="*/ 394297 h 720000"/>
              <a:gd name="connsiteX6" fmla="*/ 116266 w 870468"/>
              <a:gd name="connsiteY6" fmla="*/ 68594 h 720000"/>
              <a:gd name="connsiteX7" fmla="*/ 68708 w 870468"/>
              <a:gd name="connsiteY7" fmla="*/ 116152 h 720000"/>
              <a:gd name="connsiteX8" fmla="*/ 68708 w 870468"/>
              <a:gd name="connsiteY8" fmla="*/ 241561 h 720000"/>
              <a:gd name="connsiteX9" fmla="*/ 801875 w 870468"/>
              <a:gd name="connsiteY9" fmla="*/ 241561 h 720000"/>
              <a:gd name="connsiteX10" fmla="*/ 801875 w 870468"/>
              <a:gd name="connsiteY10" fmla="*/ 116152 h 720000"/>
              <a:gd name="connsiteX11" fmla="*/ 754317 w 870468"/>
              <a:gd name="connsiteY11" fmla="*/ 68594 h 720000"/>
              <a:gd name="connsiteX12" fmla="*/ 598821 w 870468"/>
              <a:gd name="connsiteY12" fmla="*/ 68594 h 720000"/>
              <a:gd name="connsiteX13" fmla="*/ 116266 w 870468"/>
              <a:gd name="connsiteY13" fmla="*/ 0 h 720000"/>
              <a:gd name="connsiteX14" fmla="*/ 598821 w 870468"/>
              <a:gd name="connsiteY14" fmla="*/ 0 h 720000"/>
              <a:gd name="connsiteX15" fmla="*/ 754317 w 870468"/>
              <a:gd name="connsiteY15" fmla="*/ 0 h 720000"/>
              <a:gd name="connsiteX16" fmla="*/ 870468 w 870468"/>
              <a:gd name="connsiteY16" fmla="*/ 116152 h 720000"/>
              <a:gd name="connsiteX17" fmla="*/ 870468 w 870468"/>
              <a:gd name="connsiteY17" fmla="*/ 360001 h 720000"/>
              <a:gd name="connsiteX18" fmla="*/ 870468 w 870468"/>
              <a:gd name="connsiteY18" fmla="*/ 603736 h 720000"/>
              <a:gd name="connsiteX19" fmla="*/ 754317 w 870468"/>
              <a:gd name="connsiteY19" fmla="*/ 720000 h 720000"/>
              <a:gd name="connsiteX20" fmla="*/ 598821 w 870468"/>
              <a:gd name="connsiteY20" fmla="*/ 720000 h 720000"/>
              <a:gd name="connsiteX21" fmla="*/ 116266 w 870468"/>
              <a:gd name="connsiteY21" fmla="*/ 720000 h 720000"/>
              <a:gd name="connsiteX22" fmla="*/ 115 w 870468"/>
              <a:gd name="connsiteY22" fmla="*/ 603850 h 720000"/>
              <a:gd name="connsiteX23" fmla="*/ 115 w 870468"/>
              <a:gd name="connsiteY23" fmla="*/ 360279 h 720000"/>
              <a:gd name="connsiteX24" fmla="*/ 0 w 870468"/>
              <a:gd name="connsiteY24" fmla="*/ 360001 h 720000"/>
              <a:gd name="connsiteX25" fmla="*/ 115 w 870468"/>
              <a:gd name="connsiteY25" fmla="*/ 359723 h 720000"/>
              <a:gd name="connsiteX26" fmla="*/ 115 w 870468"/>
              <a:gd name="connsiteY26" fmla="*/ 116152 h 720000"/>
              <a:gd name="connsiteX27" fmla="*/ 116266 w 870468"/>
              <a:gd name="connsiteY27" fmla="*/ 0 h 720000"/>
            </a:gdLst>
            <a:rect l="l" t="t" r="r" b="b"/>
            <a:pathLst>
              <a:path w="870468" h="720000">
                <a:moveTo>
                  <a:pt x="114387" y="394297"/>
                </a:moveTo>
                <a:lnTo>
                  <a:pt x="125598" y="421319"/>
                </a:lnTo>
                <a:cubicBezTo>
                  <a:pt x="132843" y="428564"/>
                  <a:pt x="142846" y="433051"/>
                  <a:pt x="153878" y="433051"/>
                </a:cubicBezTo>
                <a:lnTo>
                  <a:pt x="449972" y="433051"/>
                </a:lnTo>
                <a:cubicBezTo>
                  <a:pt x="461061" y="433051"/>
                  <a:pt x="471064" y="428564"/>
                  <a:pt x="478295" y="421319"/>
                </a:cubicBezTo>
                <a:lnTo>
                  <a:pt x="489465" y="394297"/>
                </a:lnTo>
                <a:close/>
                <a:moveTo>
                  <a:pt x="116266" y="68594"/>
                </a:moveTo>
                <a:cubicBezTo>
                  <a:pt x="89972" y="68594"/>
                  <a:pt x="68708" y="89972"/>
                  <a:pt x="68708" y="116152"/>
                </a:cubicBezTo>
                <a:lnTo>
                  <a:pt x="68708" y="241561"/>
                </a:lnTo>
                <a:lnTo>
                  <a:pt x="801875" y="241561"/>
                </a:lnTo>
                <a:lnTo>
                  <a:pt x="801875" y="116152"/>
                </a:lnTo>
                <a:cubicBezTo>
                  <a:pt x="801875" y="89858"/>
                  <a:pt x="780497" y="68594"/>
                  <a:pt x="754317" y="68594"/>
                </a:cubicBezTo>
                <a:lnTo>
                  <a:pt x="598821" y="68594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2"/>
                </a:cubicBezTo>
                <a:lnTo>
                  <a:pt x="870468" y="360001"/>
                </a:lnTo>
                <a:lnTo>
                  <a:pt x="870468" y="603736"/>
                </a:lnTo>
                <a:cubicBezTo>
                  <a:pt x="870468" y="667870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70"/>
                  <a:pt x="115" y="603850"/>
                </a:cubicBezTo>
                <a:lnTo>
                  <a:pt x="115" y="360279"/>
                </a:lnTo>
                <a:lnTo>
                  <a:pt x="0" y="360001"/>
                </a:lnTo>
                <a:lnTo>
                  <a:pt x="115" y="359723"/>
                </a:lnTo>
                <a:lnTo>
                  <a:pt x="115" y="116152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478900" y="3812469"/>
            <a:ext cx="504000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478900" y="4180526"/>
            <a:ext cx="5040000" cy="1850207"/>
          </a:xfrm>
          <a:prstGeom prst="roundRect">
            <a:avLst>
              <a:gd name="adj" fmla="val 16667"/>
            </a:avLst>
          </a:prstGeom>
          <a:solidFill>
            <a:srgbClr val="D9D9D9">
              <a:alpha val="70000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859523" y="4469928"/>
            <a:ext cx="4279913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场景化示意图（如工厂/物流/地产项目对应保险方案）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1" flipV="1">
            <a:off x="10971354" y="1130300"/>
            <a:ext cx="547546" cy="438611"/>
          </a:xfrm>
          <a:custGeom>
            <a:avLst/>
            <a:gdLst>
              <a:gd name="T0" fmla="*/ 41 w 98"/>
              <a:gd name="T1" fmla="*/ 0 h 78"/>
              <a:gd name="T2" fmla="*/ 44 w 98"/>
              <a:gd name="T3" fmla="*/ 4 h 78"/>
              <a:gd name="T4" fmla="*/ 27 w 98"/>
              <a:gd name="T5" fmla="*/ 16 h 78"/>
              <a:gd name="T6" fmla="*/ 21 w 98"/>
              <a:gd name="T7" fmla="*/ 29 h 78"/>
              <a:gd name="T8" fmla="*/ 29 w 98"/>
              <a:gd name="T9" fmla="*/ 37 h 78"/>
              <a:gd name="T10" fmla="*/ 40 w 98"/>
              <a:gd name="T11" fmla="*/ 45 h 78"/>
              <a:gd name="T12" fmla="*/ 43 w 98"/>
              <a:gd name="T13" fmla="*/ 57 h 78"/>
              <a:gd name="T14" fmla="*/ 37 w 98"/>
              <a:gd name="T15" fmla="*/ 72 h 78"/>
              <a:gd name="T16" fmla="*/ 22 w 98"/>
              <a:gd name="T17" fmla="*/ 78 h 78"/>
              <a:gd name="T18" fmla="*/ 6 w 98"/>
              <a:gd name="T19" fmla="*/ 71 h 78"/>
              <a:gd name="T20" fmla="*/ 0 w 98"/>
              <a:gd name="T21" fmla="*/ 50 h 78"/>
              <a:gd name="T22" fmla="*/ 5 w 98"/>
              <a:gd name="T23" fmla="*/ 29 h 78"/>
              <a:gd name="T24" fmla="*/ 19 w 98"/>
              <a:gd name="T25" fmla="*/ 11 h 78"/>
              <a:gd name="T26" fmla="*/ 41 w 98"/>
              <a:gd name="T27" fmla="*/ 0 h 78"/>
              <a:gd name="T28" fmla="*/ 95 w 98"/>
              <a:gd name="T29" fmla="*/ 0 h 78"/>
              <a:gd name="T30" fmla="*/ 98 w 98"/>
              <a:gd name="T31" fmla="*/ 4 h 78"/>
              <a:gd name="T32" fmla="*/ 81 w 98"/>
              <a:gd name="T33" fmla="*/ 16 h 78"/>
              <a:gd name="T34" fmla="*/ 74 w 98"/>
              <a:gd name="T35" fmla="*/ 29 h 78"/>
              <a:gd name="T36" fmla="*/ 82 w 98"/>
              <a:gd name="T37" fmla="*/ 37 h 78"/>
              <a:gd name="T38" fmla="*/ 94 w 98"/>
              <a:gd name="T39" fmla="*/ 45 h 78"/>
              <a:gd name="T40" fmla="*/ 97 w 98"/>
              <a:gd name="T41" fmla="*/ 57 h 78"/>
              <a:gd name="T42" fmla="*/ 91 w 98"/>
              <a:gd name="T43" fmla="*/ 72 h 78"/>
              <a:gd name="T44" fmla="*/ 76 w 98"/>
              <a:gd name="T45" fmla="*/ 78 h 78"/>
              <a:gd name="T46" fmla="*/ 60 w 98"/>
              <a:gd name="T47" fmla="*/ 71 h 78"/>
              <a:gd name="T48" fmla="*/ 54 w 98"/>
              <a:gd name="T49" fmla="*/ 50 h 78"/>
              <a:gd name="T50" fmla="*/ 59 w 98"/>
              <a:gd name="T51" fmla="*/ 29 h 78"/>
              <a:gd name="T52" fmla="*/ 73 w 98"/>
              <a:gd name="T53" fmla="*/ 11 h 78"/>
              <a:gd name="T54" fmla="*/ 95 w 98"/>
              <a:gd name="T55" fmla="*/ 0 h 78"/>
            </a:gdLst>
            <a:rect l="0" t="0" r="r" b="b"/>
            <a:pathLst>
              <a:path w="98" h="78">
                <a:moveTo>
                  <a:pt x="41" y="0"/>
                </a:moveTo>
                <a:cubicBezTo>
                  <a:pt x="44" y="4"/>
                  <a:pt x="44" y="4"/>
                  <a:pt x="44" y="4"/>
                </a:cubicBezTo>
                <a:cubicBezTo>
                  <a:pt x="37" y="8"/>
                  <a:pt x="31" y="11"/>
                  <a:pt x="27" y="16"/>
                </a:cubicBezTo>
                <a:cubicBezTo>
                  <a:pt x="23" y="20"/>
                  <a:pt x="21" y="25"/>
                  <a:pt x="21" y="29"/>
                </a:cubicBezTo>
                <a:cubicBezTo>
                  <a:pt x="21" y="31"/>
                  <a:pt x="23" y="34"/>
                  <a:pt x="29" y="37"/>
                </a:cubicBezTo>
                <a:cubicBezTo>
                  <a:pt x="34" y="39"/>
                  <a:pt x="38" y="42"/>
                  <a:pt x="40" y="45"/>
                </a:cubicBezTo>
                <a:cubicBezTo>
                  <a:pt x="42" y="48"/>
                  <a:pt x="43" y="52"/>
                  <a:pt x="43" y="57"/>
                </a:cubicBezTo>
                <a:cubicBezTo>
                  <a:pt x="43" y="63"/>
                  <a:pt x="41" y="68"/>
                  <a:pt x="37" y="72"/>
                </a:cubicBezTo>
                <a:cubicBezTo>
                  <a:pt x="33" y="76"/>
                  <a:pt x="28" y="78"/>
                  <a:pt x="22" y="78"/>
                </a:cubicBezTo>
                <a:cubicBezTo>
                  <a:pt x="16" y="78"/>
                  <a:pt x="10" y="76"/>
                  <a:pt x="6" y="71"/>
                </a:cubicBezTo>
                <a:cubicBezTo>
                  <a:pt x="2" y="65"/>
                  <a:pt x="0" y="59"/>
                  <a:pt x="0" y="50"/>
                </a:cubicBezTo>
                <a:cubicBezTo>
                  <a:pt x="0" y="43"/>
                  <a:pt x="1" y="36"/>
                  <a:pt x="5" y="29"/>
                </a:cubicBezTo>
                <a:cubicBezTo>
                  <a:pt x="8" y="22"/>
                  <a:pt x="13" y="16"/>
                  <a:pt x="19" y="11"/>
                </a:cubicBezTo>
                <a:cubicBezTo>
                  <a:pt x="26" y="6"/>
                  <a:pt x="33" y="2"/>
                  <a:pt x="41" y="0"/>
                </a:cubicBezTo>
                <a:close/>
                <a:moveTo>
                  <a:pt x="95" y="0"/>
                </a:moveTo>
                <a:cubicBezTo>
                  <a:pt x="98" y="4"/>
                  <a:pt x="98" y="4"/>
                  <a:pt x="98" y="4"/>
                </a:cubicBezTo>
                <a:cubicBezTo>
                  <a:pt x="91" y="8"/>
                  <a:pt x="85" y="11"/>
                  <a:pt x="81" y="16"/>
                </a:cubicBezTo>
                <a:cubicBezTo>
                  <a:pt x="77" y="20"/>
                  <a:pt x="74" y="25"/>
                  <a:pt x="74" y="29"/>
                </a:cubicBezTo>
                <a:cubicBezTo>
                  <a:pt x="74" y="31"/>
                  <a:pt x="77" y="34"/>
                  <a:pt x="82" y="37"/>
                </a:cubicBezTo>
                <a:cubicBezTo>
                  <a:pt x="88" y="39"/>
                  <a:pt x="91" y="42"/>
                  <a:pt x="94" y="45"/>
                </a:cubicBezTo>
                <a:cubicBezTo>
                  <a:pt x="96" y="48"/>
                  <a:pt x="97" y="52"/>
                  <a:pt x="97" y="57"/>
                </a:cubicBezTo>
                <a:cubicBezTo>
                  <a:pt x="97" y="63"/>
                  <a:pt x="95" y="68"/>
                  <a:pt x="91" y="72"/>
                </a:cubicBezTo>
                <a:cubicBezTo>
                  <a:pt x="87" y="76"/>
                  <a:pt x="82" y="78"/>
                  <a:pt x="76" y="78"/>
                </a:cubicBezTo>
                <a:cubicBezTo>
                  <a:pt x="69" y="78"/>
                  <a:pt x="64" y="76"/>
                  <a:pt x="60" y="71"/>
                </a:cubicBezTo>
                <a:cubicBezTo>
                  <a:pt x="56" y="65"/>
                  <a:pt x="54" y="59"/>
                  <a:pt x="54" y="50"/>
                </a:cubicBezTo>
                <a:cubicBezTo>
                  <a:pt x="54" y="43"/>
                  <a:pt x="55" y="36"/>
                  <a:pt x="59" y="29"/>
                </a:cubicBezTo>
                <a:cubicBezTo>
                  <a:pt x="62" y="22"/>
                  <a:pt x="67" y="16"/>
                  <a:pt x="73" y="11"/>
                </a:cubicBezTo>
                <a:cubicBezTo>
                  <a:pt x="79" y="6"/>
                  <a:pt x="87" y="2"/>
                  <a:pt x="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1351099" y="1435791"/>
            <a:ext cx="9489802" cy="12911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产品优势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章节标题</a:t>
            </a:r>
            <a:endParaRPr kumimoji="1" lang="zh-CN" alt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6750" y="2230416"/>
            <a:ext cx="2880000" cy="3744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/>
          </a:ln>
          <a:effectLst>
            <a:outerShdw dist="127000" blurRad="317500" dir="2700000" sx="100000" sy="100000" kx="0" ky="0" algn="t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465439" y="2761295"/>
            <a:ext cx="504000" cy="50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26750" y="291761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026750" y="3796174"/>
            <a:ext cx="2160000" cy="158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柱状图/折线图：保费收入增长趋势、赔付率对比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656000" y="2230416"/>
            <a:ext cx="2880000" cy="3744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/>
          </a:ln>
          <a:effectLst>
            <a:outerShdw dist="127000" blurRad="317500" dir="2700000" sx="100000" sy="100000" kx="0" ky="0" algn="t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5454689" y="2761295"/>
            <a:ext cx="504000" cy="50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016000" y="291761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016000" y="3796174"/>
            <a:ext cx="2160000" cy="158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地图图表：业务区域覆盖密度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638900" y="2230416"/>
            <a:ext cx="2880000" cy="3744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/>
          </a:ln>
          <a:effectLst>
            <a:outerShdw dist="127000" blurRad="317500" dir="2700000" sx="100000" sy="100000" kx="0" ky="0" algn="t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9437589" y="2761295"/>
            <a:ext cx="504000" cy="50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998900" y="291761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998900" y="3796174"/>
            <a:ext cx="2160000" cy="158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饼图：险种结构占比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715474" y="3555819"/>
            <a:ext cx="787500" cy="756000"/>
          </a:xfrm>
          <a:prstGeom prst="rightArrow">
            <a:avLst>
              <a:gd name="adj1" fmla="val 64800"/>
              <a:gd name="adj2" fmla="val 3677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9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7678767" y="3555819"/>
            <a:ext cx="787500" cy="756000"/>
          </a:xfrm>
          <a:prstGeom prst="rightArrow">
            <a:avLst>
              <a:gd name="adj1" fmla="val 64800"/>
              <a:gd name="adj2" fmla="val 3677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9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914345" y="1289983"/>
            <a:ext cx="10604500" cy="266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数据成果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章节标题</a:t>
            </a:r>
            <a:endParaRPr kumimoji="1" lang="zh-CN" alt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574001" y="2743353"/>
            <a:ext cx="1418491" cy="1418491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574000" y="4330768"/>
            <a:ext cx="3663264" cy="16120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just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短期目标：市场拓展方向（如大湾区深化布局）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954735" y="2743352"/>
            <a:ext cx="1418491" cy="1418491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954736" y="4330768"/>
            <a:ext cx="3663264" cy="16120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just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长期愿景：科技赋能保险（如AI核保、区块链理赔）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845489" y="3396321"/>
            <a:ext cx="256249" cy="256249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669751" y="1390426"/>
            <a:ext cx="476250" cy="377952"/>
          </a:xfrm>
          <a:custGeom>
            <a:avLst/>
            <a:gdLst>
              <a:gd name="connsiteX0" fmla="*/ 476250 w 476250"/>
              <a:gd name="connsiteY0" fmla="*/ 0 h 377952"/>
              <a:gd name="connsiteX1" fmla="*/ 476250 w 476250"/>
              <a:gd name="connsiteY1" fmla="*/ 81725 h 377952"/>
              <a:gd name="connsiteX2" fmla="*/ 367570 w 476250"/>
              <a:gd name="connsiteY2" fmla="*/ 187452 h 377952"/>
              <a:gd name="connsiteX3" fmla="*/ 476250 w 476250"/>
              <a:gd name="connsiteY3" fmla="*/ 187452 h 377952"/>
              <a:gd name="connsiteX4" fmla="*/ 476250 w 476250"/>
              <a:gd name="connsiteY4" fmla="*/ 377952 h 377952"/>
              <a:gd name="connsiteX5" fmla="*/ 285750 w 476250"/>
              <a:gd name="connsiteY5" fmla="*/ 377952 h 377952"/>
              <a:gd name="connsiteX6" fmla="*/ 285750 w 476250"/>
              <a:gd name="connsiteY6" fmla="*/ 187452 h 377952"/>
              <a:gd name="connsiteX7" fmla="*/ 476250 w 476250"/>
              <a:gd name="connsiteY7" fmla="*/ 0 h 377952"/>
              <a:gd name="connsiteX8" fmla="*/ 190500 w 476250"/>
              <a:gd name="connsiteY8" fmla="*/ 0 h 377952"/>
              <a:gd name="connsiteX9" fmla="*/ 190500 w 476250"/>
              <a:gd name="connsiteY9" fmla="*/ 81725 h 377952"/>
              <a:gd name="connsiteX10" fmla="*/ 81820 w 476250"/>
              <a:gd name="connsiteY10" fmla="*/ 187452 h 377952"/>
              <a:gd name="connsiteX11" fmla="*/ 190500 w 476250"/>
              <a:gd name="connsiteY11" fmla="*/ 187452 h 377952"/>
              <a:gd name="connsiteX12" fmla="*/ 190500 w 476250"/>
              <a:gd name="connsiteY12" fmla="*/ 377952 h 377952"/>
              <a:gd name="connsiteX13" fmla="*/ 0 w 476250"/>
              <a:gd name="connsiteY13" fmla="*/ 377952 h 377952"/>
              <a:gd name="connsiteX14" fmla="*/ 0 w 476250"/>
              <a:gd name="connsiteY14" fmla="*/ 187452 h 377952"/>
              <a:gd name="connsiteX15" fmla="*/ 190500 w 476250"/>
              <a:gd name="connsiteY15" fmla="*/ 0 h 377952"/>
            </a:gdLst>
            <a:rect l="l" t="t" r="r" b="b"/>
            <a:pathLst>
              <a:path w="476250" h="377952">
                <a:moveTo>
                  <a:pt x="476250" y="0"/>
                </a:moveTo>
                <a:lnTo>
                  <a:pt x="476250" y="81725"/>
                </a:lnTo>
                <a:cubicBezTo>
                  <a:pt x="417383" y="81753"/>
                  <a:pt x="369219" y="128608"/>
                  <a:pt x="367570" y="187452"/>
                </a:cubicBezTo>
                <a:lnTo>
                  <a:pt x="476250" y="187452"/>
                </a:lnTo>
                <a:lnTo>
                  <a:pt x="476250" y="377952"/>
                </a:lnTo>
                <a:lnTo>
                  <a:pt x="285750" y="377952"/>
                </a:lnTo>
                <a:lnTo>
                  <a:pt x="285750" y="187452"/>
                </a:lnTo>
                <a:cubicBezTo>
                  <a:pt x="287415" y="83434"/>
                  <a:pt x="372219" y="-13"/>
                  <a:pt x="476250" y="0"/>
                </a:cubicBezTo>
                <a:close/>
                <a:moveTo>
                  <a:pt x="190500" y="0"/>
                </a:moveTo>
                <a:lnTo>
                  <a:pt x="190500" y="81725"/>
                </a:lnTo>
                <a:cubicBezTo>
                  <a:pt x="131633" y="81753"/>
                  <a:pt x="83469" y="128608"/>
                  <a:pt x="81820" y="187452"/>
                </a:cubicBezTo>
                <a:lnTo>
                  <a:pt x="190500" y="187452"/>
                </a:lnTo>
                <a:lnTo>
                  <a:pt x="190500" y="377952"/>
                </a:lnTo>
                <a:lnTo>
                  <a:pt x="0" y="377952"/>
                </a:lnTo>
                <a:lnTo>
                  <a:pt x="0" y="187452"/>
                </a:lnTo>
                <a:cubicBezTo>
                  <a:pt x="1665" y="83434"/>
                  <a:pt x="86469" y="-13"/>
                  <a:pt x="190500" y="0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365076" y="1448514"/>
            <a:ext cx="9846853" cy="123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未来规划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991146" y="3160499"/>
            <a:ext cx="584200" cy="584200"/>
          </a:xfrm>
          <a:prstGeom prst="chevron"/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439446" y="3160499"/>
            <a:ext cx="584200" cy="584200"/>
          </a:xfrm>
          <a:prstGeom prst="chevron"/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章节标题</a:t>
            </a:r>
            <a:endParaRPr kumimoji="1" lang="zh-CN" alt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内容页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04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20XX</a:t>
            </a:r>
            <a:endParaRPr kumimoji="1" lang="zh-CN" alt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601294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757227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099227" y="1957788"/>
            <a:ext cx="612000" cy="53579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900943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香港专业财产险服务商，深耕本地市场
提供多元化保险产品，满足客户需求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373361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3268187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00943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公司定位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42464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283358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5439291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583007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成立于20XX年，注册资本X亿元
获得多项资质荣誉，树立良好口碑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5055425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950251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583007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发展历程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809335" y="1973683"/>
            <a:ext cx="555912" cy="504000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015248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8956141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9112075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8255790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覆盖企业财产险、责任险、工程险等
为不同行业提供定制化保险方案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728209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10623034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8255790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业务领域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9503478" y="1947727"/>
            <a:ext cx="513193" cy="55591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企业概况</a:t>
            </a:r>
            <a:endParaRPr kumimoji="1" lang="zh-CN" alt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-516890" y="1741352"/>
            <a:ext cx="13213080" cy="3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791794" y="5709840"/>
            <a:ext cx="1145893" cy="7256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805942" y="1731264"/>
            <a:ext cx="3117596" cy="65320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 flipH="0" flipV="0">
            <a:off x="2287271" y="1779902"/>
            <a:ext cx="154938" cy="80317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779272" y="2060487"/>
            <a:ext cx="3170936" cy="3692131"/>
          </a:xfrm>
          <a:prstGeom prst="roundRect">
            <a:avLst>
              <a:gd name="adj" fmla="val 12236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039439" y="4962743"/>
            <a:ext cx="2650602" cy="5092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000760" y="2303361"/>
            <a:ext cx="2727960" cy="2436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风险管理能力强，专业团队精准评估
全球化再保网络，分散风险，提升承保能力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016290" y="4910655"/>
            <a:ext cx="2696901" cy="534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竞争优势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5516704" y="5709840"/>
            <a:ext cx="1145893" cy="7256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30852" y="1731264"/>
            <a:ext cx="3117596" cy="653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0" flipV="0">
            <a:off x="6012181" y="1779902"/>
            <a:ext cx="154938" cy="80317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504182" y="2060487"/>
            <a:ext cx="3170936" cy="3692131"/>
          </a:xfrm>
          <a:prstGeom prst="roundRect">
            <a:avLst>
              <a:gd name="adj" fmla="val 12236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4764349" y="4962743"/>
            <a:ext cx="2650602" cy="5092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4725670" y="2303361"/>
            <a:ext cx="2727960" cy="2436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承保规模增长率达X%，市场拓展迅速
客户留存率高达X%，客户满意度高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741200" y="4910655"/>
            <a:ext cx="2696901" cy="534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数据支撑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9360486" y="5709840"/>
            <a:ext cx="1145893" cy="7256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374634" y="1731264"/>
            <a:ext cx="3117596" cy="653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 flipH="0" flipV="0">
            <a:off x="9855963" y="1779902"/>
            <a:ext cx="154938" cy="80317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347964" y="2060487"/>
            <a:ext cx="3170936" cy="3692131"/>
          </a:xfrm>
          <a:prstGeom prst="roundRect">
            <a:avLst>
              <a:gd name="adj" fmla="val 12236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8608131" y="4962743"/>
            <a:ext cx="2650602" cy="5092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569452" y="2303361"/>
            <a:ext cx="2727960" cy="2436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合作知名企业，如XX集团、XX公司
为其提供全方位保险保障，助力企业发展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8584982" y="4910655"/>
            <a:ext cx="2696901" cy="534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客户案例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业务布局</a:t>
            </a:r>
            <a:endParaRPr kumimoji="1" lang="zh-CN" alt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2575420"/>
            <a:ext cx="2927757" cy="3558680"/>
          </a:xfrm>
          <a:prstGeom prst="roundRect">
            <a:avLst>
              <a:gd name="adj" fmla="val 9986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38100" blurRad="50800" dir="5400000" sx="100000" sy="100000" kx="0" ky="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2909022" y="2263350"/>
            <a:ext cx="1092200" cy="1092200"/>
          </a:xfrm>
          <a:prstGeom prst="arc">
            <a:avLst>
              <a:gd name="adj1" fmla="val 16200000"/>
              <a:gd name="adj2" fmla="val 10544243"/>
            </a:avLst>
          </a:prstGeom>
          <a:noFill/>
          <a:ln w="152400" cap="rnd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972522" y="2326850"/>
            <a:ext cx="965200" cy="9652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26689" y="2667584"/>
            <a:ext cx="1950720" cy="6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产品矩阵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95131" y="3515360"/>
            <a:ext cx="2458294" cy="2382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按险种分类，涵盖多种核心产品
突出产品亮点，满足不同客户场景需求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3015432" y="2524972"/>
            <a:ext cx="891508" cy="6237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75%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419239" y="2575420"/>
            <a:ext cx="2927757" cy="3558680"/>
          </a:xfrm>
          <a:prstGeom prst="roundRect">
            <a:avLst>
              <a:gd name="adj" fmla="val 9986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38100" blurRad="50800" dir="5400000" sx="100000" sy="100000" kx="0" ky="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67861" y="2263350"/>
            <a:ext cx="1092200" cy="1092200"/>
          </a:xfrm>
          <a:prstGeom prst="arc">
            <a:avLst>
              <a:gd name="adj1" fmla="val 16200000"/>
              <a:gd name="adj2" fmla="val 5951267"/>
            </a:avLst>
          </a:prstGeom>
          <a:noFill/>
          <a:ln w="152400" cap="rnd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731361" y="2326850"/>
            <a:ext cx="965200" cy="9652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4585528" y="2667584"/>
            <a:ext cx="1950720" cy="6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场景化方案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653970" y="3515360"/>
            <a:ext cx="2458294" cy="2382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工厂保险方案，保障生产安全
物流保险方案，降低运输风险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774271" y="2524972"/>
            <a:ext cx="891508" cy="6237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52%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178078" y="2575420"/>
            <a:ext cx="2927757" cy="3558680"/>
          </a:xfrm>
          <a:prstGeom prst="roundRect">
            <a:avLst>
              <a:gd name="adj" fmla="val 9986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38100" blurRad="50800" dir="5400000" sx="100000" sy="100000" kx="0" ky="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10426700" y="2263350"/>
            <a:ext cx="1092200" cy="1092200"/>
          </a:xfrm>
          <a:prstGeom prst="arc">
            <a:avLst>
              <a:gd name="adj1" fmla="val 16200000"/>
              <a:gd name="adj2" fmla="val 13516205"/>
            </a:avLst>
          </a:prstGeom>
          <a:noFill/>
          <a:ln w="152400" cap="rnd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10490200" y="2326850"/>
            <a:ext cx="965200" cy="9652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0" blurRad="127000" dir="0" sx="102000" sy="102000" kx="0" ky="0" algn="c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344367" y="2667584"/>
            <a:ext cx="1950720" cy="6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地产项目方案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412809" y="3515360"/>
            <a:ext cx="2458294" cy="2382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提供全面保险保障，助力项目顺利推进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10533110" y="2524972"/>
            <a:ext cx="891508" cy="6237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81%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826689" y="5023413"/>
            <a:ext cx="1950720" cy="975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CC3E22">
                    <a:alpha val="17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4585528" y="5023413"/>
            <a:ext cx="1950720" cy="975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CC3E22">
                    <a:alpha val="17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8344367" y="5023413"/>
            <a:ext cx="1950720" cy="975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CC3E22">
                    <a:alpha val="17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产品优势</a:t>
            </a:r>
            <a:endParaRPr kumimoji="1" lang="zh-CN" alt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3700216" y="2056477"/>
            <a:ext cx="1962772" cy="196277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806390" y="2162650"/>
            <a:ext cx="1750423" cy="1750423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8070076" y="2580068"/>
            <a:ext cx="3289299" cy="11629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赔付率控制在合理范围，低于行业平均水平
有效提升公司盈利能力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8070078" y="2117369"/>
            <a:ext cx="3289299" cy="40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赔付率对比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070076" y="1709211"/>
            <a:ext cx="3289299" cy="5184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61151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584200" y="2976595"/>
            <a:ext cx="2975790" cy="11629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近三年保费收入持续增长，年均增长率达X%
2024年保费收入预计突破X亿元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84202" y="2513896"/>
            <a:ext cx="2975790" cy="40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保费收入增长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84200" y="2105738"/>
            <a:ext cx="2975790" cy="5184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396004" y="2778935"/>
            <a:ext cx="571194" cy="51785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2" name=""/>
          <p:cNvGrpSpPr/>
          <p:nvPr/>
        </p:nvGrpSpPr>
        <p:grpSpPr>
          <a:xfrm>
            <a:off x="5727489" y="1854901"/>
            <a:ext cx="2133581" cy="2133578"/>
            <a:chOff x="5727489" y="1854901"/>
            <a:chExt cx="2133581" cy="2133578"/>
          </a:xfrm>
        </p:grpSpPr>
        <p:sp>
          <p:nvSpPr>
            <p:cNvPr id="13" name="标题 1"/>
            <p:cNvSpPr txBox="1"/>
            <p:nvPr/>
          </p:nvSpPr>
          <p:spPr>
            <a:xfrm rot="0" flipH="0" flipV="0">
              <a:off x="5727489" y="1854901"/>
              <a:ext cx="2133581" cy="2133578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rot="0" flipH="0" flipV="0">
              <a:off x="5842903" y="1970313"/>
              <a:ext cx="1902753" cy="1902752"/>
            </a:xfrm>
            <a:prstGeom prst="ellipse">
              <a:avLst/>
            </a:pr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rot="0" flipH="0" flipV="0">
              <a:off x="6420352" y="2559826"/>
              <a:ext cx="747855" cy="723727"/>
            </a:xfrm>
            <a:custGeom>
              <a:avLst/>
              <a:gdLst>
                <a:gd name="connsiteX0" fmla="*/ 695958 w 1660735"/>
                <a:gd name="connsiteY0" fmla="*/ 752512 h 1607157"/>
                <a:gd name="connsiteX1" fmla="*/ 376349 w 1660735"/>
                <a:gd name="connsiteY1" fmla="*/ 752512 h 1607157"/>
                <a:gd name="connsiteX2" fmla="*/ 110505 w 1660735"/>
                <a:gd name="connsiteY2" fmla="*/ 642007 h 1607157"/>
                <a:gd name="connsiteX3" fmla="*/ 0 w 1660735"/>
                <a:gd name="connsiteY3" fmla="*/ 376349 h 1607157"/>
                <a:gd name="connsiteX4" fmla="*/ 110505 w 1660735"/>
                <a:gd name="connsiteY4" fmla="*/ 110505 h 1607157"/>
                <a:gd name="connsiteX5" fmla="*/ 376349 w 1660735"/>
                <a:gd name="connsiteY5" fmla="*/ 0 h 1607157"/>
                <a:gd name="connsiteX6" fmla="*/ 642193 w 1660735"/>
                <a:gd name="connsiteY6" fmla="*/ 110505 h 1607157"/>
                <a:gd name="connsiteX7" fmla="*/ 752698 w 1660735"/>
                <a:gd name="connsiteY7" fmla="*/ 376349 h 1607157"/>
                <a:gd name="connsiteX8" fmla="*/ 752698 w 1660735"/>
                <a:gd name="connsiteY8" fmla="*/ 695958 h 1607157"/>
                <a:gd name="connsiteX9" fmla="*/ 695958 w 1660735"/>
                <a:gd name="connsiteY9" fmla="*/ 752512 h 1607157"/>
                <a:gd name="connsiteX10" fmla="*/ 376349 w 1660735"/>
                <a:gd name="connsiteY10" fmla="*/ 111621 h 1607157"/>
                <a:gd name="connsiteX11" fmla="*/ 111621 w 1660735"/>
                <a:gd name="connsiteY11" fmla="*/ 376349 h 1607157"/>
                <a:gd name="connsiteX12" fmla="*/ 376349 w 1660735"/>
                <a:gd name="connsiteY12" fmla="*/ 641077 h 1607157"/>
                <a:gd name="connsiteX13" fmla="*/ 641077 w 1660735"/>
                <a:gd name="connsiteY13" fmla="*/ 641077 h 1607157"/>
                <a:gd name="connsiteX14" fmla="*/ 641077 w 1660735"/>
                <a:gd name="connsiteY14" fmla="*/ 376349 h 1607157"/>
                <a:gd name="connsiteX15" fmla="*/ 376349 w 1660735"/>
                <a:gd name="connsiteY15" fmla="*/ 111621 h 1607157"/>
                <a:gd name="connsiteX16" fmla="*/ 1284201 w 1660735"/>
                <a:gd name="connsiteY16" fmla="*/ 752512 h 1607157"/>
                <a:gd name="connsiteX17" fmla="*/ 964592 w 1660735"/>
                <a:gd name="connsiteY17" fmla="*/ 752512 h 1607157"/>
                <a:gd name="connsiteX18" fmla="*/ 908038 w 1660735"/>
                <a:gd name="connsiteY18" fmla="*/ 695958 h 1607157"/>
                <a:gd name="connsiteX19" fmla="*/ 908038 w 1660735"/>
                <a:gd name="connsiteY19" fmla="*/ 376349 h 1607157"/>
                <a:gd name="connsiteX20" fmla="*/ 1018543 w 1660735"/>
                <a:gd name="connsiteY20" fmla="*/ 110505 h 1607157"/>
                <a:gd name="connsiteX21" fmla="*/ 1284387 w 1660735"/>
                <a:gd name="connsiteY21" fmla="*/ 0 h 1607157"/>
                <a:gd name="connsiteX22" fmla="*/ 1550231 w 1660735"/>
                <a:gd name="connsiteY22" fmla="*/ 110505 h 1607157"/>
                <a:gd name="connsiteX23" fmla="*/ 1660736 w 1660735"/>
                <a:gd name="connsiteY23" fmla="*/ 376349 h 1607157"/>
                <a:gd name="connsiteX24" fmla="*/ 1550231 w 1660735"/>
                <a:gd name="connsiteY24" fmla="*/ 642193 h 1607157"/>
                <a:gd name="connsiteX25" fmla="*/ 1284201 w 1660735"/>
                <a:gd name="connsiteY25" fmla="*/ 752512 h 1607157"/>
                <a:gd name="connsiteX26" fmla="*/ 1019659 w 1660735"/>
                <a:gd name="connsiteY26" fmla="*/ 640891 h 1607157"/>
                <a:gd name="connsiteX27" fmla="*/ 1284387 w 1660735"/>
                <a:gd name="connsiteY27" fmla="*/ 640891 h 1607157"/>
                <a:gd name="connsiteX28" fmla="*/ 1549115 w 1660735"/>
                <a:gd name="connsiteY28" fmla="*/ 376163 h 1607157"/>
                <a:gd name="connsiteX29" fmla="*/ 1284387 w 1660735"/>
                <a:gd name="connsiteY29" fmla="*/ 111435 h 1607157"/>
                <a:gd name="connsiteX30" fmla="*/ 1019659 w 1660735"/>
                <a:gd name="connsiteY30" fmla="*/ 376163 h 1607157"/>
                <a:gd name="connsiteX31" fmla="*/ 1019659 w 1660735"/>
                <a:gd name="connsiteY31" fmla="*/ 640891 h 1607157"/>
                <a:gd name="connsiteX32" fmla="*/ 376349 w 1660735"/>
                <a:gd name="connsiteY32" fmla="*/ 1607158 h 1607157"/>
                <a:gd name="connsiteX33" fmla="*/ 110505 w 1660735"/>
                <a:gd name="connsiteY33" fmla="*/ 1496653 h 1607157"/>
                <a:gd name="connsiteX34" fmla="*/ 0 w 1660735"/>
                <a:gd name="connsiteY34" fmla="*/ 1230809 h 1607157"/>
                <a:gd name="connsiteX35" fmla="*/ 110505 w 1660735"/>
                <a:gd name="connsiteY35" fmla="*/ 964964 h 1607157"/>
                <a:gd name="connsiteX36" fmla="*/ 376349 w 1660735"/>
                <a:gd name="connsiteY36" fmla="*/ 854459 h 1607157"/>
                <a:gd name="connsiteX37" fmla="*/ 695958 w 1660735"/>
                <a:gd name="connsiteY37" fmla="*/ 854459 h 1607157"/>
                <a:gd name="connsiteX38" fmla="*/ 752512 w 1660735"/>
                <a:gd name="connsiteY38" fmla="*/ 911014 h 1607157"/>
                <a:gd name="connsiteX39" fmla="*/ 752512 w 1660735"/>
                <a:gd name="connsiteY39" fmla="*/ 1230623 h 1607157"/>
                <a:gd name="connsiteX40" fmla="*/ 642007 w 1660735"/>
                <a:gd name="connsiteY40" fmla="*/ 1496467 h 1607157"/>
                <a:gd name="connsiteX41" fmla="*/ 376349 w 1660735"/>
                <a:gd name="connsiteY41" fmla="*/ 1607158 h 1607157"/>
                <a:gd name="connsiteX42" fmla="*/ 376349 w 1660735"/>
                <a:gd name="connsiteY42" fmla="*/ 966267 h 1607157"/>
                <a:gd name="connsiteX43" fmla="*/ 111621 w 1660735"/>
                <a:gd name="connsiteY43" fmla="*/ 1230809 h 1607157"/>
                <a:gd name="connsiteX44" fmla="*/ 376349 w 1660735"/>
                <a:gd name="connsiteY44" fmla="*/ 1495537 h 1607157"/>
                <a:gd name="connsiteX45" fmla="*/ 641077 w 1660735"/>
                <a:gd name="connsiteY45" fmla="*/ 1230809 h 1607157"/>
                <a:gd name="connsiteX46" fmla="*/ 641077 w 1660735"/>
                <a:gd name="connsiteY46" fmla="*/ 966267 h 1607157"/>
                <a:gd name="connsiteX47" fmla="*/ 376349 w 1660735"/>
                <a:gd name="connsiteY47" fmla="*/ 966267 h 1607157"/>
                <a:gd name="connsiteX48" fmla="*/ 1284201 w 1660735"/>
                <a:gd name="connsiteY48" fmla="*/ 1607158 h 1607157"/>
                <a:gd name="connsiteX49" fmla="*/ 1018357 w 1660735"/>
                <a:gd name="connsiteY49" fmla="*/ 1496653 h 1607157"/>
                <a:gd name="connsiteX50" fmla="*/ 907852 w 1660735"/>
                <a:gd name="connsiteY50" fmla="*/ 1230809 h 1607157"/>
                <a:gd name="connsiteX51" fmla="*/ 907852 w 1660735"/>
                <a:gd name="connsiteY51" fmla="*/ 911200 h 1607157"/>
                <a:gd name="connsiteX52" fmla="*/ 964406 w 1660735"/>
                <a:gd name="connsiteY52" fmla="*/ 854646 h 1607157"/>
                <a:gd name="connsiteX53" fmla="*/ 1284015 w 1660735"/>
                <a:gd name="connsiteY53" fmla="*/ 854646 h 1607157"/>
                <a:gd name="connsiteX54" fmla="*/ 1549859 w 1660735"/>
                <a:gd name="connsiteY54" fmla="*/ 965150 h 1607157"/>
                <a:gd name="connsiteX55" fmla="*/ 1660364 w 1660735"/>
                <a:gd name="connsiteY55" fmla="*/ 1230995 h 1607157"/>
                <a:gd name="connsiteX56" fmla="*/ 1550045 w 1660735"/>
                <a:gd name="connsiteY56" fmla="*/ 1496653 h 1607157"/>
                <a:gd name="connsiteX57" fmla="*/ 1284201 w 1660735"/>
                <a:gd name="connsiteY57" fmla="*/ 1607158 h 1607157"/>
                <a:gd name="connsiteX58" fmla="*/ 1019659 w 1660735"/>
                <a:gd name="connsiteY58" fmla="*/ 966267 h 1607157"/>
                <a:gd name="connsiteX59" fmla="*/ 1019659 w 1660735"/>
                <a:gd name="connsiteY59" fmla="*/ 1230995 h 1607157"/>
                <a:gd name="connsiteX60" fmla="*/ 1284387 w 1660735"/>
                <a:gd name="connsiteY60" fmla="*/ 1495723 h 1607157"/>
                <a:gd name="connsiteX61" fmla="*/ 1549115 w 1660735"/>
                <a:gd name="connsiteY61" fmla="*/ 1230995 h 1607157"/>
                <a:gd name="connsiteX62" fmla="*/ 1284387 w 1660735"/>
                <a:gd name="connsiteY62" fmla="*/ 966267 h 1607157"/>
                <a:gd name="connsiteX63" fmla="*/ 1019659 w 1660735"/>
                <a:gd name="connsiteY63" fmla="*/ 966267 h 1607157"/>
              </a:gdLst>
              <a:rect l="l" t="t" r="r" b="b"/>
              <a:pathLst>
                <a:path w="1660735" h="1607157">
                  <a:moveTo>
                    <a:pt x="695958" y="752512"/>
                  </a:moveTo>
                  <a:lnTo>
                    <a:pt x="376349" y="752512"/>
                  </a:lnTo>
                  <a:cubicBezTo>
                    <a:pt x="276262" y="752512"/>
                    <a:pt x="181756" y="713259"/>
                    <a:pt x="110505" y="642007"/>
                  </a:cubicBezTo>
                  <a:cubicBezTo>
                    <a:pt x="39253" y="570756"/>
                    <a:pt x="0" y="476436"/>
                    <a:pt x="0" y="376349"/>
                  </a:cubicBezTo>
                  <a:cubicBezTo>
                    <a:pt x="0" y="276262"/>
                    <a:pt x="39253" y="181756"/>
                    <a:pt x="110505" y="110505"/>
                  </a:cubicBezTo>
                  <a:cubicBezTo>
                    <a:pt x="181756" y="39253"/>
                    <a:pt x="276076" y="0"/>
                    <a:pt x="376349" y="0"/>
                  </a:cubicBezTo>
                  <a:cubicBezTo>
                    <a:pt x="476436" y="0"/>
                    <a:pt x="570942" y="39253"/>
                    <a:pt x="642193" y="110505"/>
                  </a:cubicBezTo>
                  <a:cubicBezTo>
                    <a:pt x="713445" y="181756"/>
                    <a:pt x="752698" y="276076"/>
                    <a:pt x="752698" y="376349"/>
                  </a:cubicBezTo>
                  <a:lnTo>
                    <a:pt x="752698" y="695958"/>
                  </a:lnTo>
                  <a:cubicBezTo>
                    <a:pt x="752512" y="727211"/>
                    <a:pt x="727211" y="752512"/>
                    <a:pt x="695958" y="752512"/>
                  </a:cubicBezTo>
                  <a:close/>
                  <a:moveTo>
                    <a:pt x="376349" y="111621"/>
                  </a:moveTo>
                  <a:cubicBezTo>
                    <a:pt x="230498" y="111621"/>
                    <a:pt x="111621" y="230312"/>
                    <a:pt x="111621" y="376349"/>
                  </a:cubicBezTo>
                  <a:cubicBezTo>
                    <a:pt x="111621" y="522201"/>
                    <a:pt x="230312" y="641077"/>
                    <a:pt x="376349" y="641077"/>
                  </a:cubicBezTo>
                  <a:lnTo>
                    <a:pt x="641077" y="641077"/>
                  </a:lnTo>
                  <a:lnTo>
                    <a:pt x="641077" y="376349"/>
                  </a:lnTo>
                  <a:cubicBezTo>
                    <a:pt x="640891" y="230312"/>
                    <a:pt x="522201" y="111621"/>
                    <a:pt x="376349" y="111621"/>
                  </a:cubicBezTo>
                  <a:close/>
                  <a:moveTo>
                    <a:pt x="1284201" y="752512"/>
                  </a:moveTo>
                  <a:lnTo>
                    <a:pt x="964592" y="752512"/>
                  </a:lnTo>
                  <a:cubicBezTo>
                    <a:pt x="933338" y="752512"/>
                    <a:pt x="908038" y="727025"/>
                    <a:pt x="908038" y="695958"/>
                  </a:cubicBezTo>
                  <a:lnTo>
                    <a:pt x="908038" y="376349"/>
                  </a:lnTo>
                  <a:cubicBezTo>
                    <a:pt x="908038" y="276262"/>
                    <a:pt x="947291" y="181756"/>
                    <a:pt x="1018543" y="110505"/>
                  </a:cubicBezTo>
                  <a:cubicBezTo>
                    <a:pt x="1089794" y="39253"/>
                    <a:pt x="1184114" y="0"/>
                    <a:pt x="1284387" y="0"/>
                  </a:cubicBezTo>
                  <a:cubicBezTo>
                    <a:pt x="1384660" y="0"/>
                    <a:pt x="1478980" y="39253"/>
                    <a:pt x="1550231" y="110505"/>
                  </a:cubicBezTo>
                  <a:cubicBezTo>
                    <a:pt x="1621482" y="181756"/>
                    <a:pt x="1660736" y="276076"/>
                    <a:pt x="1660736" y="376349"/>
                  </a:cubicBezTo>
                  <a:cubicBezTo>
                    <a:pt x="1660736" y="476622"/>
                    <a:pt x="1621482" y="570942"/>
                    <a:pt x="1550231" y="642193"/>
                  </a:cubicBezTo>
                  <a:cubicBezTo>
                    <a:pt x="1478794" y="713259"/>
                    <a:pt x="1384288" y="752512"/>
                    <a:pt x="1284201" y="752512"/>
                  </a:cubicBezTo>
                  <a:close/>
                  <a:moveTo>
                    <a:pt x="1019659" y="640891"/>
                  </a:moveTo>
                  <a:lnTo>
                    <a:pt x="1284387" y="640891"/>
                  </a:lnTo>
                  <a:cubicBezTo>
                    <a:pt x="1430238" y="640891"/>
                    <a:pt x="1549115" y="522201"/>
                    <a:pt x="1549115" y="376163"/>
                  </a:cubicBezTo>
                  <a:cubicBezTo>
                    <a:pt x="1549115" y="230312"/>
                    <a:pt x="1430424" y="111435"/>
                    <a:pt x="1284387" y="111435"/>
                  </a:cubicBezTo>
                  <a:cubicBezTo>
                    <a:pt x="1138349" y="111435"/>
                    <a:pt x="1019659" y="230125"/>
                    <a:pt x="1019659" y="376163"/>
                  </a:cubicBezTo>
                  <a:lnTo>
                    <a:pt x="1019659" y="640891"/>
                  </a:lnTo>
                  <a:close/>
                  <a:moveTo>
                    <a:pt x="376349" y="1607158"/>
                  </a:moveTo>
                  <a:cubicBezTo>
                    <a:pt x="276262" y="1607158"/>
                    <a:pt x="181756" y="1567904"/>
                    <a:pt x="110505" y="1496653"/>
                  </a:cubicBezTo>
                  <a:cubicBezTo>
                    <a:pt x="39253" y="1425401"/>
                    <a:pt x="0" y="1330896"/>
                    <a:pt x="0" y="1230809"/>
                  </a:cubicBezTo>
                  <a:cubicBezTo>
                    <a:pt x="0" y="1130722"/>
                    <a:pt x="39253" y="1036216"/>
                    <a:pt x="110505" y="964964"/>
                  </a:cubicBezTo>
                  <a:cubicBezTo>
                    <a:pt x="181756" y="893713"/>
                    <a:pt x="276076" y="854459"/>
                    <a:pt x="376349" y="854459"/>
                  </a:cubicBezTo>
                  <a:lnTo>
                    <a:pt x="695958" y="854459"/>
                  </a:lnTo>
                  <a:cubicBezTo>
                    <a:pt x="727211" y="854459"/>
                    <a:pt x="752512" y="879760"/>
                    <a:pt x="752512" y="911014"/>
                  </a:cubicBezTo>
                  <a:lnTo>
                    <a:pt x="752512" y="1230623"/>
                  </a:lnTo>
                  <a:cubicBezTo>
                    <a:pt x="752512" y="1330709"/>
                    <a:pt x="713259" y="1425215"/>
                    <a:pt x="642007" y="1496467"/>
                  </a:cubicBezTo>
                  <a:cubicBezTo>
                    <a:pt x="570756" y="1567718"/>
                    <a:pt x="476436" y="1607158"/>
                    <a:pt x="376349" y="1607158"/>
                  </a:cubicBezTo>
                  <a:close/>
                  <a:moveTo>
                    <a:pt x="376349" y="966267"/>
                  </a:moveTo>
                  <a:cubicBezTo>
                    <a:pt x="230312" y="966267"/>
                    <a:pt x="111621" y="1084957"/>
                    <a:pt x="111621" y="1230809"/>
                  </a:cubicBezTo>
                  <a:cubicBezTo>
                    <a:pt x="111621" y="1376660"/>
                    <a:pt x="230312" y="1495537"/>
                    <a:pt x="376349" y="1495537"/>
                  </a:cubicBezTo>
                  <a:cubicBezTo>
                    <a:pt x="522201" y="1495537"/>
                    <a:pt x="641077" y="1376846"/>
                    <a:pt x="641077" y="1230809"/>
                  </a:cubicBezTo>
                  <a:lnTo>
                    <a:pt x="641077" y="966267"/>
                  </a:lnTo>
                  <a:lnTo>
                    <a:pt x="376349" y="966267"/>
                  </a:lnTo>
                  <a:close/>
                  <a:moveTo>
                    <a:pt x="1284201" y="1607158"/>
                  </a:moveTo>
                  <a:cubicBezTo>
                    <a:pt x="1184114" y="1607158"/>
                    <a:pt x="1089608" y="1567904"/>
                    <a:pt x="1018357" y="1496653"/>
                  </a:cubicBezTo>
                  <a:cubicBezTo>
                    <a:pt x="947105" y="1425401"/>
                    <a:pt x="907852" y="1331082"/>
                    <a:pt x="907852" y="1230809"/>
                  </a:cubicBezTo>
                  <a:lnTo>
                    <a:pt x="907852" y="911200"/>
                  </a:lnTo>
                  <a:cubicBezTo>
                    <a:pt x="907852" y="879946"/>
                    <a:pt x="933152" y="854646"/>
                    <a:pt x="964406" y="854646"/>
                  </a:cubicBezTo>
                  <a:lnTo>
                    <a:pt x="1284015" y="854646"/>
                  </a:lnTo>
                  <a:cubicBezTo>
                    <a:pt x="1384102" y="854646"/>
                    <a:pt x="1478607" y="893899"/>
                    <a:pt x="1549859" y="965150"/>
                  </a:cubicBezTo>
                  <a:cubicBezTo>
                    <a:pt x="1621110" y="1036402"/>
                    <a:pt x="1660364" y="1130722"/>
                    <a:pt x="1660364" y="1230995"/>
                  </a:cubicBezTo>
                  <a:cubicBezTo>
                    <a:pt x="1660364" y="1331268"/>
                    <a:pt x="1621296" y="1425401"/>
                    <a:pt x="1550045" y="1496653"/>
                  </a:cubicBezTo>
                  <a:cubicBezTo>
                    <a:pt x="1478794" y="1567904"/>
                    <a:pt x="1384288" y="1607158"/>
                    <a:pt x="1284201" y="1607158"/>
                  </a:cubicBezTo>
                  <a:close/>
                  <a:moveTo>
                    <a:pt x="1019659" y="966267"/>
                  </a:moveTo>
                  <a:lnTo>
                    <a:pt x="1019659" y="1230995"/>
                  </a:lnTo>
                  <a:cubicBezTo>
                    <a:pt x="1019659" y="1376846"/>
                    <a:pt x="1138349" y="1495723"/>
                    <a:pt x="1284387" y="1495723"/>
                  </a:cubicBezTo>
                  <a:cubicBezTo>
                    <a:pt x="1430424" y="1495723"/>
                    <a:pt x="1549115" y="1377032"/>
                    <a:pt x="1549115" y="1230995"/>
                  </a:cubicBezTo>
                  <a:cubicBezTo>
                    <a:pt x="1549115" y="1084957"/>
                    <a:pt x="1430424" y="966267"/>
                    <a:pt x="1284387" y="966267"/>
                  </a:cubicBezTo>
                  <a:lnTo>
                    <a:pt x="1019659" y="966267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6" name="标题 1"/>
          <p:cNvSpPr txBox="1"/>
          <p:nvPr/>
        </p:nvSpPr>
        <p:spPr>
          <a:xfrm rot="0" flipH="0" flipV="0">
            <a:off x="4532628" y="3965494"/>
            <a:ext cx="1552746" cy="1552744"/>
          </a:xfrm>
          <a:prstGeom prst="ellipse">
            <a:avLst/>
          </a:prstGeom>
          <a:solidFill>
            <a:schemeClr val="bg1">
              <a:lumMod val="75000"/>
              <a:alpha val="1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616623" y="4049487"/>
            <a:ext cx="1384757" cy="1384757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083065" y="4537029"/>
            <a:ext cx="451871" cy="40967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6314694" y="5072798"/>
            <a:ext cx="4518603" cy="11629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业务覆盖全国多个省份，重点布局大湾区
在大湾区市场份额逐步提升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6314696" y="4610099"/>
            <a:ext cx="4518603" cy="4028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业务区域覆盖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314694" y="4201941"/>
            <a:ext cx="4518603" cy="5184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BFBFB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数据成果</a:t>
            </a:r>
            <a:endParaRPr kumimoji="1" lang="zh-CN" alt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867446" y="2591146"/>
            <a:ext cx="543206" cy="468280"/>
          </a:xfrm>
          <a:prstGeom prst="hexagon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916780" y="4266910"/>
            <a:ext cx="543206" cy="468280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456288" y="6310230"/>
            <a:ext cx="1315808" cy="1083518"/>
          </a:xfrm>
          <a:prstGeom prst="hexagon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957030" y="6455407"/>
            <a:ext cx="314325" cy="342900"/>
          </a:xfrm>
          <a:prstGeom prst="downArrow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2363426" y="2987540"/>
            <a:ext cx="1541824" cy="1329159"/>
          </a:xfrm>
          <a:prstGeom prst="hexagon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254000" blurRad="762000" dir="5400000" sx="100000" sy="100000" kx="0" ky="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 rot="0" flipH="0" flipV="0">
            <a:off x="5098321" y="4290459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9" name="标题 1"/>
          <p:cNvSpPr txBox="1"/>
          <p:nvPr/>
        </p:nvSpPr>
        <p:spPr>
          <a:xfrm rot="0" flipH="0" flipV="0">
            <a:off x="5031986" y="3328601"/>
            <a:ext cx="6120000" cy="8645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科技赋能保险，推动业务创新升级
打造智能化保险服务，提升客户体验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2363426" y="4686853"/>
            <a:ext cx="1541824" cy="1329159"/>
          </a:xfrm>
          <a:prstGeom prst="hexagon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254000" blurRad="762000" dir="5400000" sx="100000" sy="100000" kx="0" ky="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5031986" y="5027913"/>
            <a:ext cx="6120000" cy="10045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持续投入科技研发，引入先进科技手段
优化业务流程，提升运营效率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2363426" y="1288227"/>
            <a:ext cx="1541824" cy="1329159"/>
          </a:xfrm>
          <a:prstGeom prst="hexagon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dist="254000" blurRad="762000" dir="5400000" sx="100000" sy="100000" kx="0" ky="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 rot="0" flipH="0" flipV="0">
            <a:off x="5098321" y="2591146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14" name="标题 1"/>
          <p:cNvSpPr txBox="1"/>
          <p:nvPr/>
        </p:nvSpPr>
        <p:spPr>
          <a:xfrm rot="0" flipH="0" flipV="0">
            <a:off x="5031986" y="1629288"/>
            <a:ext cx="6120000" cy="8645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深化大湾区布局，拓展市场份额
加强与本地企业合作，提升品牌知名度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3541128" y="2931636"/>
            <a:ext cx="294658" cy="25401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2425922" y="4634590"/>
            <a:ext cx="294658" cy="25401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541128" y="1235966"/>
            <a:ext cx="294658" cy="254016"/>
          </a:xfrm>
          <a:prstGeom prst="hexagon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>
            <a:outerShdw dist="12700" blurRad="38100" dir="5400000" sx="100000" sy="100000" kx="0" ky="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8" name="标题 1"/>
          <p:cNvCxnSpPr/>
          <p:nvPr/>
        </p:nvCxnSpPr>
        <p:spPr>
          <a:xfrm rot="0" flipH="0" flipV="0">
            <a:off x="5098321" y="5933382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19" name="标题 1"/>
          <p:cNvSpPr txBox="1"/>
          <p:nvPr/>
        </p:nvSpPr>
        <p:spPr>
          <a:xfrm rot="0" flipH="0" flipV="0">
            <a:off x="2467460" y="5018456"/>
            <a:ext cx="1310600" cy="651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2467460" y="3189656"/>
            <a:ext cx="1310600" cy="651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2467460" y="1627556"/>
            <a:ext cx="1310600" cy="6514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5032860" y="979856"/>
            <a:ext cx="6123900" cy="51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短期目标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5032860" y="2681656"/>
            <a:ext cx="6123900" cy="51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长期愿景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5032860" y="4383456"/>
            <a:ext cx="6123900" cy="511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战略规划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未来规划</a:t>
            </a:r>
            <a:endParaRPr kumimoji="1" lang="zh-CN" alt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1588474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8572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196132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1" flipV="0">
            <a:off x="1078447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1" flipV="0">
            <a:off x="10884590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1" flipV="0">
            <a:off x="11215063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1" flipV="0">
            <a:off x="11304376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1" flipV="0">
            <a:off x="10353896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1" flipV="0">
            <a:off x="10434265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 flipH="1" flipV="1">
            <a:off x="36597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 flipH="1" flipV="0">
            <a:off x="7089387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730240" y="3086556"/>
            <a:ext cx="5843946" cy="23268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结束页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829799" y="1079151"/>
            <a:ext cx="1696759" cy="2007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CC3E22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05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1" flipV="0">
            <a:off x="11319886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24266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标题 1"/>
          <p:cNvSpPr txBox="1"/>
          <p:nvPr/>
        </p:nvSpPr>
        <p:spPr>
          <a:xfrm rot="0" flipH="1" flipV="0">
            <a:off x="33972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5161071" y="1368413"/>
            <a:ext cx="1062077" cy="651483"/>
          </a:xfrm>
          <a:prstGeom prst="wedgeRoundRectCallout">
            <a:avLst>
              <a:gd name="adj1" fmla="val 36541"/>
              <a:gd name="adj2" fmla="val 74482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5233030" y="1485842"/>
            <a:ext cx="930859" cy="3658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20XX</a:t>
            </a:r>
            <a:endParaRPr kumimoji="1" lang="zh-CN" alt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3" name=""/>
          <p:cNvGrpSpPr/>
          <p:nvPr/>
        </p:nvGrpSpPr>
        <p:grpSpPr>
          <a:xfrm>
            <a:off x="0" y="5899346"/>
            <a:ext cx="12192000" cy="958654"/>
            <a:chOff x="0" y="5899346"/>
            <a:chExt cx="12192000" cy="958654"/>
          </a:xfrm>
        </p:grpSpPr>
        <p:sp>
          <p:nvSpPr>
            <p:cNvPr id="4" name="标题 1"/>
            <p:cNvSpPr txBox="1"/>
            <p:nvPr/>
          </p:nvSpPr>
          <p:spPr>
            <a:xfrm rot="0" flipH="0" flipV="0">
              <a:off x="0" y="5899346"/>
              <a:ext cx="12192000" cy="958654"/>
            </a:xfrm>
            <a:custGeom>
              <a:avLst/>
              <a:gdLst>
                <a:gd name="connsiteX0" fmla="*/ 0 w 12192000"/>
                <a:gd name="connsiteY0" fmla="*/ 0 h 3563982"/>
                <a:gd name="connsiteX1" fmla="*/ 21223 w 12192000"/>
                <a:gd name="connsiteY1" fmla="*/ 27596 h 3563982"/>
                <a:gd name="connsiteX2" fmla="*/ 6096000 w 12192000"/>
                <a:gd name="connsiteY2" fmla="*/ 3055905 h 3563982"/>
                <a:gd name="connsiteX3" fmla="*/ 12170777 w 12192000"/>
                <a:gd name="connsiteY3" fmla="*/ 27596 h 3563982"/>
                <a:gd name="connsiteX4" fmla="*/ 12192000 w 12192000"/>
                <a:gd name="connsiteY4" fmla="*/ 0 h 3563982"/>
                <a:gd name="connsiteX5" fmla="*/ 12192000 w 12192000"/>
                <a:gd name="connsiteY5" fmla="*/ 3563982 h 3563982"/>
                <a:gd name="connsiteX6" fmla="*/ 0 w 12192000"/>
                <a:gd name="connsiteY6" fmla="*/ 3563982 h 3563982"/>
              </a:gdLst>
              <a:rect l="l" t="t" r="r" b="b"/>
              <a:pathLst>
                <a:path w="12192000" h="3563982">
                  <a:moveTo>
                    <a:pt x="0" y="0"/>
                  </a:moveTo>
                  <a:lnTo>
                    <a:pt x="21223" y="27596"/>
                  </a:lnTo>
                  <a:cubicBezTo>
                    <a:pt x="1522464" y="1887950"/>
                    <a:pt x="3688133" y="3055905"/>
                    <a:pt x="6096000" y="3055905"/>
                  </a:cubicBezTo>
                  <a:cubicBezTo>
                    <a:pt x="8503868" y="3055905"/>
                    <a:pt x="10669536" y="1887950"/>
                    <a:pt x="12170777" y="27596"/>
                  </a:cubicBezTo>
                  <a:lnTo>
                    <a:pt x="12192000" y="0"/>
                  </a:lnTo>
                  <a:lnTo>
                    <a:pt x="12192000" y="3563982"/>
                  </a:lnTo>
                  <a:lnTo>
                    <a:pt x="0" y="356398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18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5" name="标题 1"/>
            <p:cNvSpPr txBox="1"/>
            <p:nvPr/>
          </p:nvSpPr>
          <p:spPr>
            <a:xfrm rot="0" flipH="0" flipV="0">
              <a:off x="0" y="6188758"/>
              <a:ext cx="12192000" cy="669242"/>
            </a:xfrm>
            <a:custGeom>
              <a:avLst/>
              <a:gdLst>
                <a:gd name="connsiteX0" fmla="*/ 0 w 12192000"/>
                <a:gd name="connsiteY0" fmla="*/ 0 h 2488036"/>
                <a:gd name="connsiteX1" fmla="*/ 21223 w 12192000"/>
                <a:gd name="connsiteY1" fmla="*/ 18287 h 2488036"/>
                <a:gd name="connsiteX2" fmla="*/ 6096000 w 12192000"/>
                <a:gd name="connsiteY2" fmla="*/ 2025118 h 2488036"/>
                <a:gd name="connsiteX3" fmla="*/ 12170777 w 12192000"/>
                <a:gd name="connsiteY3" fmla="*/ 18287 h 2488036"/>
                <a:gd name="connsiteX4" fmla="*/ 12192000 w 12192000"/>
                <a:gd name="connsiteY4" fmla="*/ 0 h 2488036"/>
                <a:gd name="connsiteX5" fmla="*/ 12192000 w 12192000"/>
                <a:gd name="connsiteY5" fmla="*/ 2488036 h 2488036"/>
                <a:gd name="connsiteX6" fmla="*/ 0 w 12192000"/>
                <a:gd name="connsiteY6" fmla="*/ 2488036 h 2488036"/>
              </a:gdLst>
              <a:rect l="l" t="t" r="r" b="b"/>
              <a:pathLst>
                <a:path w="12192000" h="2488036">
                  <a:moveTo>
                    <a:pt x="0" y="0"/>
                  </a:moveTo>
                  <a:lnTo>
                    <a:pt x="21223" y="18287"/>
                  </a:lnTo>
                  <a:cubicBezTo>
                    <a:pt x="1522464" y="1251126"/>
                    <a:pt x="3688133" y="2025118"/>
                    <a:pt x="6096000" y="2025118"/>
                  </a:cubicBezTo>
                  <a:cubicBezTo>
                    <a:pt x="8503868" y="2025118"/>
                    <a:pt x="10669536" y="1251126"/>
                    <a:pt x="12170777" y="18287"/>
                  </a:cubicBezTo>
                  <a:lnTo>
                    <a:pt x="12192000" y="0"/>
                  </a:lnTo>
                  <a:lnTo>
                    <a:pt x="12192000" y="2488036"/>
                  </a:lnTo>
                  <a:lnTo>
                    <a:pt x="0" y="248803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 w="3175" cap="sq">
              <a:solidFill>
                <a:schemeClr val="accent1">
                  <a:lumMod val="20000"/>
                  <a:lumOff val="80000"/>
                </a:schemeClr>
              </a:solidFill>
              <a:miter/>
            </a:ln>
            <a:effectLst>
              <a:outerShdw dist="38100" blurRad="368300" dir="16200000" sx="100000" sy="100000" kx="0" ky="0" algn="b" rotWithShape="0">
                <a:schemeClr val="accent1">
                  <a:alpha val="26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6" name="标题 1"/>
          <p:cNvSpPr txBox="1"/>
          <p:nvPr/>
        </p:nvSpPr>
        <p:spPr>
          <a:xfrm rot="0" flipH="0" flipV="0">
            <a:off x="977324" y="2052624"/>
            <a:ext cx="10224653" cy="3288308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dist="38100" blurRad="152400" dir="2700000" sx="100000" sy="100000" kx="0" ky="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053586" y="2371052"/>
            <a:ext cx="4072128" cy="4252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>
            <a:outerShdw dist="63500" blurRad="254000" dir="2700000" sx="100000" sy="100000" kx="0" ky="0" algn="tl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076036" y="3214103"/>
            <a:ext cx="10027228" cy="17992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提供详细联系方式，方便客户咨询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076035" y="2371052"/>
            <a:ext cx="10027231" cy="425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地址/电话/官网/二维码</a:t>
            </a:r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 rot="0" flipH="0" flipV="0">
            <a:off x="5768182" y="3048369"/>
            <a:ext cx="642937" cy="0"/>
          </a:xfrm>
          <a:prstGeom prst="line">
            <a:avLst/>
          </a:prstGeom>
          <a:noFill/>
          <a:ln w="6350" cap="rnd">
            <a:solidFill>
              <a:schemeClr val="accent1"/>
            </a:solidFill>
            <a:miter/>
          </a:ln>
        </p:spPr>
      </p:cxnSp>
      <p:sp>
        <p:nvSpPr>
          <p:cNvPr id="11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联系方式</a:t>
            </a:r>
            <a:endParaRPr kumimoji="1" lang="zh-CN" alt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912331" y="1736648"/>
            <a:ext cx="10317644" cy="4102177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5720749" y="1314983"/>
            <a:ext cx="700809" cy="700809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340901" y="2311215"/>
            <a:ext cx="9460505" cy="3890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闽信与您，共筑安全未来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909371" y="1490138"/>
            <a:ext cx="323565" cy="350499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dist="38100" blurRad="50800" dir="2700000" sx="100000" sy="100000" kx="0" ky="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340901" y="2821916"/>
            <a:ext cx="9460505" cy="28121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A3A3A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传达公司理念，增强客户信任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 flipH="0" flipV="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 flipH="0" flipV="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Slogan</a:t>
            </a:r>
            <a:endParaRPr kumimoji="1" lang="zh-CN" alt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2192"/>
            <a:ext cx="12192000" cy="683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rot="0" flipH="1" flipV="0">
            <a:off x="7005412" y="0"/>
            <a:ext cx="3598114" cy="6858000"/>
          </a:xfrm>
          <a:custGeom>
            <a:avLst/>
            <a:gdLst>
              <a:gd name="connsiteX0" fmla="*/ 1613451 w 3598114"/>
              <a:gd name="connsiteY0" fmla="*/ 0 h 6858000"/>
              <a:gd name="connsiteX1" fmla="*/ 3598114 w 3598114"/>
              <a:gd name="connsiteY1" fmla="*/ 0 h 6858000"/>
              <a:gd name="connsiteX2" fmla="*/ 3567664 w 3598114"/>
              <a:gd name="connsiteY2" fmla="*/ 7028 h 6858000"/>
              <a:gd name="connsiteX3" fmla="*/ 917460 w 3598114"/>
              <a:gd name="connsiteY3" fmla="*/ 3429001 h 6858000"/>
              <a:gd name="connsiteX4" fmla="*/ 3567664 w 3598114"/>
              <a:gd name="connsiteY4" fmla="*/ 6850975 h 6858000"/>
              <a:gd name="connsiteX5" fmla="*/ 3598105 w 3598114"/>
              <a:gd name="connsiteY5" fmla="*/ 6858000 h 6858000"/>
              <a:gd name="connsiteX6" fmla="*/ 1613449 w 3598114"/>
              <a:gd name="connsiteY6" fmla="*/ 6858000 h 6858000"/>
              <a:gd name="connsiteX7" fmla="*/ 1458139 w 3598114"/>
              <a:gd name="connsiteY7" fmla="*/ 6723468 h 6858000"/>
              <a:gd name="connsiteX8" fmla="*/ 0 w 3598114"/>
              <a:gd name="connsiteY8" fmla="*/ 3429001 h 6858000"/>
              <a:gd name="connsiteX9" fmla="*/ 1458139 w 3598114"/>
              <a:gd name="connsiteY9" fmla="*/ 134535 h 6858000"/>
            </a:gdLst>
            <a:rect l="l" t="t" r="r" b="b"/>
            <a:pathLst>
              <a:path w="3598114" h="6858000">
                <a:moveTo>
                  <a:pt x="1613451" y="0"/>
                </a:moveTo>
                <a:lnTo>
                  <a:pt x="3598114" y="0"/>
                </a:lnTo>
                <a:lnTo>
                  <a:pt x="3567664" y="7028"/>
                </a:lnTo>
                <a:cubicBezTo>
                  <a:pt x="2043616" y="399148"/>
                  <a:pt x="917460" y="1782561"/>
                  <a:pt x="917460" y="3429001"/>
                </a:cubicBezTo>
                <a:cubicBezTo>
                  <a:pt x="917460" y="5075442"/>
                  <a:pt x="2043616" y="6458854"/>
                  <a:pt x="3567664" y="6850975"/>
                </a:cubicBezTo>
                <a:lnTo>
                  <a:pt x="3598105" y="6858000"/>
                </a:lnTo>
                <a:lnTo>
                  <a:pt x="1613449" y="6858000"/>
                </a:lnTo>
                <a:lnTo>
                  <a:pt x="1458139" y="6723468"/>
                </a:lnTo>
                <a:cubicBezTo>
                  <a:pt x="562373" y="5909316"/>
                  <a:pt x="0" y="4734833"/>
                  <a:pt x="0" y="3429001"/>
                </a:cubicBezTo>
                <a:cubicBezTo>
                  <a:pt x="0" y="2123169"/>
                  <a:pt x="562373" y="948686"/>
                  <a:pt x="1458139" y="1345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665439" y="3676650"/>
            <a:ext cx="7409020" cy="23347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98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848475" y="876300"/>
            <a:ext cx="5257800" cy="52578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71465" y="754133"/>
            <a:ext cx="2324403" cy="288641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055249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155359" y="5975916"/>
            <a:ext cx="152051" cy="17364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24665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713977" y="5975915"/>
            <a:ext cx="173647" cy="17364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1485832" y="5886603"/>
            <a:ext cx="352272" cy="3522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566201" y="5975915"/>
            <a:ext cx="191534" cy="17364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712204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58229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901600" y="4938102"/>
            <a:ext cx="155029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主讲人：AiPPT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3122029" y="49108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3068054" y="4834605"/>
            <a:ext cx="2037038" cy="4839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3247100" y="4938102"/>
            <a:ext cx="1678946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时间：20XX.X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10800000" flipH="0" flipV="1">
            <a:off x="10409152" y="37537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0800000" flipH="0" flipV="0">
            <a:off x="3356362" y="6155206"/>
            <a:ext cx="1746251" cy="665258"/>
          </a:xfrm>
          <a:custGeom>
            <a:avLst/>
            <a:gdLst>
              <a:gd name="connsiteX0" fmla="*/ 85248 w 1746251"/>
              <a:gd name="connsiteY0" fmla="*/ 494762 h 665258"/>
              <a:gd name="connsiteX1" fmla="*/ 0 w 1746251"/>
              <a:gd name="connsiteY1" fmla="*/ 580010 h 665258"/>
              <a:gd name="connsiteX2" fmla="*/ 85248 w 1746251"/>
              <a:gd name="connsiteY2" fmla="*/ 665258 h 665258"/>
              <a:gd name="connsiteX3" fmla="*/ 170496 w 1746251"/>
              <a:gd name="connsiteY3" fmla="*/ 580010 h 665258"/>
              <a:gd name="connsiteX4" fmla="*/ 85248 w 1746251"/>
              <a:gd name="connsiteY4" fmla="*/ 494762 h 665258"/>
              <a:gd name="connsiteX5" fmla="*/ 282218 w 1746251"/>
              <a:gd name="connsiteY5" fmla="*/ 494762 h 665258"/>
              <a:gd name="connsiteX6" fmla="*/ 196970 w 1746251"/>
              <a:gd name="connsiteY6" fmla="*/ 580010 h 665258"/>
              <a:gd name="connsiteX7" fmla="*/ 282218 w 1746251"/>
              <a:gd name="connsiteY7" fmla="*/ 665258 h 665258"/>
              <a:gd name="connsiteX8" fmla="*/ 367466 w 1746251"/>
              <a:gd name="connsiteY8" fmla="*/ 580010 h 665258"/>
              <a:gd name="connsiteX9" fmla="*/ 282218 w 1746251"/>
              <a:gd name="connsiteY9" fmla="*/ 494762 h 665258"/>
              <a:gd name="connsiteX10" fmla="*/ 479187 w 1746251"/>
              <a:gd name="connsiteY10" fmla="*/ 494762 h 665258"/>
              <a:gd name="connsiteX11" fmla="*/ 393939 w 1746251"/>
              <a:gd name="connsiteY11" fmla="*/ 580010 h 665258"/>
              <a:gd name="connsiteX12" fmla="*/ 479187 w 1746251"/>
              <a:gd name="connsiteY12" fmla="*/ 665258 h 665258"/>
              <a:gd name="connsiteX13" fmla="*/ 564435 w 1746251"/>
              <a:gd name="connsiteY13" fmla="*/ 580010 h 665258"/>
              <a:gd name="connsiteX14" fmla="*/ 479187 w 1746251"/>
              <a:gd name="connsiteY14" fmla="*/ 494762 h 665258"/>
              <a:gd name="connsiteX15" fmla="*/ 676157 w 1746251"/>
              <a:gd name="connsiteY15" fmla="*/ 494762 h 665258"/>
              <a:gd name="connsiteX16" fmla="*/ 590909 w 1746251"/>
              <a:gd name="connsiteY16" fmla="*/ 580010 h 665258"/>
              <a:gd name="connsiteX17" fmla="*/ 676157 w 1746251"/>
              <a:gd name="connsiteY17" fmla="*/ 665258 h 665258"/>
              <a:gd name="connsiteX18" fmla="*/ 761405 w 1746251"/>
              <a:gd name="connsiteY18" fmla="*/ 580010 h 665258"/>
              <a:gd name="connsiteX19" fmla="*/ 676157 w 1746251"/>
              <a:gd name="connsiteY19" fmla="*/ 494762 h 665258"/>
              <a:gd name="connsiteX20" fmla="*/ 873126 w 1746251"/>
              <a:gd name="connsiteY20" fmla="*/ 494762 h 665258"/>
              <a:gd name="connsiteX21" fmla="*/ 787878 w 1746251"/>
              <a:gd name="connsiteY21" fmla="*/ 580010 h 665258"/>
              <a:gd name="connsiteX22" fmla="*/ 873126 w 1746251"/>
              <a:gd name="connsiteY22" fmla="*/ 665258 h 665258"/>
              <a:gd name="connsiteX23" fmla="*/ 958374 w 1746251"/>
              <a:gd name="connsiteY23" fmla="*/ 580010 h 665258"/>
              <a:gd name="connsiteX24" fmla="*/ 873126 w 1746251"/>
              <a:gd name="connsiteY24" fmla="*/ 494762 h 665258"/>
              <a:gd name="connsiteX25" fmla="*/ 1070096 w 1746251"/>
              <a:gd name="connsiteY25" fmla="*/ 494762 h 665258"/>
              <a:gd name="connsiteX26" fmla="*/ 984848 w 1746251"/>
              <a:gd name="connsiteY26" fmla="*/ 580010 h 665258"/>
              <a:gd name="connsiteX27" fmla="*/ 1070096 w 1746251"/>
              <a:gd name="connsiteY27" fmla="*/ 665258 h 665258"/>
              <a:gd name="connsiteX28" fmla="*/ 1155344 w 1746251"/>
              <a:gd name="connsiteY28" fmla="*/ 580010 h 665258"/>
              <a:gd name="connsiteX29" fmla="*/ 1070096 w 1746251"/>
              <a:gd name="connsiteY29" fmla="*/ 494762 h 665258"/>
              <a:gd name="connsiteX30" fmla="*/ 1267064 w 1746251"/>
              <a:gd name="connsiteY30" fmla="*/ 494762 h 665258"/>
              <a:gd name="connsiteX31" fmla="*/ 1181816 w 1746251"/>
              <a:gd name="connsiteY31" fmla="*/ 580010 h 665258"/>
              <a:gd name="connsiteX32" fmla="*/ 1267064 w 1746251"/>
              <a:gd name="connsiteY32" fmla="*/ 665258 h 665258"/>
              <a:gd name="connsiteX33" fmla="*/ 1352312 w 1746251"/>
              <a:gd name="connsiteY33" fmla="*/ 580010 h 665258"/>
              <a:gd name="connsiteX34" fmla="*/ 1267064 w 1746251"/>
              <a:gd name="connsiteY34" fmla="*/ 494762 h 665258"/>
              <a:gd name="connsiteX35" fmla="*/ 1464034 w 1746251"/>
              <a:gd name="connsiteY35" fmla="*/ 494762 h 665258"/>
              <a:gd name="connsiteX36" fmla="*/ 1378786 w 1746251"/>
              <a:gd name="connsiteY36" fmla="*/ 580010 h 665258"/>
              <a:gd name="connsiteX37" fmla="*/ 1464034 w 1746251"/>
              <a:gd name="connsiteY37" fmla="*/ 665258 h 665258"/>
              <a:gd name="connsiteX38" fmla="*/ 1549282 w 1746251"/>
              <a:gd name="connsiteY38" fmla="*/ 580010 h 665258"/>
              <a:gd name="connsiteX39" fmla="*/ 1464034 w 1746251"/>
              <a:gd name="connsiteY39" fmla="*/ 494762 h 665258"/>
              <a:gd name="connsiteX40" fmla="*/ 1661003 w 1746251"/>
              <a:gd name="connsiteY40" fmla="*/ 494762 h 665258"/>
              <a:gd name="connsiteX41" fmla="*/ 1575755 w 1746251"/>
              <a:gd name="connsiteY41" fmla="*/ 580010 h 665258"/>
              <a:gd name="connsiteX42" fmla="*/ 1661003 w 1746251"/>
              <a:gd name="connsiteY42" fmla="*/ 665258 h 665258"/>
              <a:gd name="connsiteX43" fmla="*/ 1746251 w 1746251"/>
              <a:gd name="connsiteY43" fmla="*/ 580010 h 665258"/>
              <a:gd name="connsiteX44" fmla="*/ 1661003 w 1746251"/>
              <a:gd name="connsiteY44" fmla="*/ 494762 h 665258"/>
              <a:gd name="connsiteX45" fmla="*/ 85248 w 1746251"/>
              <a:gd name="connsiteY45" fmla="*/ 247380 h 665258"/>
              <a:gd name="connsiteX46" fmla="*/ 0 w 1746251"/>
              <a:gd name="connsiteY46" fmla="*/ 332628 h 665258"/>
              <a:gd name="connsiteX47" fmla="*/ 85248 w 1746251"/>
              <a:gd name="connsiteY47" fmla="*/ 417876 h 665258"/>
              <a:gd name="connsiteX48" fmla="*/ 170496 w 1746251"/>
              <a:gd name="connsiteY48" fmla="*/ 332628 h 665258"/>
              <a:gd name="connsiteX49" fmla="*/ 85248 w 1746251"/>
              <a:gd name="connsiteY49" fmla="*/ 247380 h 665258"/>
              <a:gd name="connsiteX50" fmla="*/ 282218 w 1746251"/>
              <a:gd name="connsiteY50" fmla="*/ 247380 h 665258"/>
              <a:gd name="connsiteX51" fmla="*/ 196970 w 1746251"/>
              <a:gd name="connsiteY51" fmla="*/ 332628 h 665258"/>
              <a:gd name="connsiteX52" fmla="*/ 282218 w 1746251"/>
              <a:gd name="connsiteY52" fmla="*/ 417876 h 665258"/>
              <a:gd name="connsiteX53" fmla="*/ 367466 w 1746251"/>
              <a:gd name="connsiteY53" fmla="*/ 332628 h 665258"/>
              <a:gd name="connsiteX54" fmla="*/ 282218 w 1746251"/>
              <a:gd name="connsiteY54" fmla="*/ 247380 h 665258"/>
              <a:gd name="connsiteX55" fmla="*/ 479187 w 1746251"/>
              <a:gd name="connsiteY55" fmla="*/ 247380 h 665258"/>
              <a:gd name="connsiteX56" fmla="*/ 393939 w 1746251"/>
              <a:gd name="connsiteY56" fmla="*/ 332628 h 665258"/>
              <a:gd name="connsiteX57" fmla="*/ 479187 w 1746251"/>
              <a:gd name="connsiteY57" fmla="*/ 417876 h 665258"/>
              <a:gd name="connsiteX58" fmla="*/ 564435 w 1746251"/>
              <a:gd name="connsiteY58" fmla="*/ 332628 h 665258"/>
              <a:gd name="connsiteX59" fmla="*/ 479187 w 1746251"/>
              <a:gd name="connsiteY59" fmla="*/ 247380 h 665258"/>
              <a:gd name="connsiteX60" fmla="*/ 676157 w 1746251"/>
              <a:gd name="connsiteY60" fmla="*/ 247380 h 665258"/>
              <a:gd name="connsiteX61" fmla="*/ 590909 w 1746251"/>
              <a:gd name="connsiteY61" fmla="*/ 332628 h 665258"/>
              <a:gd name="connsiteX62" fmla="*/ 676157 w 1746251"/>
              <a:gd name="connsiteY62" fmla="*/ 417876 h 665258"/>
              <a:gd name="connsiteX63" fmla="*/ 761405 w 1746251"/>
              <a:gd name="connsiteY63" fmla="*/ 332628 h 665258"/>
              <a:gd name="connsiteX64" fmla="*/ 676157 w 1746251"/>
              <a:gd name="connsiteY64" fmla="*/ 247380 h 665258"/>
              <a:gd name="connsiteX65" fmla="*/ 873126 w 1746251"/>
              <a:gd name="connsiteY65" fmla="*/ 247380 h 665258"/>
              <a:gd name="connsiteX66" fmla="*/ 787878 w 1746251"/>
              <a:gd name="connsiteY66" fmla="*/ 332628 h 665258"/>
              <a:gd name="connsiteX67" fmla="*/ 873126 w 1746251"/>
              <a:gd name="connsiteY67" fmla="*/ 417876 h 665258"/>
              <a:gd name="connsiteX68" fmla="*/ 958374 w 1746251"/>
              <a:gd name="connsiteY68" fmla="*/ 332628 h 665258"/>
              <a:gd name="connsiteX69" fmla="*/ 873126 w 1746251"/>
              <a:gd name="connsiteY69" fmla="*/ 247380 h 665258"/>
              <a:gd name="connsiteX70" fmla="*/ 1070096 w 1746251"/>
              <a:gd name="connsiteY70" fmla="*/ 247380 h 665258"/>
              <a:gd name="connsiteX71" fmla="*/ 984848 w 1746251"/>
              <a:gd name="connsiteY71" fmla="*/ 332628 h 665258"/>
              <a:gd name="connsiteX72" fmla="*/ 1070096 w 1746251"/>
              <a:gd name="connsiteY72" fmla="*/ 417876 h 665258"/>
              <a:gd name="connsiteX73" fmla="*/ 1155344 w 1746251"/>
              <a:gd name="connsiteY73" fmla="*/ 332628 h 665258"/>
              <a:gd name="connsiteX74" fmla="*/ 1070096 w 1746251"/>
              <a:gd name="connsiteY74" fmla="*/ 247380 h 665258"/>
              <a:gd name="connsiteX75" fmla="*/ 1267064 w 1746251"/>
              <a:gd name="connsiteY75" fmla="*/ 247380 h 665258"/>
              <a:gd name="connsiteX76" fmla="*/ 1181816 w 1746251"/>
              <a:gd name="connsiteY76" fmla="*/ 332628 h 665258"/>
              <a:gd name="connsiteX77" fmla="*/ 1267064 w 1746251"/>
              <a:gd name="connsiteY77" fmla="*/ 417876 h 665258"/>
              <a:gd name="connsiteX78" fmla="*/ 1352312 w 1746251"/>
              <a:gd name="connsiteY78" fmla="*/ 332628 h 665258"/>
              <a:gd name="connsiteX79" fmla="*/ 1267064 w 1746251"/>
              <a:gd name="connsiteY79" fmla="*/ 247380 h 665258"/>
              <a:gd name="connsiteX80" fmla="*/ 1464034 w 1746251"/>
              <a:gd name="connsiteY80" fmla="*/ 247380 h 665258"/>
              <a:gd name="connsiteX81" fmla="*/ 1378786 w 1746251"/>
              <a:gd name="connsiteY81" fmla="*/ 332628 h 665258"/>
              <a:gd name="connsiteX82" fmla="*/ 1464034 w 1746251"/>
              <a:gd name="connsiteY82" fmla="*/ 417876 h 665258"/>
              <a:gd name="connsiteX83" fmla="*/ 1549282 w 1746251"/>
              <a:gd name="connsiteY83" fmla="*/ 332628 h 665258"/>
              <a:gd name="connsiteX84" fmla="*/ 1464034 w 1746251"/>
              <a:gd name="connsiteY84" fmla="*/ 247380 h 665258"/>
              <a:gd name="connsiteX85" fmla="*/ 1661003 w 1746251"/>
              <a:gd name="connsiteY85" fmla="*/ 247380 h 665258"/>
              <a:gd name="connsiteX86" fmla="*/ 1575755 w 1746251"/>
              <a:gd name="connsiteY86" fmla="*/ 332628 h 665258"/>
              <a:gd name="connsiteX87" fmla="*/ 1661003 w 1746251"/>
              <a:gd name="connsiteY87" fmla="*/ 417876 h 665258"/>
              <a:gd name="connsiteX88" fmla="*/ 1746251 w 1746251"/>
              <a:gd name="connsiteY88" fmla="*/ 332628 h 665258"/>
              <a:gd name="connsiteX89" fmla="*/ 1661003 w 1746251"/>
              <a:gd name="connsiteY89" fmla="*/ 247380 h 665258"/>
              <a:gd name="connsiteX90" fmla="*/ 85248 w 1746251"/>
              <a:gd name="connsiteY90" fmla="*/ 0 h 665258"/>
              <a:gd name="connsiteX91" fmla="*/ 0 w 1746251"/>
              <a:gd name="connsiteY91" fmla="*/ 85248 h 665258"/>
              <a:gd name="connsiteX92" fmla="*/ 85248 w 1746251"/>
              <a:gd name="connsiteY92" fmla="*/ 170496 h 665258"/>
              <a:gd name="connsiteX93" fmla="*/ 170496 w 1746251"/>
              <a:gd name="connsiteY93" fmla="*/ 85248 h 665258"/>
              <a:gd name="connsiteX94" fmla="*/ 85248 w 1746251"/>
              <a:gd name="connsiteY94" fmla="*/ 0 h 665258"/>
              <a:gd name="connsiteX95" fmla="*/ 282218 w 1746251"/>
              <a:gd name="connsiteY95" fmla="*/ 0 h 665258"/>
              <a:gd name="connsiteX96" fmla="*/ 196970 w 1746251"/>
              <a:gd name="connsiteY96" fmla="*/ 85248 h 665258"/>
              <a:gd name="connsiteX97" fmla="*/ 282218 w 1746251"/>
              <a:gd name="connsiteY97" fmla="*/ 170496 h 665258"/>
              <a:gd name="connsiteX98" fmla="*/ 367466 w 1746251"/>
              <a:gd name="connsiteY98" fmla="*/ 85248 h 665258"/>
              <a:gd name="connsiteX99" fmla="*/ 282218 w 1746251"/>
              <a:gd name="connsiteY99" fmla="*/ 0 h 665258"/>
              <a:gd name="connsiteX100" fmla="*/ 479187 w 1746251"/>
              <a:gd name="connsiteY100" fmla="*/ 0 h 665258"/>
              <a:gd name="connsiteX101" fmla="*/ 393939 w 1746251"/>
              <a:gd name="connsiteY101" fmla="*/ 85248 h 665258"/>
              <a:gd name="connsiteX102" fmla="*/ 479187 w 1746251"/>
              <a:gd name="connsiteY102" fmla="*/ 170496 h 665258"/>
              <a:gd name="connsiteX103" fmla="*/ 564435 w 1746251"/>
              <a:gd name="connsiteY103" fmla="*/ 85248 h 665258"/>
              <a:gd name="connsiteX104" fmla="*/ 479187 w 1746251"/>
              <a:gd name="connsiteY104" fmla="*/ 0 h 665258"/>
              <a:gd name="connsiteX105" fmla="*/ 676157 w 1746251"/>
              <a:gd name="connsiteY105" fmla="*/ 0 h 665258"/>
              <a:gd name="connsiteX106" fmla="*/ 590909 w 1746251"/>
              <a:gd name="connsiteY106" fmla="*/ 85248 h 665258"/>
              <a:gd name="connsiteX107" fmla="*/ 676157 w 1746251"/>
              <a:gd name="connsiteY107" fmla="*/ 170496 h 665258"/>
              <a:gd name="connsiteX108" fmla="*/ 761405 w 1746251"/>
              <a:gd name="connsiteY108" fmla="*/ 85248 h 665258"/>
              <a:gd name="connsiteX109" fmla="*/ 676157 w 1746251"/>
              <a:gd name="connsiteY109" fmla="*/ 0 h 665258"/>
              <a:gd name="connsiteX110" fmla="*/ 873126 w 1746251"/>
              <a:gd name="connsiteY110" fmla="*/ 0 h 665258"/>
              <a:gd name="connsiteX111" fmla="*/ 787878 w 1746251"/>
              <a:gd name="connsiteY111" fmla="*/ 85248 h 665258"/>
              <a:gd name="connsiteX112" fmla="*/ 873126 w 1746251"/>
              <a:gd name="connsiteY112" fmla="*/ 170496 h 665258"/>
              <a:gd name="connsiteX113" fmla="*/ 958374 w 1746251"/>
              <a:gd name="connsiteY113" fmla="*/ 85248 h 665258"/>
              <a:gd name="connsiteX114" fmla="*/ 873126 w 1746251"/>
              <a:gd name="connsiteY114" fmla="*/ 0 h 665258"/>
              <a:gd name="connsiteX115" fmla="*/ 1070096 w 1746251"/>
              <a:gd name="connsiteY115" fmla="*/ 0 h 665258"/>
              <a:gd name="connsiteX116" fmla="*/ 984848 w 1746251"/>
              <a:gd name="connsiteY116" fmla="*/ 85248 h 665258"/>
              <a:gd name="connsiteX117" fmla="*/ 1070096 w 1746251"/>
              <a:gd name="connsiteY117" fmla="*/ 170496 h 665258"/>
              <a:gd name="connsiteX118" fmla="*/ 1155344 w 1746251"/>
              <a:gd name="connsiteY118" fmla="*/ 85248 h 665258"/>
              <a:gd name="connsiteX119" fmla="*/ 1070096 w 1746251"/>
              <a:gd name="connsiteY119" fmla="*/ 0 h 665258"/>
              <a:gd name="connsiteX120" fmla="*/ 1267064 w 1746251"/>
              <a:gd name="connsiteY120" fmla="*/ 0 h 665258"/>
              <a:gd name="connsiteX121" fmla="*/ 1181816 w 1746251"/>
              <a:gd name="connsiteY121" fmla="*/ 85248 h 665258"/>
              <a:gd name="connsiteX122" fmla="*/ 1267064 w 1746251"/>
              <a:gd name="connsiteY122" fmla="*/ 170496 h 665258"/>
              <a:gd name="connsiteX123" fmla="*/ 1352312 w 1746251"/>
              <a:gd name="connsiteY123" fmla="*/ 85248 h 665258"/>
              <a:gd name="connsiteX124" fmla="*/ 1267064 w 1746251"/>
              <a:gd name="connsiteY124" fmla="*/ 0 h 665258"/>
              <a:gd name="connsiteX125" fmla="*/ 1464034 w 1746251"/>
              <a:gd name="connsiteY125" fmla="*/ 0 h 665258"/>
              <a:gd name="connsiteX126" fmla="*/ 1378786 w 1746251"/>
              <a:gd name="connsiteY126" fmla="*/ 85248 h 665258"/>
              <a:gd name="connsiteX127" fmla="*/ 1464034 w 1746251"/>
              <a:gd name="connsiteY127" fmla="*/ 170496 h 665258"/>
              <a:gd name="connsiteX128" fmla="*/ 1549282 w 1746251"/>
              <a:gd name="connsiteY128" fmla="*/ 85248 h 665258"/>
              <a:gd name="connsiteX129" fmla="*/ 1464034 w 1746251"/>
              <a:gd name="connsiteY129" fmla="*/ 0 h 665258"/>
              <a:gd name="connsiteX130" fmla="*/ 1661003 w 1746251"/>
              <a:gd name="connsiteY130" fmla="*/ 0 h 665258"/>
              <a:gd name="connsiteX131" fmla="*/ 1575755 w 1746251"/>
              <a:gd name="connsiteY131" fmla="*/ 85248 h 665258"/>
              <a:gd name="connsiteX132" fmla="*/ 1661003 w 1746251"/>
              <a:gd name="connsiteY132" fmla="*/ 170496 h 665258"/>
              <a:gd name="connsiteX133" fmla="*/ 1746251 w 1746251"/>
              <a:gd name="connsiteY133" fmla="*/ 85248 h 665258"/>
              <a:gd name="connsiteX134" fmla="*/ 1661003 w 1746251"/>
              <a:gd name="connsiteY134" fmla="*/ 0 h 665258"/>
            </a:gdLst>
            <a:rect l="l" t="t" r="r" b="b"/>
            <a:pathLst>
              <a:path w="1746251" h="665258">
                <a:moveTo>
                  <a:pt x="85248" y="494762"/>
                </a:moveTo>
                <a:cubicBezTo>
                  <a:pt x="38167" y="494762"/>
                  <a:pt x="0" y="532929"/>
                  <a:pt x="0" y="580010"/>
                </a:cubicBezTo>
                <a:cubicBezTo>
                  <a:pt x="0" y="627091"/>
                  <a:pt x="38167" y="665258"/>
                  <a:pt x="85248" y="665258"/>
                </a:cubicBezTo>
                <a:cubicBezTo>
                  <a:pt x="132329" y="665258"/>
                  <a:pt x="170496" y="627091"/>
                  <a:pt x="170496" y="580010"/>
                </a:cubicBezTo>
                <a:cubicBezTo>
                  <a:pt x="170496" y="532929"/>
                  <a:pt x="132329" y="494762"/>
                  <a:pt x="85248" y="494762"/>
                </a:cubicBezTo>
                <a:close/>
                <a:moveTo>
                  <a:pt x="282218" y="494762"/>
                </a:moveTo>
                <a:cubicBezTo>
                  <a:pt x="235137" y="494762"/>
                  <a:pt x="196970" y="532929"/>
                  <a:pt x="196970" y="580010"/>
                </a:cubicBezTo>
                <a:cubicBezTo>
                  <a:pt x="196970" y="627091"/>
                  <a:pt x="235137" y="665258"/>
                  <a:pt x="282218" y="665258"/>
                </a:cubicBezTo>
                <a:cubicBezTo>
                  <a:pt x="329299" y="665258"/>
                  <a:pt x="367466" y="627091"/>
                  <a:pt x="367466" y="580010"/>
                </a:cubicBezTo>
                <a:cubicBezTo>
                  <a:pt x="367466" y="532929"/>
                  <a:pt x="329299" y="494762"/>
                  <a:pt x="282218" y="494762"/>
                </a:cubicBezTo>
                <a:close/>
                <a:moveTo>
                  <a:pt x="479187" y="494762"/>
                </a:moveTo>
                <a:cubicBezTo>
                  <a:pt x="432106" y="494762"/>
                  <a:pt x="393939" y="532929"/>
                  <a:pt x="393939" y="580010"/>
                </a:cubicBezTo>
                <a:cubicBezTo>
                  <a:pt x="393939" y="627091"/>
                  <a:pt x="432106" y="665258"/>
                  <a:pt x="479187" y="665258"/>
                </a:cubicBezTo>
                <a:cubicBezTo>
                  <a:pt x="526268" y="665258"/>
                  <a:pt x="564435" y="627091"/>
                  <a:pt x="564435" y="580010"/>
                </a:cubicBezTo>
                <a:cubicBezTo>
                  <a:pt x="564435" y="532929"/>
                  <a:pt x="526268" y="494762"/>
                  <a:pt x="479187" y="494762"/>
                </a:cubicBezTo>
                <a:close/>
                <a:moveTo>
                  <a:pt x="676157" y="494762"/>
                </a:moveTo>
                <a:cubicBezTo>
                  <a:pt x="629076" y="494762"/>
                  <a:pt x="590909" y="532929"/>
                  <a:pt x="590909" y="580010"/>
                </a:cubicBezTo>
                <a:cubicBezTo>
                  <a:pt x="590909" y="627091"/>
                  <a:pt x="629076" y="665258"/>
                  <a:pt x="676157" y="665258"/>
                </a:cubicBezTo>
                <a:cubicBezTo>
                  <a:pt x="723238" y="665258"/>
                  <a:pt x="761405" y="627091"/>
                  <a:pt x="761405" y="580010"/>
                </a:cubicBezTo>
                <a:cubicBezTo>
                  <a:pt x="761405" y="532929"/>
                  <a:pt x="723238" y="494762"/>
                  <a:pt x="676157" y="494762"/>
                </a:cubicBezTo>
                <a:close/>
                <a:moveTo>
                  <a:pt x="873126" y="494762"/>
                </a:moveTo>
                <a:cubicBezTo>
                  <a:pt x="826045" y="494762"/>
                  <a:pt x="787878" y="532929"/>
                  <a:pt x="787878" y="580010"/>
                </a:cubicBezTo>
                <a:cubicBezTo>
                  <a:pt x="787878" y="627091"/>
                  <a:pt x="826045" y="665258"/>
                  <a:pt x="873126" y="665258"/>
                </a:cubicBezTo>
                <a:cubicBezTo>
                  <a:pt x="920207" y="665258"/>
                  <a:pt x="958374" y="627091"/>
                  <a:pt x="958374" y="580010"/>
                </a:cubicBezTo>
                <a:cubicBezTo>
                  <a:pt x="958374" y="532929"/>
                  <a:pt x="920207" y="494762"/>
                  <a:pt x="873126" y="494762"/>
                </a:cubicBezTo>
                <a:close/>
                <a:moveTo>
                  <a:pt x="1070096" y="494762"/>
                </a:moveTo>
                <a:cubicBezTo>
                  <a:pt x="1023015" y="494762"/>
                  <a:pt x="984848" y="532929"/>
                  <a:pt x="984848" y="580010"/>
                </a:cubicBezTo>
                <a:cubicBezTo>
                  <a:pt x="984848" y="627091"/>
                  <a:pt x="1023015" y="665258"/>
                  <a:pt x="1070096" y="665258"/>
                </a:cubicBezTo>
                <a:cubicBezTo>
                  <a:pt x="1117177" y="665258"/>
                  <a:pt x="1155344" y="627091"/>
                  <a:pt x="1155344" y="580010"/>
                </a:cubicBezTo>
                <a:cubicBezTo>
                  <a:pt x="1155344" y="532929"/>
                  <a:pt x="1117177" y="494762"/>
                  <a:pt x="1070096" y="494762"/>
                </a:cubicBezTo>
                <a:close/>
                <a:moveTo>
                  <a:pt x="1267064" y="494762"/>
                </a:moveTo>
                <a:cubicBezTo>
                  <a:pt x="1219983" y="494762"/>
                  <a:pt x="1181816" y="532929"/>
                  <a:pt x="1181816" y="580010"/>
                </a:cubicBezTo>
                <a:cubicBezTo>
                  <a:pt x="1181816" y="627091"/>
                  <a:pt x="1219983" y="665258"/>
                  <a:pt x="1267064" y="665258"/>
                </a:cubicBezTo>
                <a:cubicBezTo>
                  <a:pt x="1314145" y="665258"/>
                  <a:pt x="1352312" y="627091"/>
                  <a:pt x="1352312" y="580010"/>
                </a:cubicBezTo>
                <a:cubicBezTo>
                  <a:pt x="1352312" y="532929"/>
                  <a:pt x="1314145" y="494762"/>
                  <a:pt x="1267064" y="494762"/>
                </a:cubicBezTo>
                <a:close/>
                <a:moveTo>
                  <a:pt x="1464034" y="494762"/>
                </a:moveTo>
                <a:cubicBezTo>
                  <a:pt x="1416953" y="494762"/>
                  <a:pt x="1378786" y="532929"/>
                  <a:pt x="1378786" y="580010"/>
                </a:cubicBezTo>
                <a:cubicBezTo>
                  <a:pt x="1378786" y="627091"/>
                  <a:pt x="1416953" y="665258"/>
                  <a:pt x="1464034" y="665258"/>
                </a:cubicBezTo>
                <a:cubicBezTo>
                  <a:pt x="1511115" y="665258"/>
                  <a:pt x="1549282" y="627091"/>
                  <a:pt x="1549282" y="580010"/>
                </a:cubicBezTo>
                <a:cubicBezTo>
                  <a:pt x="1549282" y="532929"/>
                  <a:pt x="1511115" y="494762"/>
                  <a:pt x="1464034" y="494762"/>
                </a:cubicBezTo>
                <a:close/>
                <a:moveTo>
                  <a:pt x="1661003" y="494762"/>
                </a:moveTo>
                <a:cubicBezTo>
                  <a:pt x="1613922" y="494762"/>
                  <a:pt x="1575755" y="532929"/>
                  <a:pt x="1575755" y="580010"/>
                </a:cubicBezTo>
                <a:cubicBezTo>
                  <a:pt x="1575755" y="627091"/>
                  <a:pt x="1613922" y="665258"/>
                  <a:pt x="1661003" y="665258"/>
                </a:cubicBezTo>
                <a:cubicBezTo>
                  <a:pt x="1708084" y="665258"/>
                  <a:pt x="1746251" y="627091"/>
                  <a:pt x="1746251" y="580010"/>
                </a:cubicBezTo>
                <a:cubicBezTo>
                  <a:pt x="1746251" y="532929"/>
                  <a:pt x="1708084" y="494762"/>
                  <a:pt x="1661003" y="494762"/>
                </a:cubicBezTo>
                <a:close/>
                <a:moveTo>
                  <a:pt x="85248" y="247380"/>
                </a:moveTo>
                <a:cubicBezTo>
                  <a:pt x="38167" y="247380"/>
                  <a:pt x="0" y="285547"/>
                  <a:pt x="0" y="332628"/>
                </a:cubicBezTo>
                <a:cubicBezTo>
                  <a:pt x="0" y="379709"/>
                  <a:pt x="38167" y="417876"/>
                  <a:pt x="85248" y="417876"/>
                </a:cubicBezTo>
                <a:cubicBezTo>
                  <a:pt x="132329" y="417876"/>
                  <a:pt x="170496" y="379709"/>
                  <a:pt x="170496" y="332628"/>
                </a:cubicBezTo>
                <a:cubicBezTo>
                  <a:pt x="170496" y="285547"/>
                  <a:pt x="132329" y="247380"/>
                  <a:pt x="85248" y="247380"/>
                </a:cubicBezTo>
                <a:close/>
                <a:moveTo>
                  <a:pt x="282218" y="247380"/>
                </a:moveTo>
                <a:cubicBezTo>
                  <a:pt x="235137" y="247380"/>
                  <a:pt x="196970" y="285547"/>
                  <a:pt x="196970" y="332628"/>
                </a:cubicBezTo>
                <a:cubicBezTo>
                  <a:pt x="196970" y="379709"/>
                  <a:pt x="235137" y="417876"/>
                  <a:pt x="282218" y="417876"/>
                </a:cubicBezTo>
                <a:cubicBezTo>
                  <a:pt x="329299" y="417876"/>
                  <a:pt x="367466" y="379709"/>
                  <a:pt x="367466" y="332628"/>
                </a:cubicBezTo>
                <a:cubicBezTo>
                  <a:pt x="367466" y="285547"/>
                  <a:pt x="329299" y="247380"/>
                  <a:pt x="282218" y="247380"/>
                </a:cubicBezTo>
                <a:close/>
                <a:moveTo>
                  <a:pt x="479187" y="247380"/>
                </a:moveTo>
                <a:cubicBezTo>
                  <a:pt x="432106" y="247380"/>
                  <a:pt x="393939" y="285547"/>
                  <a:pt x="393939" y="332628"/>
                </a:cubicBezTo>
                <a:cubicBezTo>
                  <a:pt x="393939" y="379709"/>
                  <a:pt x="432106" y="417876"/>
                  <a:pt x="479187" y="417876"/>
                </a:cubicBezTo>
                <a:cubicBezTo>
                  <a:pt x="526268" y="417876"/>
                  <a:pt x="564435" y="379709"/>
                  <a:pt x="564435" y="332628"/>
                </a:cubicBezTo>
                <a:cubicBezTo>
                  <a:pt x="564435" y="285547"/>
                  <a:pt x="526268" y="247380"/>
                  <a:pt x="479187" y="247380"/>
                </a:cubicBezTo>
                <a:close/>
                <a:moveTo>
                  <a:pt x="676157" y="247380"/>
                </a:moveTo>
                <a:cubicBezTo>
                  <a:pt x="629076" y="247380"/>
                  <a:pt x="590909" y="285547"/>
                  <a:pt x="590909" y="332628"/>
                </a:cubicBezTo>
                <a:cubicBezTo>
                  <a:pt x="590909" y="379709"/>
                  <a:pt x="629076" y="417876"/>
                  <a:pt x="676157" y="417876"/>
                </a:cubicBezTo>
                <a:cubicBezTo>
                  <a:pt x="723238" y="417876"/>
                  <a:pt x="761405" y="379709"/>
                  <a:pt x="761405" y="332628"/>
                </a:cubicBezTo>
                <a:cubicBezTo>
                  <a:pt x="761405" y="285547"/>
                  <a:pt x="723238" y="247380"/>
                  <a:pt x="676157" y="247380"/>
                </a:cubicBezTo>
                <a:close/>
                <a:moveTo>
                  <a:pt x="873126" y="247380"/>
                </a:moveTo>
                <a:cubicBezTo>
                  <a:pt x="826045" y="247380"/>
                  <a:pt x="787878" y="285547"/>
                  <a:pt x="787878" y="332628"/>
                </a:cubicBezTo>
                <a:cubicBezTo>
                  <a:pt x="787878" y="379709"/>
                  <a:pt x="826045" y="417876"/>
                  <a:pt x="873126" y="417876"/>
                </a:cubicBezTo>
                <a:cubicBezTo>
                  <a:pt x="920207" y="417876"/>
                  <a:pt x="958374" y="379709"/>
                  <a:pt x="958374" y="332628"/>
                </a:cubicBezTo>
                <a:cubicBezTo>
                  <a:pt x="958374" y="285547"/>
                  <a:pt x="920207" y="247380"/>
                  <a:pt x="873126" y="247380"/>
                </a:cubicBezTo>
                <a:close/>
                <a:moveTo>
                  <a:pt x="1070096" y="247380"/>
                </a:moveTo>
                <a:cubicBezTo>
                  <a:pt x="1023015" y="247380"/>
                  <a:pt x="984848" y="285547"/>
                  <a:pt x="984848" y="332628"/>
                </a:cubicBezTo>
                <a:cubicBezTo>
                  <a:pt x="984848" y="379709"/>
                  <a:pt x="1023015" y="417876"/>
                  <a:pt x="1070096" y="417876"/>
                </a:cubicBezTo>
                <a:cubicBezTo>
                  <a:pt x="1117177" y="417876"/>
                  <a:pt x="1155344" y="379709"/>
                  <a:pt x="1155344" y="332628"/>
                </a:cubicBezTo>
                <a:cubicBezTo>
                  <a:pt x="1155344" y="285547"/>
                  <a:pt x="1117177" y="247380"/>
                  <a:pt x="1070096" y="247380"/>
                </a:cubicBezTo>
                <a:close/>
                <a:moveTo>
                  <a:pt x="1267064" y="247380"/>
                </a:moveTo>
                <a:cubicBezTo>
                  <a:pt x="1219983" y="247380"/>
                  <a:pt x="1181816" y="285547"/>
                  <a:pt x="1181816" y="332628"/>
                </a:cubicBezTo>
                <a:cubicBezTo>
                  <a:pt x="1181816" y="379709"/>
                  <a:pt x="1219983" y="417876"/>
                  <a:pt x="1267064" y="417876"/>
                </a:cubicBezTo>
                <a:cubicBezTo>
                  <a:pt x="1314145" y="417876"/>
                  <a:pt x="1352312" y="379709"/>
                  <a:pt x="1352312" y="332628"/>
                </a:cubicBezTo>
                <a:cubicBezTo>
                  <a:pt x="1352312" y="285547"/>
                  <a:pt x="1314145" y="247380"/>
                  <a:pt x="1267064" y="247380"/>
                </a:cubicBezTo>
                <a:close/>
                <a:moveTo>
                  <a:pt x="1464034" y="247380"/>
                </a:moveTo>
                <a:cubicBezTo>
                  <a:pt x="1416953" y="247380"/>
                  <a:pt x="1378786" y="285547"/>
                  <a:pt x="1378786" y="332628"/>
                </a:cubicBezTo>
                <a:cubicBezTo>
                  <a:pt x="1378786" y="379709"/>
                  <a:pt x="1416953" y="417876"/>
                  <a:pt x="1464034" y="417876"/>
                </a:cubicBezTo>
                <a:cubicBezTo>
                  <a:pt x="1511115" y="417876"/>
                  <a:pt x="1549282" y="379709"/>
                  <a:pt x="1549282" y="332628"/>
                </a:cubicBezTo>
                <a:cubicBezTo>
                  <a:pt x="1549282" y="285547"/>
                  <a:pt x="1511115" y="247380"/>
                  <a:pt x="1464034" y="247380"/>
                </a:cubicBezTo>
                <a:close/>
                <a:moveTo>
                  <a:pt x="1661003" y="247380"/>
                </a:moveTo>
                <a:cubicBezTo>
                  <a:pt x="1613922" y="247380"/>
                  <a:pt x="1575755" y="285547"/>
                  <a:pt x="1575755" y="332628"/>
                </a:cubicBezTo>
                <a:cubicBezTo>
                  <a:pt x="1575755" y="379709"/>
                  <a:pt x="1613922" y="417876"/>
                  <a:pt x="1661003" y="417876"/>
                </a:cubicBezTo>
                <a:cubicBezTo>
                  <a:pt x="1708084" y="417876"/>
                  <a:pt x="1746251" y="379709"/>
                  <a:pt x="1746251" y="332628"/>
                </a:cubicBezTo>
                <a:cubicBezTo>
                  <a:pt x="1746251" y="285547"/>
                  <a:pt x="1708084" y="247380"/>
                  <a:pt x="1661003" y="247380"/>
                </a:cubicBezTo>
                <a:close/>
                <a:moveTo>
                  <a:pt x="85248" y="0"/>
                </a:moveTo>
                <a:cubicBezTo>
                  <a:pt x="38167" y="0"/>
                  <a:pt x="0" y="38167"/>
                  <a:pt x="0" y="85248"/>
                </a:cubicBezTo>
                <a:cubicBezTo>
                  <a:pt x="0" y="132329"/>
                  <a:pt x="38167" y="170496"/>
                  <a:pt x="85248" y="170496"/>
                </a:cubicBezTo>
                <a:cubicBezTo>
                  <a:pt x="132329" y="170496"/>
                  <a:pt x="170496" y="132329"/>
                  <a:pt x="170496" y="85248"/>
                </a:cubicBezTo>
                <a:cubicBezTo>
                  <a:pt x="170496" y="38167"/>
                  <a:pt x="132329" y="0"/>
                  <a:pt x="85248" y="0"/>
                </a:cubicBezTo>
                <a:close/>
                <a:moveTo>
                  <a:pt x="282218" y="0"/>
                </a:moveTo>
                <a:cubicBezTo>
                  <a:pt x="235137" y="0"/>
                  <a:pt x="196970" y="38167"/>
                  <a:pt x="196970" y="85248"/>
                </a:cubicBezTo>
                <a:cubicBezTo>
                  <a:pt x="196970" y="132329"/>
                  <a:pt x="235137" y="170496"/>
                  <a:pt x="282218" y="170496"/>
                </a:cubicBezTo>
                <a:cubicBezTo>
                  <a:pt x="329299" y="170496"/>
                  <a:pt x="367466" y="132329"/>
                  <a:pt x="367466" y="85248"/>
                </a:cubicBezTo>
                <a:cubicBezTo>
                  <a:pt x="367466" y="38167"/>
                  <a:pt x="329299" y="0"/>
                  <a:pt x="282218" y="0"/>
                </a:cubicBezTo>
                <a:close/>
                <a:moveTo>
                  <a:pt x="479187" y="0"/>
                </a:moveTo>
                <a:cubicBezTo>
                  <a:pt x="432106" y="0"/>
                  <a:pt x="393939" y="38167"/>
                  <a:pt x="393939" y="85248"/>
                </a:cubicBezTo>
                <a:cubicBezTo>
                  <a:pt x="393939" y="132329"/>
                  <a:pt x="432106" y="170496"/>
                  <a:pt x="479187" y="170496"/>
                </a:cubicBezTo>
                <a:cubicBezTo>
                  <a:pt x="526268" y="170496"/>
                  <a:pt x="564435" y="132329"/>
                  <a:pt x="564435" y="85248"/>
                </a:cubicBezTo>
                <a:cubicBezTo>
                  <a:pt x="564435" y="38167"/>
                  <a:pt x="526268" y="0"/>
                  <a:pt x="479187" y="0"/>
                </a:cubicBezTo>
                <a:close/>
                <a:moveTo>
                  <a:pt x="676157" y="0"/>
                </a:moveTo>
                <a:cubicBezTo>
                  <a:pt x="629076" y="0"/>
                  <a:pt x="590909" y="38167"/>
                  <a:pt x="590909" y="85248"/>
                </a:cubicBezTo>
                <a:cubicBezTo>
                  <a:pt x="590909" y="132329"/>
                  <a:pt x="629076" y="170496"/>
                  <a:pt x="676157" y="170496"/>
                </a:cubicBezTo>
                <a:cubicBezTo>
                  <a:pt x="723238" y="170496"/>
                  <a:pt x="761405" y="132329"/>
                  <a:pt x="761405" y="85248"/>
                </a:cubicBezTo>
                <a:cubicBezTo>
                  <a:pt x="761405" y="38167"/>
                  <a:pt x="723238" y="0"/>
                  <a:pt x="676157" y="0"/>
                </a:cubicBezTo>
                <a:close/>
                <a:moveTo>
                  <a:pt x="873126" y="0"/>
                </a:moveTo>
                <a:cubicBezTo>
                  <a:pt x="826045" y="0"/>
                  <a:pt x="787878" y="38167"/>
                  <a:pt x="787878" y="85248"/>
                </a:cubicBezTo>
                <a:cubicBezTo>
                  <a:pt x="787878" y="132329"/>
                  <a:pt x="826045" y="170496"/>
                  <a:pt x="873126" y="170496"/>
                </a:cubicBezTo>
                <a:cubicBezTo>
                  <a:pt x="920207" y="170496"/>
                  <a:pt x="958374" y="132329"/>
                  <a:pt x="958374" y="85248"/>
                </a:cubicBezTo>
                <a:cubicBezTo>
                  <a:pt x="958374" y="38167"/>
                  <a:pt x="920207" y="0"/>
                  <a:pt x="873126" y="0"/>
                </a:cubicBezTo>
                <a:close/>
                <a:moveTo>
                  <a:pt x="1070096" y="0"/>
                </a:moveTo>
                <a:cubicBezTo>
                  <a:pt x="1023015" y="0"/>
                  <a:pt x="984848" y="38167"/>
                  <a:pt x="984848" y="85248"/>
                </a:cubicBezTo>
                <a:cubicBezTo>
                  <a:pt x="984848" y="132329"/>
                  <a:pt x="1023015" y="170496"/>
                  <a:pt x="1070096" y="170496"/>
                </a:cubicBezTo>
                <a:cubicBezTo>
                  <a:pt x="1117177" y="170496"/>
                  <a:pt x="1155344" y="132329"/>
                  <a:pt x="1155344" y="85248"/>
                </a:cubicBezTo>
                <a:cubicBezTo>
                  <a:pt x="1155344" y="38167"/>
                  <a:pt x="1117177" y="0"/>
                  <a:pt x="1070096" y="0"/>
                </a:cubicBezTo>
                <a:close/>
                <a:moveTo>
                  <a:pt x="1267064" y="0"/>
                </a:moveTo>
                <a:cubicBezTo>
                  <a:pt x="1219983" y="0"/>
                  <a:pt x="1181816" y="38167"/>
                  <a:pt x="1181816" y="85248"/>
                </a:cubicBezTo>
                <a:cubicBezTo>
                  <a:pt x="1181816" y="132329"/>
                  <a:pt x="1219983" y="170496"/>
                  <a:pt x="1267064" y="170496"/>
                </a:cubicBezTo>
                <a:cubicBezTo>
                  <a:pt x="1314145" y="170496"/>
                  <a:pt x="1352312" y="132329"/>
                  <a:pt x="1352312" y="85248"/>
                </a:cubicBezTo>
                <a:cubicBezTo>
                  <a:pt x="1352312" y="38167"/>
                  <a:pt x="1314145" y="0"/>
                  <a:pt x="1267064" y="0"/>
                </a:cubicBezTo>
                <a:close/>
                <a:moveTo>
                  <a:pt x="1464034" y="0"/>
                </a:moveTo>
                <a:cubicBezTo>
                  <a:pt x="1416953" y="0"/>
                  <a:pt x="1378786" y="38167"/>
                  <a:pt x="1378786" y="85248"/>
                </a:cubicBezTo>
                <a:cubicBezTo>
                  <a:pt x="1378786" y="132329"/>
                  <a:pt x="1416953" y="170496"/>
                  <a:pt x="1464034" y="170496"/>
                </a:cubicBezTo>
                <a:cubicBezTo>
                  <a:pt x="1511115" y="170496"/>
                  <a:pt x="1549282" y="132329"/>
                  <a:pt x="1549282" y="85248"/>
                </a:cubicBezTo>
                <a:cubicBezTo>
                  <a:pt x="1549282" y="38167"/>
                  <a:pt x="1511115" y="0"/>
                  <a:pt x="1464034" y="0"/>
                </a:cubicBezTo>
                <a:close/>
                <a:moveTo>
                  <a:pt x="1661003" y="0"/>
                </a:moveTo>
                <a:cubicBezTo>
                  <a:pt x="1613922" y="0"/>
                  <a:pt x="1575755" y="38167"/>
                  <a:pt x="1575755" y="85248"/>
                </a:cubicBezTo>
                <a:cubicBezTo>
                  <a:pt x="1575755" y="132329"/>
                  <a:pt x="1613922" y="170496"/>
                  <a:pt x="1661003" y="170496"/>
                </a:cubicBezTo>
                <a:cubicBezTo>
                  <a:pt x="1708084" y="170496"/>
                  <a:pt x="1746251" y="132329"/>
                  <a:pt x="1746251" y="85248"/>
                </a:cubicBezTo>
                <a:cubicBezTo>
                  <a:pt x="1746251" y="38167"/>
                  <a:pt x="1708084" y="0"/>
                  <a:pt x="166100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65439" y="1401955"/>
            <a:ext cx="5984400" cy="20928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谢谢大家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0" y="0"/>
            <a:ext cx="872114" cy="824812"/>
          </a:xfrm>
          <a:custGeom>
            <a:avLst/>
            <a:gdLst>
              <a:gd name="connsiteX0" fmla="*/ 667099 w 872114"/>
              <a:gd name="connsiteY0" fmla="*/ 0 h 824812"/>
              <a:gd name="connsiteX1" fmla="*/ 872114 w 872114"/>
              <a:gd name="connsiteY1" fmla="*/ 0 h 824812"/>
              <a:gd name="connsiteX2" fmla="*/ 47302 w 872114"/>
              <a:gd name="connsiteY2" fmla="*/ 824812 h 824812"/>
              <a:gd name="connsiteX3" fmla="*/ 0 w 872114"/>
              <a:gd name="connsiteY3" fmla="*/ 822424 h 824812"/>
              <a:gd name="connsiteX4" fmla="*/ 0 w 872114"/>
              <a:gd name="connsiteY4" fmla="*/ 615029 h 824812"/>
              <a:gd name="connsiteX5" fmla="*/ 47302 w 872114"/>
              <a:gd name="connsiteY5" fmla="*/ 619797 h 824812"/>
              <a:gd name="connsiteX6" fmla="*/ 667099 w 872114"/>
              <a:gd name="connsiteY6" fmla="*/ 0 h 824812"/>
            </a:gdLst>
            <a:rect l="l" t="t" r="r" b="b"/>
            <a:pathLst>
              <a:path w="872114" h="824812">
                <a:moveTo>
                  <a:pt x="667099" y="0"/>
                </a:moveTo>
                <a:lnTo>
                  <a:pt x="872114" y="0"/>
                </a:lnTo>
                <a:cubicBezTo>
                  <a:pt x="872114" y="455531"/>
                  <a:pt x="502833" y="824812"/>
                  <a:pt x="47302" y="824812"/>
                </a:cubicBezTo>
                <a:lnTo>
                  <a:pt x="0" y="822424"/>
                </a:lnTo>
                <a:lnTo>
                  <a:pt x="0" y="615029"/>
                </a:lnTo>
                <a:lnTo>
                  <a:pt x="47302" y="619797"/>
                </a:lnTo>
                <a:cubicBezTo>
                  <a:pt x="389606" y="619797"/>
                  <a:pt x="667099" y="342304"/>
                  <a:pt x="667099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16667" t="0" r="16667" b="0"/>
          <a:stretch>
            <a:fillRect/>
          </a:stretch>
        </p:blipFill>
        <p:spPr>
          <a:xfrm rot="0" flipH="0" flipV="0">
            <a:off x="7005412" y="1033237"/>
            <a:ext cx="4943926" cy="4943926"/>
          </a:xfrm>
          <a:custGeom>
            <a:avLst/>
            <a:gdLst>
              <a:gd name="connsiteX0" fmla="*/ 2471963 w 4943926"/>
              <a:gd name="connsiteY0" fmla="*/ 0 h 4943926"/>
              <a:gd name="connsiteX1" fmla="*/ 4943926 w 4943926"/>
              <a:gd name="connsiteY1" fmla="*/ 2471963 h 4943926"/>
              <a:gd name="connsiteX2" fmla="*/ 2471963 w 4943926"/>
              <a:gd name="connsiteY2" fmla="*/ 4943926 h 4943926"/>
              <a:gd name="connsiteX3" fmla="*/ 0 w 4943926"/>
              <a:gd name="connsiteY3" fmla="*/ 2471963 h 4943926"/>
              <a:gd name="connsiteX4" fmla="*/ 2471963 w 4943926"/>
              <a:gd name="connsiteY4" fmla="*/ 0 h 4943926"/>
            </a:gdLst>
            <a:rect l="l" t="t" r="r" b="b"/>
            <a:pathLst>
              <a:path w="4943926" h="4943926">
                <a:moveTo>
                  <a:pt x="2471963" y="0"/>
                </a:moveTo>
                <a:cubicBezTo>
                  <a:pt x="3837190" y="0"/>
                  <a:pt x="4943926" y="1106736"/>
                  <a:pt x="4943926" y="2471963"/>
                </a:cubicBezTo>
                <a:cubicBezTo>
                  <a:pt x="4943926" y="3837190"/>
                  <a:pt x="3837190" y="4943926"/>
                  <a:pt x="2471963" y="4943926"/>
                </a:cubicBezTo>
                <a:cubicBezTo>
                  <a:pt x="1106736" y="4943926"/>
                  <a:pt x="0" y="3837190"/>
                  <a:pt x="0" y="2471963"/>
                </a:cubicBezTo>
                <a:cubicBezTo>
                  <a:pt x="0" y="1106736"/>
                  <a:pt x="1106736" y="0"/>
                  <a:pt x="24719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" name="标题 1"/>
          <p:cNvSpPr txBox="1"/>
          <p:nvPr/>
        </p:nvSpPr>
        <p:spPr>
          <a:xfrm rot="0" flipH="0" flipV="0">
            <a:off x="7102475" y="1130300"/>
            <a:ext cx="4749800" cy="4749800"/>
          </a:xfrm>
          <a:prstGeom prst="ellipse">
            <a:avLst/>
          </a:prstGeom>
          <a:noFill/>
          <a:ln w="254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6496130" y="1001601"/>
            <a:ext cx="902452" cy="531418"/>
          </a:xfrm>
          <a:prstGeom prst="wedgeRoundRectCallout">
            <a:avLst>
              <a:gd name="adj1" fmla="val 31880"/>
              <a:gd name="adj2" fmla="val 65793"/>
              <a:gd name="adj3" fmla="val 16667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0" flipH="0" flipV="0">
            <a:off x="6649839" y="1118108"/>
            <a:ext cx="595034" cy="2984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202X</a:t>
            </a:r>
            <a:endParaRPr kumimoji="1" lang="zh-CN" altLang="en-US"/>
          </a:p>
        </p:txBody>
      </p:sp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C3E22"/>
      </a:accent1>
      <a:accent2>
        <a:srgbClr val="611516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