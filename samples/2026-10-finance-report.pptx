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C5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515600" cy="914400"/>
          </a:xfrm>
          <a:prstGeom prst="rect">
            <a:avLst/>
          </a:prstGeom>
          <a:noFill/>
        </p:spPr>
        <p:txBody>
          <a:bodyPr wrap="square">
            <a:spAutoFit/>
          </a:bodyPr>
          <a:lstStyle/>
          <a:p>
            <a:pPr algn="l"/>
            <a:r>
              <a:rPr sz="4000" b="1">
                <a:solidFill>
                  <a:srgbClr val="DC572A"/>
                </a:solidFill>
                <a:latin typeface="微软雅黑"/>
                <a:ea typeface="微软雅黑"/>
                <a:cs typeface="微软雅黑"/>
              </a:rPr>
              <a:t>2026年10月財務情況匯報</a:t>
            </a:r>
          </a:p>
        </p:txBody>
      </p:sp>
      <p:sp>
        <p:nvSpPr>
          <p:cNvPr id="5" name="TextBox 4"/>
          <p:cNvSpPr txBox="1"/>
          <p:nvPr/>
        </p:nvSpPr>
        <p:spPr>
          <a:xfrm>
            <a:off x="731520" y="3063240"/>
            <a:ext cx="10058400" cy="411480"/>
          </a:xfrm>
          <a:prstGeom prst="rect">
            <a:avLst/>
          </a:prstGeom>
          <a:noFill/>
        </p:spPr>
        <p:txBody>
          <a:bodyPr wrap="square">
            <a:spAutoFit/>
          </a:bodyPr>
          <a:lstStyle/>
          <a:p>
            <a:pPr algn="l"/>
            <a:r>
              <a:rPr sz="1800" b="0">
                <a:solidFill>
                  <a:srgbClr val="333F50"/>
                </a:solidFill>
                <a:latin typeface="楷体"/>
                <a:ea typeface="楷体"/>
                <a:cs typeface="楷体"/>
              </a:rPr>
              <a:t>HKFRS 17    單位：萬港元</a:t>
            </a:r>
          </a:p>
        </p:txBody>
      </p:sp>
      <p:sp>
        <p:nvSpPr>
          <p:cNvPr id="6" name="TextBox 5"/>
          <p:cNvSpPr txBox="1"/>
          <p:nvPr/>
        </p:nvSpPr>
        <p:spPr>
          <a:xfrm>
            <a:off x="731520" y="5394960"/>
            <a:ext cx="7315200" cy="365760"/>
          </a:xfrm>
          <a:prstGeom prst="rect">
            <a:avLst/>
          </a:prstGeom>
          <a:noFill/>
        </p:spPr>
        <p:txBody>
          <a:bodyPr wrap="square">
            <a:spAutoFit/>
          </a:bodyPr>
          <a:lstStyle/>
          <a:p>
            <a:pPr algn="l"/>
            <a:r>
              <a:rPr sz="2000" b="0">
                <a:solidFill>
                  <a:srgbClr val="333F50"/>
                </a:solidFill>
                <a:latin typeface="楷体"/>
                <a:ea typeface="楷体"/>
                <a:cs typeface="楷体"/>
              </a:rPr>
              <a:t>2026年11月6日</a:t>
            </a:r>
          </a:p>
        </p:txBody>
      </p:sp>
      <p:sp>
        <p:nvSpPr>
          <p:cNvPr id="7" name="TextBox 6"/>
          <p:cNvSpPr txBox="1"/>
          <p:nvPr/>
        </p:nvSpPr>
        <p:spPr>
          <a:xfrm>
            <a:off x="731520" y="5943600"/>
            <a:ext cx="9144000" cy="320040"/>
          </a:xfrm>
          <a:prstGeom prst="rect">
            <a:avLst/>
          </a:prstGeom>
          <a:noFill/>
        </p:spPr>
        <p:txBody>
          <a:bodyPr wrap="square">
            <a:spAutoFit/>
          </a:bodyPr>
          <a:lstStyle/>
          <a:p>
            <a:pPr algn="l"/>
            <a:r>
              <a:rPr sz="1400" b="0">
                <a:solidFill>
                  <a:srgbClr val="888888"/>
                </a:solidFill>
                <a:latin typeface="楷体"/>
                <a:ea typeface="楷体"/>
                <a:cs typeface="楷体"/>
              </a:rPr>
              <a:t>模擬樣板</a:t>
            </a:r>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主要指標（HKFRS 17）</a:t>
            </a:r>
          </a:p>
        </p:txBody>
      </p:sp>
      <p:sp>
        <p:nvSpPr>
          <p:cNvPr id="5" name="TextBox 4"/>
          <p:cNvSpPr txBox="1"/>
          <p:nvPr/>
        </p:nvSpPr>
        <p:spPr>
          <a:xfrm>
            <a:off x="274320" y="868680"/>
            <a:ext cx="10972800" cy="256032"/>
          </a:xfrm>
          <a:prstGeom prst="rect">
            <a:avLst/>
          </a:prstGeom>
          <a:noFill/>
        </p:spPr>
        <p:txBody>
          <a:bodyPr wrap="square">
            <a:spAutoFit/>
          </a:bodyPr>
          <a:lstStyle/>
          <a:p>
            <a:pPr algn="l"/>
            <a:r>
              <a:rPr sz="1200" b="0">
                <a:solidFill>
                  <a:srgbClr val="888888"/>
                </a:solidFill>
                <a:latin typeface="楷体"/>
                <a:ea typeface="楷体"/>
                <a:cs typeface="楷体"/>
              </a:rPr>
              <a:t>萬港元，%。當月為2026年10月，累計為1–10月。</a:t>
            </a:r>
          </a:p>
        </p:txBody>
      </p:sp>
      <p:graphicFrame>
        <p:nvGraphicFramePr>
          <p:cNvPr id="6" name="Table 5"/>
          <p:cNvGraphicFramePr>
            <a:graphicFrameLocks noGrp="1"/>
          </p:cNvGraphicFramePr>
          <p:nvPr/>
        </p:nvGraphicFramePr>
        <p:xfrm>
          <a:off x="201168" y="1170432"/>
          <a:ext cx="11795760" cy="3977639"/>
        </p:xfrm>
        <a:graphic>
          <a:graphicData uri="http://schemas.openxmlformats.org/drawingml/2006/table">
            <a:tbl>
              <a:tblPr firstRow="1" bandRow="1">
                <a:tableStyleId>{5C22544A-7EE6-4342-B048-85BDC9FD1C3A}</a:tableStyleId>
              </a:tblPr>
              <a:tblGrid>
                <a:gridCol w="1310640"/>
                <a:gridCol w="1310640"/>
                <a:gridCol w="1310640"/>
                <a:gridCol w="1310640"/>
                <a:gridCol w="1310640"/>
                <a:gridCol w="1310640"/>
                <a:gridCol w="1310640"/>
                <a:gridCol w="1310640"/>
                <a:gridCol w="1310640"/>
              </a:tblGrid>
              <a:tr h="441959">
                <a:tc>
                  <a:txBody>
                    <a:bodyPr/>
                    <a:lstStyle/>
                    <a:p>
                      <a:pPr algn="ctr"/>
                      <a:r>
                        <a:rPr sz="1100" b="1">
                          <a:solidFill>
                            <a:srgbClr val="FFFFFF"/>
                          </a:solidFill>
                          <a:latin typeface="楷体"/>
                          <a:ea typeface="楷体"/>
                          <a:cs typeface="楷体"/>
                        </a:rPr>
                        <a:t>項目</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10月當月</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環比增減</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環比%</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1–10月</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修訂預算</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完成%</a:t>
                      </a:r>
                    </a:p>
                  </a:txBody>
                  <a:tcPr anchor="ctr" marL="36576" marR="36576" marT="18288" marB="18288">
                    <a:solidFill>
                      <a:srgbClr val="333F50"/>
                    </a:solidFill>
                  </a:tcPr>
                </a:tc>
              </a:tr>
              <a:tr h="441959">
                <a:tc>
                  <a:txBody>
                    <a:bodyPr/>
                    <a:lstStyle/>
                    <a:p>
                      <a:pPr algn="l"/>
                      <a:r>
                        <a:rPr sz="1100" b="1">
                          <a:solidFill>
                            <a:srgbClr val="333F50"/>
                          </a:solidFill>
                          <a:latin typeface="楷体"/>
                          <a:ea typeface="楷体"/>
                          <a:cs typeface="楷体"/>
                        </a:rPr>
                        <a:t>保險收入</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1,720.4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121.5</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7.6%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16,480.6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1,488.2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9.9%</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21,000.0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78.5%</a:t>
                      </a:r>
                    </a:p>
                  </a:txBody>
                  <a:tcPr anchor="ctr" marL="36576" marR="36576" marT="18288" marB="18288">
                    <a:solidFill>
                      <a:srgbClr val="FFFFFF"/>
                    </a:solidFill>
                  </a:tcPr>
                </a:tc>
              </a:tr>
              <a:tr h="441959">
                <a:tc>
                  <a:txBody>
                    <a:bodyPr/>
                    <a:lstStyle/>
                    <a:p>
                      <a:pPr algn="l"/>
                      <a:r>
                        <a:rPr sz="1100" b="1">
                          <a:solidFill>
                            <a:srgbClr val="333F50"/>
                          </a:solidFill>
                          <a:latin typeface="楷体"/>
                          <a:ea typeface="楷体"/>
                          <a:cs typeface="楷体"/>
                        </a:rPr>
                        <a:t>保險服務費用</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-1,288.6</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-175.8</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15.8%</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-12,890.4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-980.6</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8.2%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-16,000.0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80.6%</a:t>
                      </a:r>
                    </a:p>
                  </a:txBody>
                  <a:tcPr anchor="ctr" marL="36576" marR="36576" marT="18288" marB="18288">
                    <a:solidFill>
                      <a:srgbClr val="F7F7F7"/>
                    </a:solidFill>
                  </a:tcPr>
                </a:tc>
              </a:tr>
              <a:tr h="441959">
                <a:tc>
                  <a:txBody>
                    <a:bodyPr/>
                    <a:lstStyle/>
                    <a:p>
                      <a:pPr algn="l"/>
                      <a:r>
                        <a:rPr sz="1100" b="1">
                          <a:solidFill>
                            <a:srgbClr val="333F50"/>
                          </a:solidFill>
                          <a:latin typeface="楷体"/>
                          <a:ea typeface="楷体"/>
                          <a:cs typeface="楷体"/>
                        </a:rPr>
                        <a:t>再保險合約費用淨額</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-168.2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5.2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-3.0%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-1,488.5</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-42.1</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2.9%</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-2,100.0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70.9%</a:t>
                      </a:r>
                    </a:p>
                  </a:txBody>
                  <a:tcPr anchor="ctr" marL="36576" marR="36576" marT="18288" marB="18288">
                    <a:solidFill>
                      <a:srgbClr val="FFFFFF"/>
                    </a:solidFill>
                  </a:tcPr>
                </a:tc>
              </a:tr>
              <a:tr h="441959">
                <a:tc>
                  <a:txBody>
                    <a:bodyPr/>
                    <a:lstStyle/>
                    <a:p>
                      <a:pPr algn="l"/>
                      <a:r>
                        <a:rPr sz="1100" b="1">
                          <a:solidFill>
                            <a:srgbClr val="333F50"/>
                          </a:solidFill>
                          <a:latin typeface="楷体"/>
                          <a:ea typeface="楷体"/>
                          <a:cs typeface="楷体"/>
                        </a:rPr>
                        <a:t>保險服務業績</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263.6</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-49.1</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-15.7%</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2,101.7</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465.5</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28.5%</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2,900.0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72.5%</a:t>
                      </a:r>
                    </a:p>
                  </a:txBody>
                  <a:tcPr anchor="ctr" marL="36576" marR="36576" marT="18288" marB="18288">
                    <a:solidFill>
                      <a:srgbClr val="F7F7F7"/>
                    </a:solidFill>
                  </a:tcPr>
                </a:tc>
              </a:tr>
              <a:tr h="441959">
                <a:tc>
                  <a:txBody>
                    <a:bodyPr/>
                    <a:lstStyle/>
                    <a:p>
                      <a:pPr algn="l"/>
                      <a:r>
                        <a:rPr sz="1100" b="1">
                          <a:solidFill>
                            <a:srgbClr val="333F50"/>
                          </a:solidFill>
                          <a:latin typeface="楷体"/>
                          <a:ea typeface="楷体"/>
                          <a:cs typeface="楷体"/>
                        </a:rPr>
                        <a:t>減：其他管理費用</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-186.4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-13.7</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7.9%</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-1,766.2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-188.5</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11.9%</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-2,700.0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65.4%</a:t>
                      </a:r>
                    </a:p>
                  </a:txBody>
                  <a:tcPr anchor="ctr" marL="36576" marR="36576" marT="18288" marB="18288">
                    <a:solidFill>
                      <a:srgbClr val="FFFFFF"/>
                    </a:solidFill>
                  </a:tcPr>
                </a:tc>
              </a:tr>
              <a:tr h="441959">
                <a:tc>
                  <a:txBody>
                    <a:bodyPr/>
                    <a:lstStyle/>
                    <a:p>
                      <a:pPr algn="l"/>
                      <a:r>
                        <a:rPr sz="1100" b="1">
                          <a:solidFill>
                            <a:srgbClr val="333F50"/>
                          </a:solidFill>
                          <a:latin typeface="楷体"/>
                          <a:ea typeface="楷体"/>
                          <a:cs typeface="楷体"/>
                        </a:rPr>
                        <a:t>加：投資收益</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86.5</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185.7</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-187.2%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1,180.4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-420.8</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-26.3%</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2,500.0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47.2%</a:t>
                      </a:r>
                    </a:p>
                  </a:txBody>
                  <a:tcPr anchor="ctr" marL="36576" marR="36576" marT="18288" marB="18288">
                    <a:solidFill>
                      <a:srgbClr val="F7F7F7"/>
                    </a:solidFill>
                  </a:tcPr>
                </a:tc>
              </a:tr>
              <a:tr h="441959">
                <a:tc>
                  <a:txBody>
                    <a:bodyPr/>
                    <a:lstStyle/>
                    <a:p>
                      <a:pPr algn="l"/>
                      <a:r>
                        <a:rPr sz="1100" b="1">
                          <a:solidFill>
                            <a:srgbClr val="333F50"/>
                          </a:solidFill>
                          <a:latin typeface="楷体"/>
                          <a:ea typeface="楷体"/>
                          <a:cs typeface="楷体"/>
                        </a:rPr>
                        <a:t>稅前利潤</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176.6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115.9</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191%</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1,622.1</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159.2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10.9%</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2,154.0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75.3%</a:t>
                      </a:r>
                    </a:p>
                  </a:txBody>
                  <a:tcPr anchor="ctr" marL="36576" marR="36576" marT="18288" marB="18288">
                    <a:solidFill>
                      <a:srgbClr val="FFFFFF"/>
                    </a:solidFill>
                  </a:tcPr>
                </a:tc>
              </a:tr>
              <a:tr h="441967">
                <a:tc>
                  <a:txBody>
                    <a:bodyPr/>
                    <a:lstStyle/>
                    <a:p>
                      <a:pPr algn="l"/>
                      <a:r>
                        <a:rPr sz="1100" b="1">
                          <a:solidFill>
                            <a:srgbClr val="ED7D31"/>
                          </a:solidFill>
                          <a:latin typeface="楷体"/>
                          <a:ea typeface="楷体"/>
                          <a:cs typeface="楷体"/>
                        </a:rPr>
                        <a:t>稅後利潤</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154.2</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105.2</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214.7%</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1,453.3</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136.6</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10.4%</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1,874.0</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77.6%</a:t>
                      </a:r>
                    </a:p>
                  </a:txBody>
                  <a:tcPr anchor="ctr" marL="36576" marR="36576" marT="18288" marB="18288">
                    <a:solidFill>
                      <a:srgbClr val="F7F7F7"/>
                    </a:solidFill>
                  </a:tcPr>
                </a:tc>
              </a:tr>
            </a:tbl>
          </a:graphicData>
        </a:graphic>
      </p:graphicFrame>
      <p:sp>
        <p:nvSpPr>
          <p:cNvPr id="7" name="TextBox 6"/>
          <p:cNvSpPr txBox="1"/>
          <p:nvPr/>
        </p:nvSpPr>
        <p:spPr>
          <a:xfrm>
            <a:off x="274320" y="5303520"/>
            <a:ext cx="11612880" cy="502920"/>
          </a:xfrm>
          <a:prstGeom prst="rect">
            <a:avLst/>
          </a:prstGeom>
          <a:noFill/>
        </p:spPr>
        <p:txBody>
          <a:bodyPr wrap="square">
            <a:spAutoFit/>
          </a:bodyPr>
          <a:lstStyle/>
          <a:p>
            <a:pPr algn="l"/>
            <a:r>
              <a:rPr sz="1300" b="0">
                <a:solidFill>
                  <a:srgbClr val="333F50"/>
                </a:solidFill>
                <a:latin typeface="楷体"/>
                <a:ea typeface="楷体"/>
                <a:cs typeface="楷体"/>
              </a:rPr>
              <a:t>10月當月錄得稅後盈利154.2萬港元，環比增加105.2萬。保險收入1,720.4萬，環比增加121.5萬；保險服務業績263.6萬。</a:t>
            </a:r>
          </a:p>
        </p:txBody>
      </p:sp>
      <p:sp>
        <p:nvSpPr>
          <p:cNvPr id="8" name="TextBox 7"/>
          <p:cNvSpPr txBox="1"/>
          <p:nvPr/>
        </p:nvSpPr>
        <p:spPr>
          <a:xfrm>
            <a:off x="274320" y="5852160"/>
            <a:ext cx="11612880" cy="457200"/>
          </a:xfrm>
          <a:prstGeom prst="rect">
            <a:avLst/>
          </a:prstGeom>
          <a:noFill/>
        </p:spPr>
        <p:txBody>
          <a:bodyPr wrap="square">
            <a:spAutoFit/>
          </a:bodyPr>
          <a:lstStyle/>
          <a:p>
            <a:pPr algn="l"/>
            <a:r>
              <a:rPr sz="1300" b="0">
                <a:solidFill>
                  <a:srgbClr val="333F50"/>
                </a:solidFill>
                <a:latin typeface="楷体"/>
                <a:ea typeface="楷体"/>
                <a:cs typeface="楷体"/>
              </a:rPr>
              <a:t>1–10月累計稅後利潤1,453.3萬。保險收入16,480.6萬，同比增加1,488.2萬；投資收益1,180.4萬。</a:t>
            </a:r>
          </a:p>
        </p:txBody>
      </p:sp>
      <p:sp>
        <p:nvSpPr>
          <p:cNvPr id="9" name="TextBox 8"/>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2</a:t>
            </a:r>
          </a:p>
        </p:txBody>
      </p:sp>
    </p:spTree>
  </p:cSld>
  <p:clrMapOvr>
    <a:masterClrMapping/>
  </p:clrMapOvr>
</p:sld>
</file>

<file path=ppt/slides/slide3.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毛保費</a:t>
            </a:r>
          </a:p>
        </p:txBody>
      </p:sp>
      <p:graphicFrame>
        <p:nvGraphicFramePr>
          <p:cNvPr id="5" name="Table 4"/>
          <p:cNvGraphicFramePr>
            <a:graphicFrameLocks noGrp="1"/>
          </p:cNvGraphicFramePr>
          <p:nvPr/>
        </p:nvGraphicFramePr>
        <p:xfrm>
          <a:off x="320040" y="1051560"/>
          <a:ext cx="11521440" cy="2880360"/>
        </p:xfrm>
        <a:graphic>
          <a:graphicData uri="http://schemas.openxmlformats.org/drawingml/2006/table">
            <a:tbl>
              <a:tblPr firstRow="1" bandRow="1">
                <a:tableStyleId>{5C22544A-7EE6-4342-B048-85BDC9FD1C3A}</a:tableStyleId>
              </a:tblPr>
              <a:tblGrid>
                <a:gridCol w="1645920"/>
                <a:gridCol w="1645920"/>
                <a:gridCol w="1645920"/>
                <a:gridCol w="1645920"/>
                <a:gridCol w="1645920"/>
                <a:gridCol w="1645920"/>
                <a:gridCol w="1645920"/>
              </a:tblGrid>
              <a:tr h="480060">
                <a:tc>
                  <a:txBody>
                    <a:bodyPr/>
                    <a:lstStyle/>
                    <a:p>
                      <a:pPr algn="ctr"/>
                      <a:r>
                        <a:rPr sz="1300" b="1">
                          <a:solidFill>
                            <a:srgbClr val="FFFFFF"/>
                          </a:solidFill>
                          <a:latin typeface="楷体"/>
                          <a:ea typeface="楷体"/>
                          <a:cs typeface="楷体"/>
                        </a:rPr>
                        <a:t>項目</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2026年1–10月</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2025年1–10月</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修訂預算</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完成%</a:t>
                      </a:r>
                    </a:p>
                  </a:txBody>
                  <a:tcPr anchor="ctr" marL="36576" marR="36576" marT="18288" marB="18288">
                    <a:solidFill>
                      <a:srgbClr val="333F50"/>
                    </a:solidFill>
                  </a:tcPr>
                </a:tc>
              </a:tr>
              <a:tr h="480060">
                <a:tc>
                  <a:txBody>
                    <a:bodyPr/>
                    <a:lstStyle/>
                    <a:p>
                      <a:pPr algn="l"/>
                      <a:r>
                        <a:rPr sz="1300" b="1">
                          <a:solidFill>
                            <a:srgbClr val="333F50"/>
                          </a:solidFill>
                          <a:latin typeface="楷体"/>
                          <a:ea typeface="楷体"/>
                          <a:cs typeface="楷体"/>
                        </a:rPr>
                        <a:t>毛保費合計</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18,640.5</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16,120.8</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2,519.7</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15.6%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23,000.0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81.0%</a:t>
                      </a:r>
                    </a:p>
                  </a:txBody>
                  <a:tcPr anchor="ctr" marL="36576" marR="36576" marT="18288" marB="18288">
                    <a:solidFill>
                      <a:srgbClr val="FFFFFF"/>
                    </a:solidFill>
                  </a:tcPr>
                </a:tc>
              </a:tr>
              <a:tr h="480060">
                <a:tc>
                  <a:txBody>
                    <a:bodyPr/>
                    <a:lstStyle/>
                    <a:p>
                      <a:pPr algn="l"/>
                      <a:r>
                        <a:rPr sz="1300" b="1">
                          <a:solidFill>
                            <a:srgbClr val="333F50"/>
                          </a:solidFill>
                          <a:latin typeface="楷体"/>
                          <a:ea typeface="楷体"/>
                          <a:cs typeface="楷体"/>
                        </a:rPr>
                        <a:t>香港業務</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7,688.4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6,520.2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1,168.2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17.9%</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9,800.0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78.5%</a:t>
                      </a:r>
                    </a:p>
                  </a:txBody>
                  <a:tcPr anchor="ctr" marL="36576" marR="36576" marT="18288" marB="18288">
                    <a:solidFill>
                      <a:srgbClr val="F7F7F7"/>
                    </a:solidFill>
                  </a:tcPr>
                </a:tc>
              </a:tr>
              <a:tr h="480060">
                <a:tc>
                  <a:txBody>
                    <a:bodyPr/>
                    <a:lstStyle/>
                    <a:p>
                      <a:pPr algn="l"/>
                      <a:r>
                        <a:rPr sz="1300" b="1">
                          <a:solidFill>
                            <a:srgbClr val="333F50"/>
                          </a:solidFill>
                          <a:latin typeface="楷体"/>
                          <a:ea typeface="楷体"/>
                          <a:cs typeface="楷体"/>
                        </a:rPr>
                        <a:t>澳門業務</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10,952.1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9,600.6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1,351.5</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14.1%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13,200.0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83.0%</a:t>
                      </a:r>
                    </a:p>
                  </a:txBody>
                  <a:tcPr anchor="ctr" marL="36576" marR="36576" marT="18288" marB="18288">
                    <a:solidFill>
                      <a:srgbClr val="FFFFFF"/>
                    </a:solidFill>
                  </a:tcPr>
                </a:tc>
              </a:tr>
              <a:tr h="480060">
                <a:tc>
                  <a:txBody>
                    <a:bodyPr/>
                    <a:lstStyle/>
                    <a:p>
                      <a:pPr algn="l"/>
                      <a:r>
                        <a:rPr sz="1300" b="1">
                          <a:solidFill>
                            <a:srgbClr val="333F50"/>
                          </a:solidFill>
                          <a:latin typeface="楷体"/>
                          <a:ea typeface="楷体"/>
                          <a:cs typeface="楷体"/>
                        </a:rPr>
                        <a:t>直接業務</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11,220.3</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11,880.4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-660.1</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-5.6%</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a:t>
                      </a:r>
                    </a:p>
                  </a:txBody>
                  <a:tcPr anchor="ctr" marL="36576" marR="36576" marT="18288" marB="18288">
                    <a:solidFill>
                      <a:srgbClr val="F7F7F7"/>
                    </a:solidFill>
                  </a:tcPr>
                </a:tc>
              </a:tr>
              <a:tr h="480060">
                <a:tc>
                  <a:txBody>
                    <a:bodyPr/>
                    <a:lstStyle/>
                    <a:p>
                      <a:pPr algn="l"/>
                      <a:r>
                        <a:rPr sz="1300" b="1">
                          <a:solidFill>
                            <a:srgbClr val="ED7D31"/>
                          </a:solidFill>
                          <a:latin typeface="楷体"/>
                          <a:ea typeface="楷体"/>
                          <a:cs typeface="楷体"/>
                        </a:rPr>
                        <a:t>分入業務</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7,420.2</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4,240.4</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3,179.8</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75.0%</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a:t>
                      </a:r>
                    </a:p>
                  </a:txBody>
                  <a:tcPr anchor="ctr" marL="36576" marR="36576" marT="18288" marB="18288">
                    <a:solidFill>
                      <a:srgbClr val="FFFFFF"/>
                    </a:solidFill>
                  </a:tcPr>
                </a:tc>
              </a:tr>
            </a:tbl>
          </a:graphicData>
        </a:graphic>
      </p:graphicFrame>
      <p:sp>
        <p:nvSpPr>
          <p:cNvPr id="6" name="TextBox 5"/>
          <p:cNvSpPr txBox="1"/>
          <p:nvPr/>
        </p:nvSpPr>
        <p:spPr>
          <a:xfrm>
            <a:off x="365760" y="4206240"/>
            <a:ext cx="11338560" cy="1828800"/>
          </a:xfrm>
          <a:prstGeom prst="rect">
            <a:avLst/>
          </a:prstGeom>
          <a:noFill/>
        </p:spPr>
        <p:txBody>
          <a:bodyPr wrap="square">
            <a:spAutoFit/>
          </a:bodyPr>
          <a:lstStyle/>
          <a:p>
            <a:pPr algn="l"/>
            <a:r>
              <a:rPr sz="1600" b="0">
                <a:solidFill>
                  <a:srgbClr val="333F50"/>
                </a:solidFill>
                <a:latin typeface="楷体"/>
                <a:ea typeface="楷体"/>
                <a:cs typeface="楷体"/>
              </a:rPr>
              <a:t>香港佔比41.2%（2025：40.4%），澳門佔比58.8%（2025：59.6%）。
直接業務佔比60.2%（2025：73.7%），分入業務佔比39.8%（2025：26.3%）。
同比增加主要來自虛構的北灣銀行團體醫療及南灣勞務險，保費合計約2,280萬港元。</a:t>
            </a:r>
          </a:p>
        </p:txBody>
      </p:sp>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3</a:t>
            </a:r>
          </a:p>
        </p:txBody>
      </p:sp>
    </p:spTree>
  </p:cSld>
  <p:clrMapOvr>
    <a:masterClrMapping/>
  </p:clrMapOvr>
</p:sld>
</file>

<file path=ppt/slides/slide4.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毛保費（續）</a:t>
            </a:r>
          </a:p>
        </p:txBody>
      </p:sp>
      <p:graphicFrame>
        <p:nvGraphicFramePr>
          <p:cNvPr id="5" name="Table 4"/>
          <p:cNvGraphicFramePr>
            <a:graphicFrameLocks noGrp="1"/>
          </p:cNvGraphicFramePr>
          <p:nvPr/>
        </p:nvGraphicFramePr>
        <p:xfrm>
          <a:off x="228600" y="960120"/>
          <a:ext cx="11750040" cy="4160520"/>
        </p:xfrm>
        <a:graphic>
          <a:graphicData uri="http://schemas.openxmlformats.org/drawingml/2006/table">
            <a:tbl>
              <a:tblPr firstRow="1" bandRow="1">
                <a:tableStyleId>{5C22544A-7EE6-4342-B048-85BDC9FD1C3A}</a:tableStyleId>
              </a:tblPr>
              <a:tblGrid>
                <a:gridCol w="1678577"/>
                <a:gridCol w="1678577"/>
                <a:gridCol w="1678577"/>
                <a:gridCol w="1678577"/>
                <a:gridCol w="1678577"/>
                <a:gridCol w="1678577"/>
                <a:gridCol w="1678578"/>
              </a:tblGrid>
              <a:tr h="462280">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修訂預算</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完成%</a:t>
                      </a:r>
                    </a:p>
                  </a:txBody>
                  <a:tcPr anchor="ctr" marL="36576" marR="36576" marT="18288" marB="18288">
                    <a:solidFill>
                      <a:srgbClr val="333F50"/>
                    </a:solidFill>
                  </a:tcPr>
                </a:tc>
              </a:tr>
              <a:tr h="462280">
                <a:tc>
                  <a:txBody>
                    <a:bodyPr/>
                    <a:lstStyle/>
                    <a:p>
                      <a:pPr algn="l"/>
                      <a:r>
                        <a:rPr sz="12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1,688.2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2,310.5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-622.3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-26.9%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2,100.0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80.4%</a:t>
                      </a:r>
                    </a:p>
                  </a:txBody>
                  <a:tcPr anchor="ctr" marL="36576" marR="36576" marT="18288" marB="18288">
                    <a:solidFill>
                      <a:srgbClr val="FFFFFF"/>
                    </a:solidFill>
                  </a:tcPr>
                </a:tc>
              </a:tr>
              <a:tr h="462280">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1,488.6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420.4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1,068.2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254.1%</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1,600.0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93.0%</a:t>
                      </a:r>
                    </a:p>
                  </a:txBody>
                  <a:tcPr anchor="ctr" marL="36576" marR="36576" marT="18288" marB="18288">
                    <a:solidFill>
                      <a:srgbClr val="F7F7F7"/>
                    </a:solidFill>
                  </a:tcPr>
                </a:tc>
              </a:tr>
              <a:tr h="462280">
                <a:tc>
                  <a:txBody>
                    <a:bodyPr/>
                    <a:lstStyle/>
                    <a:p>
                      <a:pPr algn="l"/>
                      <a:r>
                        <a:rPr sz="12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1,622.4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210.8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1,411.6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669.6%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1,750.0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92.7%</a:t>
                      </a:r>
                    </a:p>
                  </a:txBody>
                  <a:tcPr anchor="ctr" marL="36576" marR="36576" marT="18288" marB="18288">
                    <a:solidFill>
                      <a:srgbClr val="FFFFFF"/>
                    </a:solidFill>
                  </a:tcPr>
                </a:tc>
              </a:tr>
              <a:tr h="462280">
                <a:tc>
                  <a:txBody>
                    <a:bodyPr/>
                    <a:lstStyle/>
                    <a:p>
                      <a:pPr algn="l"/>
                      <a:r>
                        <a:rPr sz="12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4,920.5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4,888.2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32.3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0.7%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6,800.0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72.4%</a:t>
                      </a:r>
                    </a:p>
                  </a:txBody>
                  <a:tcPr anchor="ctr" marL="36576" marR="36576" marT="18288" marB="18288">
                    <a:solidFill>
                      <a:srgbClr val="F7F7F7"/>
                    </a:solidFill>
                  </a:tcPr>
                </a:tc>
              </a:tr>
              <a:tr h="462280">
                <a:tc>
                  <a:txBody>
                    <a:bodyPr/>
                    <a:lstStyle/>
                    <a:p>
                      <a:pPr algn="l"/>
                      <a:r>
                        <a:rPr sz="12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4,288.7</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4,510.6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-221.9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6,400.0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67.0%</a:t>
                      </a:r>
                    </a:p>
                  </a:txBody>
                  <a:tcPr anchor="ctr" marL="36576" marR="36576" marT="18288" marB="18288">
                    <a:solidFill>
                      <a:srgbClr val="FFFFFF"/>
                    </a:solidFill>
                  </a:tcPr>
                </a:tc>
              </a:tr>
              <a:tr h="462280">
                <a:tc>
                  <a:txBody>
                    <a:bodyPr/>
                    <a:lstStyle/>
                    <a:p>
                      <a:pPr algn="l"/>
                      <a:r>
                        <a:rPr sz="12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402.1</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510.3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-108.2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-21.2%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850.0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47.3%</a:t>
                      </a:r>
                    </a:p>
                  </a:txBody>
                  <a:tcPr anchor="ctr" marL="36576" marR="36576" marT="18288" marB="18288">
                    <a:solidFill>
                      <a:srgbClr val="F7F7F7"/>
                    </a:solidFill>
                  </a:tcPr>
                </a:tc>
              </a:tr>
              <a:tr h="462280">
                <a:tc>
                  <a:txBody>
                    <a:bodyPr/>
                    <a:lstStyle/>
                    <a:p>
                      <a:pPr algn="l"/>
                      <a:r>
                        <a:rPr sz="12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4,230.0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3,270.0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960.0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29.4%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4,500.0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94.0%</a:t>
                      </a:r>
                    </a:p>
                  </a:txBody>
                  <a:tcPr anchor="ctr" marL="36576" marR="36576" marT="18288" marB="18288">
                    <a:solidFill>
                      <a:srgbClr val="FFFFFF"/>
                    </a:solidFill>
                  </a:tcPr>
                </a:tc>
              </a:tr>
              <a:tr h="462280">
                <a:tc>
                  <a:txBody>
                    <a:bodyPr/>
                    <a:lstStyle/>
                    <a:p>
                      <a:pPr algn="l"/>
                      <a:r>
                        <a:rPr sz="12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18,640.5</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16,120.8</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2,519.7</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15.6%</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24,000.0</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77.7%</a:t>
                      </a:r>
                    </a:p>
                  </a:txBody>
                  <a:tcPr anchor="ctr" marL="36576" marR="36576" marT="18288" marB="18288">
                    <a:solidFill>
                      <a:srgbClr val="F7F7F7"/>
                    </a:solidFill>
                  </a:tcPr>
                </a:tc>
              </a:tr>
            </a:tbl>
          </a:graphicData>
        </a:graphic>
      </p:graphicFrame>
      <p:sp>
        <p:nvSpPr>
          <p:cNvPr id="6" name="TextBox 5"/>
          <p:cNvSpPr txBox="1"/>
          <p:nvPr/>
        </p:nvSpPr>
        <p:spPr>
          <a:xfrm>
            <a:off x="320040" y="5303520"/>
            <a:ext cx="11521440" cy="1051560"/>
          </a:xfrm>
          <a:prstGeom prst="rect">
            <a:avLst/>
          </a:prstGeom>
          <a:noFill/>
        </p:spPr>
        <p:txBody>
          <a:bodyPr wrap="square">
            <a:spAutoFit/>
          </a:bodyPr>
          <a:lstStyle/>
          <a:p>
            <a:pPr algn="l"/>
            <a:r>
              <a:rPr sz="1400" b="0">
                <a:solidFill>
                  <a:srgbClr val="333F50"/>
                </a:solidFill>
                <a:latin typeface="楷体"/>
                <a:ea typeface="楷体"/>
                <a:cs typeface="楷体"/>
              </a:rPr>
              <a:t>截至10月底完成修訂預算77.7%，落後時間進度約5.6個百分點。汽車險、財產全險、其他險下跌。意外及健康險、勞工險增幅主要來自分入。</a:t>
            </a:r>
          </a:p>
        </p:txBody>
      </p:sp>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4</a:t>
            </a:r>
          </a:p>
        </p:txBody>
      </p:sp>
    </p:spTree>
  </p:cSld>
  <p:clrMapOvr>
    <a:masterClrMapping/>
  </p:clrMapOvr>
</p:sld>
</file>

<file path=ppt/slides/slide5.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毛保費組合（綜合）</a:t>
            </a:r>
          </a:p>
        </p:txBody>
      </p:sp>
      <p:sp>
        <p:nvSpPr>
          <p:cNvPr id="5" name="TextBox 4"/>
          <p:cNvSpPr txBox="1"/>
          <p:nvPr/>
        </p:nvSpPr>
        <p:spPr>
          <a:xfrm>
            <a:off x="411480" y="960120"/>
            <a:ext cx="5029200" cy="320040"/>
          </a:xfrm>
          <a:prstGeom prst="rect">
            <a:avLst/>
          </a:prstGeom>
          <a:noFill/>
        </p:spPr>
        <p:txBody>
          <a:bodyPr wrap="square">
            <a:spAutoFit/>
          </a:bodyPr>
          <a:lstStyle/>
          <a:p>
            <a:pPr algn="l"/>
            <a:r>
              <a:rPr sz="1600" b="1">
                <a:solidFill>
                  <a:srgbClr val="ED7D31"/>
                </a:solidFill>
                <a:latin typeface="楷体"/>
                <a:ea typeface="楷体"/>
                <a:cs typeface="楷体"/>
              </a:rPr>
              <a:t>2026年10月底</a:t>
            </a:r>
          </a:p>
        </p:txBody>
      </p:sp>
      <p:sp>
        <p:nvSpPr>
          <p:cNvPr id="6" name="TextBox 5"/>
          <p:cNvSpPr txBox="1"/>
          <p:nvPr/>
        </p:nvSpPr>
        <p:spPr>
          <a:xfrm>
            <a:off x="6400800" y="960120"/>
            <a:ext cx="5029200" cy="320040"/>
          </a:xfrm>
          <a:prstGeom prst="rect">
            <a:avLst/>
          </a:prstGeom>
          <a:noFill/>
        </p:spPr>
        <p:txBody>
          <a:bodyPr wrap="square">
            <a:spAutoFit/>
          </a:bodyPr>
          <a:lstStyle/>
          <a:p>
            <a:pPr algn="l"/>
            <a:r>
              <a:rPr sz="1600" b="1">
                <a:solidFill>
                  <a:srgbClr val="ED7D31"/>
                </a:solidFill>
                <a:latin typeface="楷体"/>
                <a:ea typeface="楷体"/>
                <a:cs typeface="楷体"/>
              </a:rPr>
              <a:t>2025年10月底</a:t>
            </a:r>
          </a:p>
        </p:txBody>
      </p:sp>
      <p:graphicFrame>
        <p:nvGraphicFramePr>
          <p:cNvPr id="7" name="Table 6"/>
          <p:cNvGraphicFramePr>
            <a:graphicFrameLocks noGrp="1"/>
          </p:cNvGraphicFramePr>
          <p:nvPr/>
        </p:nvGraphicFramePr>
        <p:xfrm>
          <a:off x="365760" y="1371600"/>
          <a:ext cx="5212080" cy="3931920"/>
        </p:xfrm>
        <a:graphic>
          <a:graphicData uri="http://schemas.openxmlformats.org/drawingml/2006/table">
            <a:tbl>
              <a:tblPr firstRow="1" bandRow="1">
                <a:tableStyleId>{5C22544A-7EE6-4342-B048-85BDC9FD1C3A}</a:tableStyleId>
              </a:tblPr>
              <a:tblGrid>
                <a:gridCol w="2606040"/>
                <a:gridCol w="2606040"/>
              </a:tblGrid>
              <a:tr h="491490">
                <a:tc>
                  <a:txBody>
                    <a:bodyPr/>
                    <a:lstStyle/>
                    <a:p>
                      <a:pPr algn="ctr"/>
                      <a:r>
                        <a:rPr sz="14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佔比</a:t>
                      </a:r>
                    </a:p>
                  </a:txBody>
                  <a:tcPr anchor="ctr" marL="36576" marR="36576" marT="18288" marB="18288">
                    <a:solidFill>
                      <a:srgbClr val="333F50"/>
                    </a:solidFill>
                  </a:tcPr>
                </a:tc>
              </a:tr>
              <a:tr h="491490">
                <a:tc>
                  <a:txBody>
                    <a:bodyPr/>
                    <a:lstStyle/>
                    <a:p>
                      <a:pPr algn="l"/>
                      <a:r>
                        <a:rPr sz="1400" b="1">
                          <a:solidFill>
                            <a:srgbClr val="333F50"/>
                          </a:solidFill>
                          <a:latin typeface="楷体"/>
                          <a:ea typeface="楷体"/>
                          <a:cs typeface="楷体"/>
                        </a:rPr>
                        <a:t>火險</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26.4%</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財產全險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23.0%</a:t>
                      </a:r>
                    </a:p>
                  </a:txBody>
                  <a:tcPr anchor="ctr" marL="36576" marR="36576" marT="18288" marB="18288">
                    <a:solidFill>
                      <a:srgbClr val="F7F7F7"/>
                    </a:solidFill>
                  </a:tcPr>
                </a:tc>
              </a:tr>
              <a:tr h="491490">
                <a:tc>
                  <a:txBody>
                    <a:bodyPr/>
                    <a:lstStyle/>
                    <a:p>
                      <a:pPr algn="l"/>
                      <a:r>
                        <a:rPr sz="14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22.7%</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汽車險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9.1%</a:t>
                      </a:r>
                    </a:p>
                  </a:txBody>
                  <a:tcPr anchor="ctr" marL="36576" marR="36576" marT="18288" marB="18288">
                    <a:solidFill>
                      <a:srgbClr val="F7F7F7"/>
                    </a:solidFill>
                  </a:tcPr>
                </a:tc>
              </a:tr>
              <a:tr h="491490">
                <a:tc>
                  <a:txBody>
                    <a:bodyPr/>
                    <a:lstStyle/>
                    <a:p>
                      <a:pPr algn="l"/>
                      <a:r>
                        <a:rPr sz="14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8.7%</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8.0%</a:t>
                      </a:r>
                    </a:p>
                  </a:txBody>
                  <a:tcPr anchor="ctr" marL="36576" marR="36576" marT="18288" marB="18288">
                    <a:solidFill>
                      <a:srgbClr val="F7F7F7"/>
                    </a:solidFill>
                  </a:tcPr>
                </a:tc>
              </a:tr>
              <a:tr h="491490">
                <a:tc>
                  <a:txBody>
                    <a:bodyPr/>
                    <a:lstStyle/>
                    <a:p>
                      <a:pPr algn="l"/>
                      <a:r>
                        <a:rPr sz="1400" b="1">
                          <a:solidFill>
                            <a:srgbClr val="ED7D31"/>
                          </a:solidFill>
                          <a:latin typeface="楷体"/>
                          <a:ea typeface="楷体"/>
                          <a:cs typeface="楷体"/>
                        </a:rPr>
                        <a:t>其他險</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2.1%</a:t>
                      </a:r>
                    </a:p>
                  </a:txBody>
                  <a:tcPr anchor="ctr" marL="36576" marR="36576" marT="18288" marB="18288">
                    <a:solidFill>
                      <a:srgbClr val="FFFFFF"/>
                    </a:solidFill>
                  </a:tcPr>
                </a:tc>
              </a:tr>
            </a:tbl>
          </a:graphicData>
        </a:graphic>
      </p:graphicFrame>
      <p:graphicFrame>
        <p:nvGraphicFramePr>
          <p:cNvPr id="8" name="Table 7"/>
          <p:cNvGraphicFramePr>
            <a:graphicFrameLocks noGrp="1"/>
          </p:cNvGraphicFramePr>
          <p:nvPr/>
        </p:nvGraphicFramePr>
        <p:xfrm>
          <a:off x="6400800" y="1371600"/>
          <a:ext cx="5212080" cy="3931920"/>
        </p:xfrm>
        <a:graphic>
          <a:graphicData uri="http://schemas.openxmlformats.org/drawingml/2006/table">
            <a:tbl>
              <a:tblPr firstRow="1" bandRow="1">
                <a:tableStyleId>{5C22544A-7EE6-4342-B048-85BDC9FD1C3A}</a:tableStyleId>
              </a:tblPr>
              <a:tblGrid>
                <a:gridCol w="2606040"/>
                <a:gridCol w="2606040"/>
              </a:tblGrid>
              <a:tr h="491490">
                <a:tc>
                  <a:txBody>
                    <a:bodyPr/>
                    <a:lstStyle/>
                    <a:p>
                      <a:pPr algn="ctr"/>
                      <a:r>
                        <a:rPr sz="14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佔比</a:t>
                      </a:r>
                    </a:p>
                  </a:txBody>
                  <a:tcPr anchor="ctr" marL="36576" marR="36576" marT="18288" marB="18288">
                    <a:solidFill>
                      <a:srgbClr val="333F50"/>
                    </a:solidFill>
                  </a:tcPr>
                </a:tc>
              </a:tr>
              <a:tr h="491490">
                <a:tc>
                  <a:txBody>
                    <a:bodyPr/>
                    <a:lstStyle/>
                    <a:p>
                      <a:pPr algn="l"/>
                      <a:r>
                        <a:rPr sz="1400" b="1">
                          <a:solidFill>
                            <a:srgbClr val="333F50"/>
                          </a:solidFill>
                          <a:latin typeface="楷体"/>
                          <a:ea typeface="楷体"/>
                          <a:cs typeface="楷体"/>
                        </a:rPr>
                        <a:t>火險</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30.3%</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財產全險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28.0%</a:t>
                      </a:r>
                    </a:p>
                  </a:txBody>
                  <a:tcPr anchor="ctr" marL="36576" marR="36576" marT="18288" marB="18288">
                    <a:solidFill>
                      <a:srgbClr val="F7F7F7"/>
                    </a:solidFill>
                  </a:tcPr>
                </a:tc>
              </a:tr>
              <a:tr h="491490">
                <a:tc>
                  <a:txBody>
                    <a:bodyPr/>
                    <a:lstStyle/>
                    <a:p>
                      <a:pPr algn="l"/>
                      <a:r>
                        <a:rPr sz="14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20.3%</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汽車險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14.3%</a:t>
                      </a:r>
                    </a:p>
                  </a:txBody>
                  <a:tcPr anchor="ctr" marL="36576" marR="36576" marT="18288" marB="18288">
                    <a:solidFill>
                      <a:srgbClr val="F7F7F7"/>
                    </a:solidFill>
                  </a:tcPr>
                </a:tc>
              </a:tr>
              <a:tr h="491490">
                <a:tc>
                  <a:txBody>
                    <a:bodyPr/>
                    <a:lstStyle/>
                    <a:p>
                      <a:pPr algn="l"/>
                      <a:r>
                        <a:rPr sz="14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1.3%</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2.6%</a:t>
                      </a:r>
                    </a:p>
                  </a:txBody>
                  <a:tcPr anchor="ctr" marL="36576" marR="36576" marT="18288" marB="18288">
                    <a:solidFill>
                      <a:srgbClr val="F7F7F7"/>
                    </a:solidFill>
                  </a:tcPr>
                </a:tc>
              </a:tr>
              <a:tr h="491490">
                <a:tc>
                  <a:txBody>
                    <a:bodyPr/>
                    <a:lstStyle/>
                    <a:p>
                      <a:pPr algn="l"/>
                      <a:r>
                        <a:rPr sz="1400" b="1">
                          <a:solidFill>
                            <a:srgbClr val="ED7D31"/>
                          </a:solidFill>
                          <a:latin typeface="楷体"/>
                          <a:ea typeface="楷体"/>
                          <a:cs typeface="楷体"/>
                        </a:rPr>
                        <a:t>其他險</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3.2%</a:t>
                      </a:r>
                    </a:p>
                  </a:txBody>
                  <a:tcPr anchor="ctr" marL="36576" marR="36576" marT="18288" marB="18288">
                    <a:solidFill>
                      <a:srgbClr val="FFFFFF"/>
                    </a:solidFill>
                  </a:tcPr>
                </a:tc>
              </a:tr>
            </a:tbl>
          </a:graphicData>
        </a:graphic>
      </p:graphicFrame>
      <p:sp>
        <p:nvSpPr>
          <p:cNvPr id="9" name="TextBox 8"/>
          <p:cNvSpPr txBox="1"/>
          <p:nvPr/>
        </p:nvSpPr>
        <p:spPr>
          <a:xfrm>
            <a:off x="365760" y="5532120"/>
            <a:ext cx="11338560" cy="777240"/>
          </a:xfrm>
          <a:prstGeom prst="rect">
            <a:avLst/>
          </a:prstGeom>
          <a:noFill/>
        </p:spPr>
        <p:txBody>
          <a:bodyPr wrap="square">
            <a:spAutoFit/>
          </a:bodyPr>
          <a:lstStyle/>
          <a:p>
            <a:pPr algn="l"/>
            <a:r>
              <a:rPr sz="1500" b="0">
                <a:solidFill>
                  <a:srgbClr val="333F50"/>
                </a:solidFill>
                <a:latin typeface="楷体"/>
                <a:ea typeface="楷体"/>
                <a:cs typeface="楷体"/>
              </a:rPr>
              <a:t>佔比最大為火險26.4%（2025：30.3%），其次財產全險23.0%，合同分入22.7%。</a:t>
            </a:r>
          </a:p>
        </p:txBody>
      </p:sp>
      <p:sp>
        <p:nvSpPr>
          <p:cNvPr id="10" name="TextBox 9"/>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5</a:t>
            </a:r>
          </a:p>
        </p:txBody>
      </p:sp>
    </p:spTree>
  </p:cSld>
  <p:clrMapOvr>
    <a:masterClrMapping/>
  </p:clrMapOvr>
</p:sld>
</file>

<file path=ppt/slides/slide6.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毛保費（香港業務）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單位：萬港元。累計7,688.4萬，同比增加1,168.2萬。</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421640">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421640">
                <a:tc>
                  <a:txBody>
                    <a:bodyPr/>
                    <a:lstStyle/>
                    <a:p>
                      <a:pPr algn="l"/>
                      <a:r>
                        <a:rPr sz="12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1,576.1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2,236.0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-659.9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-29.5%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20.5%</a:t>
                      </a:r>
                    </a:p>
                  </a:txBody>
                  <a:tcPr anchor="ctr" marL="36576" marR="36576" marT="18288" marB="18288">
                    <a:solidFill>
                      <a:srgbClr val="FFFFFF"/>
                    </a:solidFill>
                  </a:tcPr>
                </a:tc>
              </a:tr>
              <a:tr h="421640">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991.4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104.3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887.1</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850.5%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12.9%</a:t>
                      </a:r>
                    </a:p>
                  </a:txBody>
                  <a:tcPr anchor="ctr" marL="36576" marR="36576" marT="18288" marB="18288">
                    <a:solidFill>
                      <a:srgbClr val="F7F7F7"/>
                    </a:solidFill>
                  </a:tcPr>
                </a:tc>
              </a:tr>
              <a:tr h="421640">
                <a:tc>
                  <a:txBody>
                    <a:bodyPr/>
                    <a:lstStyle/>
                    <a:p>
                      <a:pPr algn="l"/>
                      <a:r>
                        <a:rPr sz="12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98.2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88.0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1.3%</a:t>
                      </a:r>
                    </a:p>
                  </a:txBody>
                  <a:tcPr anchor="ctr" marL="36576" marR="36576" marT="18288" marB="18288">
                    <a:solidFill>
                      <a:srgbClr val="FFFFFF"/>
                    </a:solidFill>
                  </a:tcPr>
                </a:tc>
              </a:tr>
              <a:tr h="421640">
                <a:tc>
                  <a:txBody>
                    <a:bodyPr/>
                    <a:lstStyle/>
                    <a:p>
                      <a:pPr algn="l"/>
                      <a:r>
                        <a:rPr sz="12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210.5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240.2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-29.7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2.7%</a:t>
                      </a:r>
                    </a:p>
                  </a:txBody>
                  <a:tcPr anchor="ctr" marL="36576" marR="36576" marT="18288" marB="18288">
                    <a:solidFill>
                      <a:srgbClr val="F7F7F7"/>
                    </a:solidFill>
                  </a:tcPr>
                </a:tc>
              </a:tr>
              <a:tr h="421640">
                <a:tc>
                  <a:txBody>
                    <a:bodyPr/>
                    <a:lstStyle/>
                    <a:p>
                      <a:pPr algn="l"/>
                      <a:r>
                        <a:rPr sz="12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420.8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480.1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-59.3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-12.4%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5.5%</a:t>
                      </a:r>
                    </a:p>
                  </a:txBody>
                  <a:tcPr anchor="ctr" marL="36576" marR="36576" marT="18288" marB="18288">
                    <a:solidFill>
                      <a:srgbClr val="FFFFFF"/>
                    </a:solidFill>
                  </a:tcPr>
                </a:tc>
              </a:tr>
              <a:tr h="421640">
                <a:tc>
                  <a:txBody>
                    <a:bodyPr/>
                    <a:lstStyle/>
                    <a:p>
                      <a:pPr algn="l"/>
                      <a:r>
                        <a:rPr sz="12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80.4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188.6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-108.2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-57.4%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1.0%</a:t>
                      </a:r>
                    </a:p>
                  </a:txBody>
                  <a:tcPr anchor="ctr" marL="36576" marR="36576" marT="18288" marB="18288">
                    <a:solidFill>
                      <a:srgbClr val="F7F7F7"/>
                    </a:solidFill>
                  </a:tcPr>
                </a:tc>
              </a:tr>
              <a:tr h="421640">
                <a:tc>
                  <a:txBody>
                    <a:bodyPr/>
                    <a:lstStyle/>
                    <a:p>
                      <a:pPr algn="l"/>
                      <a:r>
                        <a:rPr sz="12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4,311.0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3,183.0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1,128.0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35.4%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56.1%</a:t>
                      </a:r>
                    </a:p>
                  </a:txBody>
                  <a:tcPr anchor="ctr" marL="36576" marR="36576" marT="18288" marB="18288">
                    <a:solidFill>
                      <a:srgbClr val="FFFFFF"/>
                    </a:solidFill>
                  </a:tcPr>
                </a:tc>
              </a:tr>
              <a:tr h="421640">
                <a:tc>
                  <a:txBody>
                    <a:bodyPr/>
                    <a:lstStyle/>
                    <a:p>
                      <a:pPr algn="l"/>
                      <a:r>
                        <a:rPr sz="12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7,688.4</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6,520.2</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1,168.2</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17.9%</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7F7F7"/>
                    </a:solidFill>
                  </a:tcPr>
                </a:tc>
              </a:tr>
            </a:tbl>
          </a:graphicData>
        </a:graphic>
      </p:graphicFrame>
      <p:sp>
        <p:nvSpPr>
          <p:cNvPr id="7" name="TextBox 6"/>
          <p:cNvSpPr txBox="1"/>
          <p:nvPr/>
        </p:nvSpPr>
        <p:spPr>
          <a:xfrm>
            <a:off x="320040" y="5212080"/>
            <a:ext cx="11521440" cy="1097280"/>
          </a:xfrm>
          <a:prstGeom prst="rect">
            <a:avLst/>
          </a:prstGeom>
          <a:noFill/>
        </p:spPr>
        <p:txBody>
          <a:bodyPr wrap="square">
            <a:spAutoFit/>
          </a:bodyPr>
          <a:lstStyle/>
          <a:p>
            <a:pPr algn="l"/>
            <a:r>
              <a:rPr sz="1400" b="0">
                <a:solidFill>
                  <a:srgbClr val="333F50"/>
                </a:solidFill>
                <a:latin typeface="楷体"/>
                <a:ea typeface="楷体"/>
                <a:cs typeface="楷体"/>
              </a:rPr>
              <a:t>合同分入佔56.1%（2025：48.8%），汽車險佔20.5%，意外及健康險佔12.9%。</a:t>
            </a:r>
          </a:p>
        </p:txBody>
      </p:sp>
      <p:sp>
        <p:nvSpPr>
          <p:cNvPr id="8" name="TextBox 7"/>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6</a:t>
            </a:r>
          </a:p>
        </p:txBody>
      </p:sp>
    </p:spTree>
  </p:cSld>
  <p:clrMapOvr>
    <a:masterClrMapping/>
  </p:clrMapOvr>
</p:sld>
</file>

<file path=ppt/slides/slide7.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直接業務毛保費（香港業務）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474345">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474345">
                <a:tc>
                  <a:txBody>
                    <a:bodyPr/>
                    <a:lstStyle/>
                    <a:p>
                      <a:pPr algn="l"/>
                      <a:r>
                        <a:rPr sz="12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1,576.1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2,236.0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-659.9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-29.5%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46.7%</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420.6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90.2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330.4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366.3%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12.5%</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98.2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88.0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2.9%</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210.5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240.2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-29.7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6.2%</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420.8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480.1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-59.3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-12.4%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12.5%</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80.4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120.4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-33.2%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2.4%</a:t>
                      </a:r>
                    </a:p>
                  </a:txBody>
                  <a:tcPr anchor="ctr" marL="36576" marR="36576" marT="18288" marB="18288">
                    <a:solidFill>
                      <a:srgbClr val="F7F7F7"/>
                    </a:solidFill>
                  </a:tcPr>
                </a:tc>
              </a:tr>
              <a:tr h="474345">
                <a:tc>
                  <a:txBody>
                    <a:bodyPr/>
                    <a:lstStyle/>
                    <a:p>
                      <a:pPr algn="l"/>
                      <a:r>
                        <a:rPr sz="12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2,806.6</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3,254.9</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-448.3</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-13.8%</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FFFFF"/>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7</a:t>
            </a:r>
          </a:p>
        </p:txBody>
      </p:sp>
    </p:spTree>
  </p:cSld>
  <p:clrMapOvr>
    <a:masterClrMapping/>
  </p:clrMapOvr>
</p:sld>
</file>

<file path=ppt/slides/slide8.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分入業務毛保費（香港業務）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758952">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758952">
                <a:tc>
                  <a:txBody>
                    <a:bodyPr/>
                    <a:lstStyle/>
                    <a:p>
                      <a:pPr algn="l"/>
                      <a:r>
                        <a:rPr sz="1200" b="1">
                          <a:solidFill>
                            <a:srgbClr val="333F50"/>
                          </a:solidFill>
                          <a:latin typeface="楷体"/>
                          <a:ea typeface="楷体"/>
                          <a:cs typeface="楷体"/>
                        </a:rPr>
                        <a:t>意外及健康險（臨分）</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570.8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556.7</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3948.2%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11.7%</a:t>
                      </a:r>
                    </a:p>
                  </a:txBody>
                  <a:tcPr anchor="ctr" marL="36576" marR="36576" marT="18288" marB="18288">
                    <a:solidFill>
                      <a:srgbClr val="FFFFFF"/>
                    </a:solidFill>
                  </a:tcPr>
                </a:tc>
              </a:tr>
              <a:tr h="758952">
                <a:tc>
                  <a:txBody>
                    <a:bodyPr/>
                    <a:lstStyle/>
                    <a:p>
                      <a:pPr algn="l"/>
                      <a:r>
                        <a:rPr sz="1200" b="1">
                          <a:solidFill>
                            <a:srgbClr val="333F50"/>
                          </a:solidFill>
                          <a:latin typeface="楷体"/>
                          <a:ea typeface="楷体"/>
                          <a:cs typeface="楷体"/>
                        </a:rPr>
                        <a:t>其他臨分</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68.2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-68.2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0.0%</a:t>
                      </a:r>
                    </a:p>
                  </a:txBody>
                  <a:tcPr anchor="ctr" marL="36576" marR="36576" marT="18288" marB="18288">
                    <a:solidFill>
                      <a:srgbClr val="F7F7F7"/>
                    </a:solidFill>
                  </a:tcPr>
                </a:tc>
              </a:tr>
              <a:tr h="758952">
                <a:tc>
                  <a:txBody>
                    <a:bodyPr/>
                    <a:lstStyle/>
                    <a:p>
                      <a:pPr algn="l"/>
                      <a:r>
                        <a:rPr sz="12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4,311.0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3,183.0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1,128.0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35.4%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88.3%</a:t>
                      </a:r>
                    </a:p>
                  </a:txBody>
                  <a:tcPr anchor="ctr" marL="36576" marR="36576" marT="18288" marB="18288">
                    <a:solidFill>
                      <a:srgbClr val="FFFFFF"/>
                    </a:solidFill>
                  </a:tcPr>
                </a:tc>
              </a:tr>
              <a:tr h="758952">
                <a:tc>
                  <a:txBody>
                    <a:bodyPr/>
                    <a:lstStyle/>
                    <a:p>
                      <a:pPr algn="l"/>
                      <a:r>
                        <a:rPr sz="12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4,881.8</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3,265.3</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1,616.5</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49.5%</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7F7F7"/>
                    </a:solidFill>
                  </a:tcPr>
                </a:tc>
              </a:tr>
            </a:tbl>
          </a:graphicData>
        </a:graphic>
      </p:graphicFrame>
      <p:sp>
        <p:nvSpPr>
          <p:cNvPr id="7" name="TextBox 6"/>
          <p:cNvSpPr txBox="1"/>
          <p:nvPr/>
        </p:nvSpPr>
        <p:spPr>
          <a:xfrm>
            <a:off x="320040" y="5212080"/>
            <a:ext cx="11521440" cy="1097280"/>
          </a:xfrm>
          <a:prstGeom prst="rect">
            <a:avLst/>
          </a:prstGeom>
          <a:noFill/>
        </p:spPr>
        <p:txBody>
          <a:bodyPr wrap="square">
            <a:spAutoFit/>
          </a:bodyPr>
          <a:lstStyle/>
          <a:p>
            <a:pPr algn="l"/>
            <a:r>
              <a:rPr sz="1400" b="0">
                <a:solidFill>
                  <a:srgbClr val="333F50"/>
                </a:solidFill>
                <a:latin typeface="楷体"/>
                <a:ea typeface="楷体"/>
                <a:cs typeface="楷体"/>
              </a:rPr>
              <a:t>合同分入增加主要來自虛構的北灣銀行團體醫療及海峽金橋非壽險合同。</a:t>
            </a:r>
          </a:p>
        </p:txBody>
      </p:sp>
      <p:sp>
        <p:nvSpPr>
          <p:cNvPr id="8" name="TextBox 7"/>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8</a:t>
            </a:r>
          </a:p>
        </p:txBody>
      </p:sp>
    </p:spTree>
  </p:cSld>
  <p:clrMapOvr>
    <a:masterClrMapping/>
  </p:clrMapOvr>
</p:sld>
</file>

<file path=ppt/slides/slide9.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毛保費（澳門業務）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單位：萬港元。累計10,952.1萬，同比增加1,351.5萬。</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474345">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474345">
                <a:tc>
                  <a:txBody>
                    <a:bodyPr/>
                    <a:lstStyle/>
                    <a:p>
                      <a:pPr algn="l"/>
                      <a:r>
                        <a:rPr sz="12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112.1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74.5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37.6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50.5%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1.0%</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497.2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316.1</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181.1</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57.3%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4.5%</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1,524.2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122.8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1,401.4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1141.2%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13.9%</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4,710.0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4,648.0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62.0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43.0%</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3,867.9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4,030.5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-162.6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35.3%</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240.7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408.7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-168.0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-41.1%</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2.2%</a:t>
                      </a:r>
                    </a:p>
                  </a:txBody>
                  <a:tcPr anchor="ctr" marL="36576" marR="36576" marT="18288" marB="18288">
                    <a:solidFill>
                      <a:srgbClr val="F7F7F7"/>
                    </a:solidFill>
                  </a:tcPr>
                </a:tc>
              </a:tr>
              <a:tr h="474345">
                <a:tc>
                  <a:txBody>
                    <a:bodyPr/>
                    <a:lstStyle/>
                    <a:p>
                      <a:pPr algn="l"/>
                      <a:r>
                        <a:rPr sz="12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10,952.1</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9,600.6</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1,351.5</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14.1%</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FFFFF"/>
                    </a:solidFill>
                  </a:tcPr>
                </a:tc>
              </a:tr>
            </a:tbl>
          </a:graphicData>
        </a:graphic>
      </p:graphicFrame>
      <p:sp>
        <p:nvSpPr>
          <p:cNvPr id="7" name="TextBox 6"/>
          <p:cNvSpPr txBox="1"/>
          <p:nvPr/>
        </p:nvSpPr>
        <p:spPr>
          <a:xfrm>
            <a:off x="320040" y="5212080"/>
            <a:ext cx="11521440" cy="1097280"/>
          </a:xfrm>
          <a:prstGeom prst="rect">
            <a:avLst/>
          </a:prstGeom>
          <a:noFill/>
        </p:spPr>
        <p:txBody>
          <a:bodyPr wrap="square">
            <a:spAutoFit/>
          </a:bodyPr>
          <a:lstStyle/>
          <a:p>
            <a:pPr algn="l"/>
            <a:r>
              <a:rPr sz="1400" b="0">
                <a:solidFill>
                  <a:srgbClr val="333F50"/>
                </a:solidFill>
                <a:latin typeface="楷体"/>
                <a:ea typeface="楷体"/>
                <a:cs typeface="楷体"/>
              </a:rPr>
              <a:t>火險為最大險種，佔43.0%（2025：48.4%），其次財產全險35.3%，勞工險13.9%。</a:t>
            </a:r>
          </a:p>
        </p:txBody>
      </p:sp>
      <p:sp>
        <p:nvSpPr>
          <p:cNvPr id="8" name="TextBox 7"/>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9</a:t>
            </a:r>
          </a:p>
        </p:txBody>
      </p:sp>
    </p:spTree>
  </p:cSld>
  <p:clrMapOvr>
    <a:masterClrMapping/>
  </p:clrMapOvr>
</p:sld>
</file>

<file path=ppt/slides/slide10.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直接業務毛保費（澳門業務）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474345">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474345">
                <a:tc>
                  <a:txBody>
                    <a:bodyPr/>
                    <a:lstStyle/>
                    <a:p>
                      <a:pPr algn="l"/>
                      <a:r>
                        <a:rPr sz="12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112.1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74.5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37.6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50.5%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1.3%</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360.4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250.2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110.2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44.0%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4.3%</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210.5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122.8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87.7</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71.4%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2.5%</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4,710.0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4,648.0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62.0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56.0%</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3,867.9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4,030.5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-162.6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46.0%</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152.8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240.5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-87.7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-36.5%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1.8%</a:t>
                      </a:r>
                    </a:p>
                  </a:txBody>
                  <a:tcPr anchor="ctr" marL="36576" marR="36576" marT="18288" marB="18288">
                    <a:solidFill>
                      <a:srgbClr val="F7F7F7"/>
                    </a:solidFill>
                  </a:tcPr>
                </a:tc>
              </a:tr>
              <a:tr h="474345">
                <a:tc>
                  <a:txBody>
                    <a:bodyPr/>
                    <a:lstStyle/>
                    <a:p>
                      <a:pPr algn="l"/>
                      <a:r>
                        <a:rPr sz="12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8,413.7</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9,366.5</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-952.8</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-10.2%</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FFFFF"/>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10</a:t>
            </a:r>
          </a:p>
        </p:txBody>
      </p:sp>
    </p:spTree>
  </p:cSld>
  <p:clrMapOvr>
    <a:masterClrMapping/>
  </p:clrMapOvr>
</p:sld>
</file>

<file path=ppt/slides/slide11.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分入業務毛保費（澳門業務）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758952">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758952">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136.8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65.9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70.9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107.6%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5.4%</a:t>
                      </a:r>
                    </a:p>
                  </a:txBody>
                  <a:tcPr anchor="ctr" marL="36576" marR="36576" marT="18288" marB="18288">
                    <a:solidFill>
                      <a:srgbClr val="FFFFFF"/>
                    </a:solidFill>
                  </a:tcPr>
                </a:tc>
              </a:tr>
              <a:tr h="758952">
                <a:tc>
                  <a:txBody>
                    <a:bodyPr/>
                    <a:lstStyle/>
                    <a:p>
                      <a:pPr algn="l"/>
                      <a:r>
                        <a:rPr sz="1200" b="1">
                          <a:solidFill>
                            <a:srgbClr val="333F50"/>
                          </a:solidFill>
                          <a:latin typeface="楷体"/>
                          <a:ea typeface="楷体"/>
                          <a:cs typeface="楷体"/>
                        </a:rPr>
                        <a:t>勞工險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1,313.7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1,313.7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51.8%</a:t>
                      </a:r>
                    </a:p>
                  </a:txBody>
                  <a:tcPr anchor="ctr" marL="36576" marR="36576" marT="18288" marB="18288">
                    <a:solidFill>
                      <a:srgbClr val="F7F7F7"/>
                    </a:solidFill>
                  </a:tcPr>
                </a:tc>
              </a:tr>
              <a:tr h="758952">
                <a:tc>
                  <a:txBody>
                    <a:bodyPr/>
                    <a:lstStyle/>
                    <a:p>
                      <a:pPr algn="l"/>
                      <a:r>
                        <a:rPr sz="1200" b="1">
                          <a:solidFill>
                            <a:srgbClr val="333F50"/>
                          </a:solidFill>
                          <a:latin typeface="楷体"/>
                          <a:ea typeface="楷体"/>
                          <a:cs typeface="楷体"/>
                        </a:rPr>
                        <a:t>其他險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87.9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168.2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-80.3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-47.7%</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3.5%</a:t>
                      </a:r>
                    </a:p>
                  </a:txBody>
                  <a:tcPr anchor="ctr" marL="36576" marR="36576" marT="18288" marB="18288">
                    <a:solidFill>
                      <a:srgbClr val="FFFFFF"/>
                    </a:solidFill>
                  </a:tcPr>
                </a:tc>
              </a:tr>
              <a:tr h="758952">
                <a:tc>
                  <a:txBody>
                    <a:bodyPr/>
                    <a:lstStyle/>
                    <a:p>
                      <a:pPr algn="l"/>
                      <a:r>
                        <a:rPr sz="12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2,538.4</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234.1</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2,304.3</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984.3%</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7F7F7"/>
                    </a:solidFill>
                  </a:tcPr>
                </a:tc>
              </a:tr>
            </a:tbl>
          </a:graphicData>
        </a:graphic>
      </p:graphicFrame>
      <p:sp>
        <p:nvSpPr>
          <p:cNvPr id="7" name="TextBox 6"/>
          <p:cNvSpPr txBox="1"/>
          <p:nvPr/>
        </p:nvSpPr>
        <p:spPr>
          <a:xfrm>
            <a:off x="320040" y="5212080"/>
            <a:ext cx="11521440" cy="1097280"/>
          </a:xfrm>
          <a:prstGeom prst="rect">
            <a:avLst/>
          </a:prstGeom>
          <a:noFill/>
        </p:spPr>
        <p:txBody>
          <a:bodyPr wrap="square">
            <a:spAutoFit/>
          </a:bodyPr>
          <a:lstStyle/>
          <a:p>
            <a:pPr algn="l"/>
            <a:r>
              <a:rPr sz="1400" b="0">
                <a:solidFill>
                  <a:srgbClr val="333F50"/>
                </a:solidFill>
                <a:latin typeface="楷体"/>
                <a:ea typeface="楷体"/>
                <a:cs typeface="楷体"/>
              </a:rPr>
              <a:t>勞工險分入來自虛構的南灣勞務險合約。</a:t>
            </a:r>
          </a:p>
        </p:txBody>
      </p:sp>
      <p:sp>
        <p:nvSpPr>
          <p:cNvPr id="8" name="TextBox 7"/>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11</a:t>
            </a:r>
          </a:p>
        </p:txBody>
      </p:sp>
    </p:spTree>
  </p:cSld>
  <p:clrMapOvr>
    <a:masterClrMapping/>
  </p:clrMapOvr>
</p:sld>
</file>

<file path=ppt/slides/slide12.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已承付申索淨額</a:t>
            </a:r>
          </a:p>
        </p:txBody>
      </p:sp>
      <p:sp>
        <p:nvSpPr>
          <p:cNvPr id="5" name="TextBox 4"/>
          <p:cNvSpPr txBox="1"/>
          <p:nvPr/>
        </p:nvSpPr>
        <p:spPr>
          <a:xfrm>
            <a:off x="274320" y="868680"/>
            <a:ext cx="10972800" cy="256032"/>
          </a:xfrm>
          <a:prstGeom prst="rect">
            <a:avLst/>
          </a:prstGeom>
          <a:noFill/>
        </p:spPr>
        <p:txBody>
          <a:bodyPr wrap="square">
            <a:spAutoFit/>
          </a:bodyPr>
          <a:lstStyle/>
          <a:p>
            <a:pPr algn="l"/>
            <a:r>
              <a:rPr sz="1200" b="0">
                <a:solidFill>
                  <a:srgbClr val="888888"/>
                </a:solidFill>
                <a:latin typeface="楷体"/>
                <a:ea typeface="楷体"/>
                <a:cs typeface="楷体"/>
              </a:rPr>
              <a:t>單位：萬港元。2026年1–10月。</a:t>
            </a:r>
          </a:p>
        </p:txBody>
      </p:sp>
      <p:graphicFrame>
        <p:nvGraphicFramePr>
          <p:cNvPr id="6" name="Table 5"/>
          <p:cNvGraphicFramePr>
            <a:graphicFrameLocks noGrp="1"/>
          </p:cNvGraphicFramePr>
          <p:nvPr/>
        </p:nvGraphicFramePr>
        <p:xfrm>
          <a:off x="182880" y="1188720"/>
          <a:ext cx="11841480" cy="3657600"/>
        </p:xfrm>
        <a:graphic>
          <a:graphicData uri="http://schemas.openxmlformats.org/drawingml/2006/table">
            <a:tbl>
              <a:tblPr firstRow="1" bandRow="1">
                <a:tableStyleId>{5C22544A-7EE6-4342-B048-85BDC9FD1C3A}</a:tableStyleId>
              </a:tblPr>
              <a:tblGrid>
                <a:gridCol w="1480185"/>
                <a:gridCol w="1480185"/>
                <a:gridCol w="1480185"/>
                <a:gridCol w="1480185"/>
                <a:gridCol w="1480185"/>
                <a:gridCol w="1480185"/>
                <a:gridCol w="1480185"/>
                <a:gridCol w="1480185"/>
              </a:tblGrid>
              <a:tr h="406400">
                <a:tc>
                  <a:txBody>
                    <a:bodyPr/>
                    <a:lstStyle/>
                    <a:p>
                      <a:pPr algn="ctr"/>
                      <a:r>
                        <a:rPr sz="11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香港</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香港同比</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澳門</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澳門同比</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合計</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合計同比</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合計同比%</a:t>
                      </a:r>
                    </a:p>
                  </a:txBody>
                  <a:tcPr anchor="ctr" marL="36576" marR="36576" marT="18288" marB="18288">
                    <a:solidFill>
                      <a:srgbClr val="333F50"/>
                    </a:solidFill>
                  </a:tcPr>
                </a:tc>
              </a:tr>
              <a:tr h="406400">
                <a:tc>
                  <a:txBody>
                    <a:bodyPr/>
                    <a:lstStyle/>
                    <a:p>
                      <a:pPr algn="l"/>
                      <a:r>
                        <a:rPr sz="11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1,880.2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96.4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52.8</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18.6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1,933.0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115.0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6.3%</a:t>
                      </a:r>
                    </a:p>
                  </a:txBody>
                  <a:tcPr anchor="ctr" marL="36576" marR="36576" marT="18288" marB="18288">
                    <a:solidFill>
                      <a:srgbClr val="FFFFFF"/>
                    </a:solidFill>
                  </a:tcPr>
                </a:tc>
              </a:tr>
              <a:tr h="406400">
                <a:tc>
                  <a:txBody>
                    <a:bodyPr/>
                    <a:lstStyle/>
                    <a:p>
                      <a:pPr algn="l"/>
                      <a:r>
                        <a:rPr sz="11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610.5</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420.2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160.4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22.1</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770.9</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442.3</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134.6%</a:t>
                      </a:r>
                    </a:p>
                  </a:txBody>
                  <a:tcPr anchor="ctr" marL="36576" marR="36576" marT="18288" marB="18288">
                    <a:solidFill>
                      <a:srgbClr val="F7F7F7"/>
                    </a:solidFill>
                  </a:tcPr>
                </a:tc>
              </a:tr>
              <a:tr h="406400">
                <a:tc>
                  <a:txBody>
                    <a:bodyPr/>
                    <a:lstStyle/>
                    <a:p>
                      <a:pPr algn="l"/>
                      <a:r>
                        <a:rPr sz="11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-80.4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40.2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820.6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640.5</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740.2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680.7</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1144.4%</a:t>
                      </a:r>
                    </a:p>
                  </a:txBody>
                  <a:tcPr anchor="ctr" marL="36576" marR="36576" marT="18288" marB="18288">
                    <a:solidFill>
                      <a:srgbClr val="FFFFFF"/>
                    </a:solidFill>
                  </a:tcPr>
                </a:tc>
              </a:tr>
              <a:tr h="406400">
                <a:tc>
                  <a:txBody>
                    <a:bodyPr/>
                    <a:lstStyle/>
                    <a:p>
                      <a:pPr algn="l"/>
                      <a:r>
                        <a:rPr sz="11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8.2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-12.4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-98.6</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-120.4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-90.4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-132.8</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-312.7%</a:t>
                      </a:r>
                    </a:p>
                  </a:txBody>
                  <a:tcPr anchor="ctr" marL="36576" marR="36576" marT="18288" marB="18288">
                    <a:solidFill>
                      <a:srgbClr val="F7F7F7"/>
                    </a:solidFill>
                  </a:tcPr>
                </a:tc>
              </a:tr>
              <a:tr h="406400">
                <a:tc>
                  <a:txBody>
                    <a:bodyPr/>
                    <a:lstStyle/>
                    <a:p>
                      <a:pPr algn="l"/>
                      <a:r>
                        <a:rPr sz="11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22.6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-40.2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-88.6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-17.6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-82.2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-127.3%</a:t>
                      </a:r>
                    </a:p>
                  </a:txBody>
                  <a:tcPr anchor="ctr" marL="36576" marR="36576" marT="18288" marB="18288">
                    <a:solidFill>
                      <a:srgbClr val="FFFFFF"/>
                    </a:solidFill>
                  </a:tcPr>
                </a:tc>
              </a:tr>
              <a:tr h="406400">
                <a:tc>
                  <a:txBody>
                    <a:bodyPr/>
                    <a:lstStyle/>
                    <a:p>
                      <a:pPr algn="l"/>
                      <a:r>
                        <a:rPr sz="11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-6.2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-40.1</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4.8</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-38.9</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-96.5%</a:t>
                      </a:r>
                    </a:p>
                  </a:txBody>
                  <a:tcPr anchor="ctr" marL="36576" marR="36576" marT="18288" marB="18288">
                    <a:solidFill>
                      <a:srgbClr val="F7F7F7"/>
                    </a:solidFill>
                  </a:tcPr>
                </a:tc>
              </a:tr>
              <a:tr h="406400">
                <a:tc>
                  <a:txBody>
                    <a:bodyPr/>
                    <a:lstStyle/>
                    <a:p>
                      <a:pPr algn="l"/>
                      <a:r>
                        <a:rPr sz="11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1,510.4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388.6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0.0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0.0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1,510.4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388.6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34.6%</a:t>
                      </a:r>
                    </a:p>
                  </a:txBody>
                  <a:tcPr anchor="ctr" marL="36576" marR="36576" marT="18288" marB="18288">
                    <a:solidFill>
                      <a:srgbClr val="FFFFFF"/>
                    </a:solidFill>
                  </a:tcPr>
                </a:tc>
              </a:tr>
              <a:tr h="406400">
                <a:tc>
                  <a:txBody>
                    <a:bodyPr/>
                    <a:lstStyle/>
                    <a:p>
                      <a:pPr algn="l"/>
                      <a:r>
                        <a:rPr sz="11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3,945.3</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899.3</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899.8</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473.4</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4,845.1</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1,372.7</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39.5%</a:t>
                      </a:r>
                    </a:p>
                  </a:txBody>
                  <a:tcPr anchor="ctr" marL="36576" marR="36576" marT="18288" marB="18288">
                    <a:solidFill>
                      <a:srgbClr val="F7F7F7"/>
                    </a:solidFill>
                  </a:tcPr>
                </a:tc>
              </a:tr>
            </a:tbl>
          </a:graphicData>
        </a:graphic>
      </p:graphicFrame>
      <p:sp>
        <p:nvSpPr>
          <p:cNvPr id="7" name="TextBox 6"/>
          <p:cNvSpPr txBox="1"/>
          <p:nvPr/>
        </p:nvSpPr>
        <p:spPr>
          <a:xfrm>
            <a:off x="274320" y="5074920"/>
            <a:ext cx="11612880" cy="1280160"/>
          </a:xfrm>
          <a:prstGeom prst="rect">
            <a:avLst/>
          </a:prstGeom>
          <a:noFill/>
        </p:spPr>
        <p:txBody>
          <a:bodyPr wrap="square">
            <a:spAutoFit/>
          </a:bodyPr>
          <a:lstStyle/>
          <a:p>
            <a:pPr algn="l"/>
            <a:r>
              <a:rPr sz="1400" b="0">
                <a:solidFill>
                  <a:srgbClr val="333F50"/>
                </a:solidFill>
                <a:latin typeface="楷体"/>
                <a:ea typeface="楷体"/>
                <a:cs typeface="楷体"/>
              </a:rPr>
              <a:t>累計已承付申索淨額4,845.1萬，同比增加1,372.7萬，主要是勞工險、意外及健康險及合同分入。
香港3,945.3萬，同比增加899.3萬。澳門899.8萬，同比增加473.4萬。</a:t>
            </a:r>
          </a:p>
        </p:txBody>
      </p:sp>
      <p:sp>
        <p:nvSpPr>
          <p:cNvPr id="8" name="TextBox 7"/>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12</a:t>
            </a:r>
          </a:p>
        </p:txBody>
      </p:sp>
    </p:spTree>
  </p:cSld>
  <p:clrMapOvr>
    <a:masterClrMapping/>
  </p:clrMapOvr>
</p:sld>
</file>

<file path=ppt/slides/slide13.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綜合成本率</a:t>
            </a:r>
          </a:p>
        </p:txBody>
      </p:sp>
      <p:graphicFrame>
        <p:nvGraphicFramePr>
          <p:cNvPr id="5" name="Table 4"/>
          <p:cNvGraphicFramePr>
            <a:graphicFrameLocks noGrp="1"/>
          </p:cNvGraphicFramePr>
          <p:nvPr/>
        </p:nvGraphicFramePr>
        <p:xfrm>
          <a:off x="256032" y="1051560"/>
          <a:ext cx="11658600" cy="3200400"/>
        </p:xfrm>
        <a:graphic>
          <a:graphicData uri="http://schemas.openxmlformats.org/drawingml/2006/table">
            <a:tbl>
              <a:tblPr firstRow="1" bandRow="1">
                <a:tableStyleId>{5C22544A-7EE6-4342-B048-85BDC9FD1C3A}</a:tableStyleId>
              </a:tblPr>
              <a:tblGrid>
                <a:gridCol w="1665514"/>
                <a:gridCol w="1665514"/>
                <a:gridCol w="1665514"/>
                <a:gridCol w="1665514"/>
                <a:gridCol w="1665514"/>
                <a:gridCol w="1665514"/>
                <a:gridCol w="1665516"/>
              </a:tblGrid>
              <a:tr h="457200">
                <a:tc>
                  <a:txBody>
                    <a:bodyPr/>
                    <a:lstStyle/>
                    <a:p>
                      <a:pPr algn="ctr"/>
                      <a:r>
                        <a:rPr sz="13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淨佣金率</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賠付率</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費用率</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綜合成本率</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去年綜合</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變動(百分點)</a:t>
                      </a:r>
                    </a:p>
                  </a:txBody>
                  <a:tcPr anchor="ctr" marL="36576" marR="36576" marT="18288" marB="18288">
                    <a:solidFill>
                      <a:srgbClr val="333F50"/>
                    </a:solidFill>
                  </a:tcPr>
                </a:tc>
              </a:tr>
              <a:tr h="457200">
                <a:tc>
                  <a:txBody>
                    <a:bodyPr/>
                    <a:lstStyle/>
                    <a:p>
                      <a:pPr algn="l"/>
                      <a:r>
                        <a:rPr sz="1300" b="1">
                          <a:solidFill>
                            <a:srgbClr val="333F50"/>
                          </a:solidFill>
                          <a:latin typeface="楷体"/>
                          <a:ea typeface="楷体"/>
                          <a:cs typeface="楷体"/>
                        </a:rPr>
                        <a:t>意外及健康險</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72.4%</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89.7%</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89.1%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0.6</a:t>
                      </a:r>
                    </a:p>
                  </a:txBody>
                  <a:tcPr anchor="ctr" marL="36576" marR="36576" marT="18288" marB="18288">
                    <a:solidFill>
                      <a:srgbClr val="FFFFFF"/>
                    </a:solidFill>
                  </a:tcPr>
                </a:tc>
              </a:tr>
              <a:tr h="457200">
                <a:tc>
                  <a:txBody>
                    <a:bodyPr/>
                    <a:lstStyle/>
                    <a:p>
                      <a:pPr algn="l"/>
                      <a:r>
                        <a:rPr sz="1300" b="1">
                          <a:solidFill>
                            <a:srgbClr val="333F50"/>
                          </a:solidFill>
                          <a:latin typeface="楷体"/>
                          <a:ea typeface="楷体"/>
                          <a:cs typeface="楷体"/>
                        </a:rPr>
                        <a:t>汽車險</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27.6%</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104.2%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9.4%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141.2%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135.1%</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6.1</a:t>
                      </a:r>
                    </a:p>
                  </a:txBody>
                  <a:tcPr anchor="ctr" marL="36576" marR="36576" marT="18288" marB="18288">
                    <a:solidFill>
                      <a:srgbClr val="F7F7F7"/>
                    </a:solidFill>
                  </a:tcPr>
                </a:tc>
              </a:tr>
              <a:tr h="457200">
                <a:tc>
                  <a:txBody>
                    <a:bodyPr/>
                    <a:lstStyle/>
                    <a:p>
                      <a:pPr algn="l"/>
                      <a:r>
                        <a:rPr sz="1300" b="1">
                          <a:solidFill>
                            <a:srgbClr val="333F50"/>
                          </a:solidFill>
                          <a:latin typeface="楷体"/>
                          <a:ea typeface="楷体"/>
                          <a:cs typeface="楷体"/>
                        </a:rPr>
                        <a:t>財產險</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68.4%</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1.8%</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5.4%</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75.6%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81.2%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-5.6</a:t>
                      </a:r>
                    </a:p>
                  </a:txBody>
                  <a:tcPr anchor="ctr" marL="36576" marR="36576" marT="18288" marB="18288">
                    <a:solidFill>
                      <a:srgbClr val="FFFFFF"/>
                    </a:solidFill>
                  </a:tcPr>
                </a:tc>
              </a:tr>
              <a:tr h="457200">
                <a:tc>
                  <a:txBody>
                    <a:bodyPr/>
                    <a:lstStyle/>
                    <a:p>
                      <a:pPr algn="l"/>
                      <a:r>
                        <a:rPr sz="1300" b="1">
                          <a:solidFill>
                            <a:srgbClr val="333F50"/>
                          </a:solidFill>
                          <a:latin typeface="楷体"/>
                          <a:ea typeface="楷体"/>
                          <a:cs typeface="楷体"/>
                        </a:rPr>
                        <a:t>勞工險</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8.1%</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96.4%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12.6%</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117.1%</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49.1%</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68.0</a:t>
                      </a:r>
                    </a:p>
                  </a:txBody>
                  <a:tcPr anchor="ctr" marL="36576" marR="36576" marT="18288" marB="18288">
                    <a:solidFill>
                      <a:srgbClr val="F7F7F7"/>
                    </a:solidFill>
                  </a:tcPr>
                </a:tc>
              </a:tr>
              <a:tr h="457200">
                <a:tc>
                  <a:txBody>
                    <a:bodyPr/>
                    <a:lstStyle/>
                    <a:p>
                      <a:pPr algn="l"/>
                      <a:r>
                        <a:rPr sz="13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28.6%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46.2%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0.3%</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75.1%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71.7%</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3.4</a:t>
                      </a:r>
                    </a:p>
                  </a:txBody>
                  <a:tcPr anchor="ctr" marL="36576" marR="36576" marT="18288" marB="18288">
                    <a:solidFill>
                      <a:srgbClr val="FFFFFF"/>
                    </a:solidFill>
                  </a:tcPr>
                </a:tc>
              </a:tr>
              <a:tr h="457200">
                <a:tc>
                  <a:txBody>
                    <a:bodyPr/>
                    <a:lstStyle/>
                    <a:p>
                      <a:pPr algn="l"/>
                      <a:r>
                        <a:rPr sz="13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46.8%</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34.2%</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5.4%</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86.4%</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87.2%</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-0.8</a:t>
                      </a:r>
                    </a:p>
                  </a:txBody>
                  <a:tcPr anchor="ctr" marL="36576" marR="36576" marT="18288" marB="18288">
                    <a:solidFill>
                      <a:srgbClr val="F7F7F7"/>
                    </a:solidFill>
                  </a:tcPr>
                </a:tc>
              </a:tr>
            </a:tbl>
          </a:graphicData>
        </a:graphic>
      </p:graphicFrame>
      <p:sp>
        <p:nvSpPr>
          <p:cNvPr id="6" name="TextBox 5"/>
          <p:cNvSpPr txBox="1"/>
          <p:nvPr/>
        </p:nvSpPr>
        <p:spPr>
          <a:xfrm>
            <a:off x="320040" y="4480560"/>
            <a:ext cx="11521440" cy="1737360"/>
          </a:xfrm>
          <a:prstGeom prst="rect">
            <a:avLst/>
          </a:prstGeom>
          <a:noFill/>
        </p:spPr>
        <p:txBody>
          <a:bodyPr wrap="square">
            <a:spAutoFit/>
          </a:bodyPr>
          <a:lstStyle/>
          <a:p>
            <a:pPr algn="l"/>
            <a:r>
              <a:rPr sz="1500" b="0">
                <a:solidFill>
                  <a:srgbClr val="333F50"/>
                </a:solidFill>
                <a:latin typeface="楷体"/>
                <a:ea typeface="楷体"/>
                <a:cs typeface="楷体"/>
              </a:rPr>
              <a:t>截至10月底，綜合成本率86.4%，比去年同期87.2%下降0.8個百分點。
淨佣金率46.8%，比預算48.5%低1.7個百分點。
賠付率34.2%，比預算29.0%高5.2個百分點。費用率5.4%，比預算5.8%低0.4個百分點。</a:t>
            </a:r>
          </a:p>
        </p:txBody>
      </p:sp>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13</a:t>
            </a:r>
          </a:p>
        </p:txBody>
      </p:sp>
    </p:spTree>
  </p:cSld>
  <p:clrMapOvr>
    <a:masterClrMapping/>
  </p:clrMapOvr>
</p:sld>
</file>

<file path=ppt/slides/slide14.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保險服務業績</a:t>
            </a:r>
          </a:p>
        </p:txBody>
      </p:sp>
      <p:graphicFrame>
        <p:nvGraphicFramePr>
          <p:cNvPr id="5" name="Table 4"/>
          <p:cNvGraphicFramePr>
            <a:graphicFrameLocks noGrp="1"/>
          </p:cNvGraphicFramePr>
          <p:nvPr/>
        </p:nvGraphicFramePr>
        <p:xfrm>
          <a:off x="182880" y="1051560"/>
          <a:ext cx="11841480" cy="3931920"/>
        </p:xfrm>
        <a:graphic>
          <a:graphicData uri="http://schemas.openxmlformats.org/drawingml/2006/table">
            <a:tbl>
              <a:tblPr firstRow="1" bandRow="1">
                <a:tableStyleId>{5C22544A-7EE6-4342-B048-85BDC9FD1C3A}</a:tableStyleId>
              </a:tblPr>
              <a:tblGrid>
                <a:gridCol w="1691640"/>
                <a:gridCol w="1691640"/>
                <a:gridCol w="1691640"/>
                <a:gridCol w="1691640"/>
                <a:gridCol w="1691640"/>
                <a:gridCol w="1691640"/>
                <a:gridCol w="1691640"/>
              </a:tblGrid>
              <a:tr h="561702">
                <a:tc>
                  <a:txBody>
                    <a:bodyPr/>
                    <a:lstStyle/>
                    <a:p>
                      <a:pPr algn="ctr"/>
                      <a:r>
                        <a:rPr sz="13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毛保費</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保險收入</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保險服務費用</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再保費用淨額</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保險服務業績</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同比%</a:t>
                      </a:r>
                    </a:p>
                  </a:txBody>
                  <a:tcPr anchor="ctr" marL="36576" marR="36576" marT="18288" marB="18288">
                    <a:solidFill>
                      <a:srgbClr val="333F50"/>
                    </a:solidFill>
                  </a:tcPr>
                </a:tc>
              </a:tr>
              <a:tr h="561702">
                <a:tc>
                  <a:txBody>
                    <a:bodyPr/>
                    <a:lstStyle/>
                    <a:p>
                      <a:pPr algn="l"/>
                      <a:r>
                        <a:rPr sz="1300" b="1">
                          <a:solidFill>
                            <a:srgbClr val="333F50"/>
                          </a:solidFill>
                          <a:latin typeface="楷体"/>
                          <a:ea typeface="楷体"/>
                          <a:cs typeface="楷体"/>
                        </a:rPr>
                        <a:t>意外及健康險</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1,488.6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1,024.5</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910.2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22.4</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91.9</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110.3%</a:t>
                      </a:r>
                    </a:p>
                  </a:txBody>
                  <a:tcPr anchor="ctr" marL="36576" marR="36576" marT="18288" marB="18288">
                    <a:solidFill>
                      <a:srgbClr val="FFFFFF"/>
                    </a:solidFill>
                  </a:tcPr>
                </a:tc>
              </a:tr>
              <a:tr h="561702">
                <a:tc>
                  <a:txBody>
                    <a:bodyPr/>
                    <a:lstStyle/>
                    <a:p>
                      <a:pPr algn="l"/>
                      <a:r>
                        <a:rPr sz="1300" b="1">
                          <a:solidFill>
                            <a:srgbClr val="333F50"/>
                          </a:solidFill>
                          <a:latin typeface="楷体"/>
                          <a:ea typeface="楷体"/>
                          <a:cs typeface="楷体"/>
                        </a:rPr>
                        <a:t>汽車險</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1,688.2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2,010.4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2,688.6</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230.5</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-908.7</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10.8%</a:t>
                      </a:r>
                    </a:p>
                  </a:txBody>
                  <a:tcPr anchor="ctr" marL="36576" marR="36576" marT="18288" marB="18288">
                    <a:solidFill>
                      <a:srgbClr val="F7F7F7"/>
                    </a:solidFill>
                  </a:tcPr>
                </a:tc>
              </a:tr>
              <a:tr h="561702">
                <a:tc>
                  <a:txBody>
                    <a:bodyPr/>
                    <a:lstStyle/>
                    <a:p>
                      <a:pPr algn="l"/>
                      <a:r>
                        <a:rPr sz="1300" b="1">
                          <a:solidFill>
                            <a:srgbClr val="333F50"/>
                          </a:solidFill>
                          <a:latin typeface="楷体"/>
                          <a:ea typeface="楷体"/>
                          <a:cs typeface="楷体"/>
                        </a:rPr>
                        <a:t>財產險</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9,209.2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8,620.8</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5,710.4</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980.2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1,930.2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27.0%</a:t>
                      </a:r>
                    </a:p>
                  </a:txBody>
                  <a:tcPr anchor="ctr" marL="36576" marR="36576" marT="18288" marB="18288">
                    <a:solidFill>
                      <a:srgbClr val="FFFFFF"/>
                    </a:solidFill>
                  </a:tcPr>
                </a:tc>
              </a:tr>
              <a:tr h="561702">
                <a:tc>
                  <a:txBody>
                    <a:bodyPr/>
                    <a:lstStyle/>
                    <a:p>
                      <a:pPr algn="l"/>
                      <a:r>
                        <a:rPr sz="1300" b="1">
                          <a:solidFill>
                            <a:srgbClr val="333F50"/>
                          </a:solidFill>
                          <a:latin typeface="楷体"/>
                          <a:ea typeface="楷体"/>
                          <a:cs typeface="楷体"/>
                        </a:rPr>
                        <a:t>勞工險</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1,622.4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710.6</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742.8</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102.4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-134.6</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-277.3%</a:t>
                      </a:r>
                    </a:p>
                  </a:txBody>
                  <a:tcPr anchor="ctr" marL="36576" marR="36576" marT="18288" marB="18288">
                    <a:solidFill>
                      <a:srgbClr val="F7F7F7"/>
                    </a:solidFill>
                  </a:tcPr>
                </a:tc>
              </a:tr>
              <a:tr h="561702">
                <a:tc>
                  <a:txBody>
                    <a:bodyPr/>
                    <a:lstStyle/>
                    <a:p>
                      <a:pPr algn="l"/>
                      <a:r>
                        <a:rPr sz="13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4,230.0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3,825.8</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2,775.6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1,050.2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21.6%</a:t>
                      </a:r>
                    </a:p>
                  </a:txBody>
                  <a:tcPr anchor="ctr" marL="36576" marR="36576" marT="18288" marB="18288">
                    <a:solidFill>
                      <a:srgbClr val="FFFFFF"/>
                    </a:solidFill>
                  </a:tcPr>
                </a:tc>
              </a:tr>
              <a:tr h="561708">
                <a:tc>
                  <a:txBody>
                    <a:bodyPr/>
                    <a:lstStyle/>
                    <a:p>
                      <a:pPr algn="l"/>
                      <a:r>
                        <a:rPr sz="13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18,547.6</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16,480.6</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12,741.8</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1,379.7</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2,101.7</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28.5%</a:t>
                      </a:r>
                    </a:p>
                  </a:txBody>
                  <a:tcPr anchor="ctr" marL="36576" marR="36576" marT="18288" marB="18288">
                    <a:solidFill>
                      <a:srgbClr val="F7F7F7"/>
                    </a:solidFill>
                  </a:tcPr>
                </a:tc>
              </a:tr>
            </a:tbl>
          </a:graphicData>
        </a:graphic>
      </p:graphicFrame>
      <p:sp>
        <p:nvSpPr>
          <p:cNvPr id="6" name="TextBox 5"/>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14</a:t>
            </a:r>
          </a:p>
        </p:txBody>
      </p:sp>
    </p:spTree>
  </p:cSld>
  <p:clrMapOvr>
    <a:masterClrMapping/>
  </p:clrMapOvr>
</p:sld>
</file>

<file path=ppt/slides/slide15.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投資收益</a:t>
            </a:r>
          </a:p>
        </p:txBody>
      </p:sp>
      <p:graphicFrame>
        <p:nvGraphicFramePr>
          <p:cNvPr id="5" name="Table 4"/>
          <p:cNvGraphicFramePr>
            <a:graphicFrameLocks noGrp="1"/>
          </p:cNvGraphicFramePr>
          <p:nvPr/>
        </p:nvGraphicFramePr>
        <p:xfrm>
          <a:off x="201168" y="1005840"/>
          <a:ext cx="11795760" cy="3977639"/>
        </p:xfrm>
        <a:graphic>
          <a:graphicData uri="http://schemas.openxmlformats.org/drawingml/2006/table">
            <a:tbl>
              <a:tblPr firstRow="1" bandRow="1">
                <a:tableStyleId>{5C22544A-7EE6-4342-B048-85BDC9FD1C3A}</a:tableStyleId>
              </a:tblPr>
              <a:tblGrid>
                <a:gridCol w="1685108"/>
                <a:gridCol w="1685108"/>
                <a:gridCol w="1685108"/>
                <a:gridCol w="1685108"/>
                <a:gridCol w="1685108"/>
                <a:gridCol w="1685108"/>
                <a:gridCol w="1685112"/>
              </a:tblGrid>
              <a:tr h="497204">
                <a:tc>
                  <a:txBody>
                    <a:bodyPr/>
                    <a:lstStyle/>
                    <a:p>
                      <a:pPr algn="ctr"/>
                      <a:r>
                        <a:rPr sz="1200" b="1">
                          <a:solidFill>
                            <a:srgbClr val="FFFFFF"/>
                          </a:solidFill>
                          <a:latin typeface="楷体"/>
                          <a:ea typeface="楷体"/>
                          <a:cs typeface="楷体"/>
                        </a:rPr>
                        <a:t>項目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投資規模</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2025年1–10月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回報率</a:t>
                      </a:r>
                    </a:p>
                  </a:txBody>
                  <a:tcPr anchor="ctr" marL="36576" marR="36576" marT="18288" marB="18288">
                    <a:solidFill>
                      <a:srgbClr val="333F50"/>
                    </a:solidFill>
                  </a:tcPr>
                </a:tc>
              </a:tr>
              <a:tr h="497204">
                <a:tc>
                  <a:txBody>
                    <a:bodyPr/>
                    <a:lstStyle/>
                    <a:p>
                      <a:pPr algn="l"/>
                      <a:r>
                        <a:rPr sz="1200" b="1">
                          <a:solidFill>
                            <a:srgbClr val="333F50"/>
                          </a:solidFill>
                          <a:latin typeface="楷体"/>
                          <a:ea typeface="楷体"/>
                          <a:cs typeface="楷体"/>
                        </a:rPr>
                        <a:t>銀行存款</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24,100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352.6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498.2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-145.6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-29.2%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1.76%</a:t>
                      </a:r>
                    </a:p>
                  </a:txBody>
                  <a:tcPr anchor="ctr" marL="36576" marR="36576" marT="18288" marB="18288">
                    <a:solidFill>
                      <a:srgbClr val="FFFFFF"/>
                    </a:solidFill>
                  </a:tcPr>
                </a:tc>
              </a:tr>
              <a:tr h="497204">
                <a:tc>
                  <a:txBody>
                    <a:bodyPr/>
                    <a:lstStyle/>
                    <a:p>
                      <a:pPr algn="l"/>
                      <a:r>
                        <a:rPr sz="1200" b="1">
                          <a:solidFill>
                            <a:srgbClr val="333F50"/>
                          </a:solidFill>
                          <a:latin typeface="楷体"/>
                          <a:ea typeface="楷体"/>
                          <a:cs typeface="楷体"/>
                        </a:rPr>
                        <a:t>債券</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16,880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512.4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310.5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201.9</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65.0%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3.64%</a:t>
                      </a:r>
                    </a:p>
                  </a:txBody>
                  <a:tcPr anchor="ctr" marL="36576" marR="36576" marT="18288" marB="18288">
                    <a:solidFill>
                      <a:srgbClr val="F7F7F7"/>
                    </a:solidFill>
                  </a:tcPr>
                </a:tc>
              </a:tr>
              <a:tr h="497204">
                <a:tc>
                  <a:txBody>
                    <a:bodyPr/>
                    <a:lstStyle/>
                    <a:p>
                      <a:pPr algn="l"/>
                      <a:r>
                        <a:rPr sz="1200" b="1">
                          <a:solidFill>
                            <a:srgbClr val="333F50"/>
                          </a:solidFill>
                          <a:latin typeface="楷体"/>
                          <a:ea typeface="楷体"/>
                          <a:cs typeface="楷体"/>
                        </a:rPr>
                        <a:t>股票-FVOCI</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11,540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468.2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360.4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107.8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29.9%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4.87%</a:t>
                      </a:r>
                    </a:p>
                  </a:txBody>
                  <a:tcPr anchor="ctr" marL="36576" marR="36576" marT="18288" marB="18288">
                    <a:solidFill>
                      <a:srgbClr val="FFFFFF"/>
                    </a:solidFill>
                  </a:tcPr>
                </a:tc>
              </a:tr>
              <a:tr h="497204">
                <a:tc>
                  <a:txBody>
                    <a:bodyPr/>
                    <a:lstStyle/>
                    <a:p>
                      <a:pPr algn="l"/>
                      <a:r>
                        <a:rPr sz="1200" b="1">
                          <a:solidFill>
                            <a:srgbClr val="333F50"/>
                          </a:solidFill>
                          <a:latin typeface="楷体"/>
                          <a:ea typeface="楷体"/>
                          <a:cs typeface="楷体"/>
                        </a:rPr>
                        <a:t>股票-ETF/FVPL</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1,520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-246.8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-259.2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-2090.3%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-19.48%</a:t>
                      </a:r>
                    </a:p>
                  </a:txBody>
                  <a:tcPr anchor="ctr" marL="36576" marR="36576" marT="18288" marB="18288">
                    <a:solidFill>
                      <a:srgbClr val="F7F7F7"/>
                    </a:solidFill>
                  </a:tcPr>
                </a:tc>
              </a:tr>
              <a:tr h="497204">
                <a:tc>
                  <a:txBody>
                    <a:bodyPr/>
                    <a:lstStyle/>
                    <a:p>
                      <a:pPr algn="l"/>
                      <a:r>
                        <a:rPr sz="1200" b="1">
                          <a:solidFill>
                            <a:srgbClr val="333F50"/>
                          </a:solidFill>
                          <a:latin typeface="楷体"/>
                          <a:ea typeface="楷体"/>
                          <a:cs typeface="楷体"/>
                        </a:rPr>
                        <a:t>貨幣基金</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980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18.6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342.9%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2.28%</a:t>
                      </a:r>
                    </a:p>
                  </a:txBody>
                  <a:tcPr anchor="ctr" marL="36576" marR="36576" marT="18288" marB="18288">
                    <a:solidFill>
                      <a:srgbClr val="FFFFFF"/>
                    </a:solidFill>
                  </a:tcPr>
                </a:tc>
              </a:tr>
              <a:tr h="497204">
                <a:tc>
                  <a:txBody>
                    <a:bodyPr/>
                    <a:lstStyle/>
                    <a:p>
                      <a:pPr algn="l"/>
                      <a:r>
                        <a:rPr sz="1200" b="1">
                          <a:solidFill>
                            <a:srgbClr val="333F50"/>
                          </a:solidFill>
                          <a:latin typeface="楷体"/>
                          <a:ea typeface="楷体"/>
                          <a:cs typeface="楷体"/>
                        </a:rPr>
                        <a:t>投資物業</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11,950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75.4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415.5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-340.1</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-81.9%</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0.76%</a:t>
                      </a:r>
                    </a:p>
                  </a:txBody>
                  <a:tcPr anchor="ctr" marL="36576" marR="36576" marT="18288" marB="18288">
                    <a:solidFill>
                      <a:srgbClr val="F7F7F7"/>
                    </a:solidFill>
                  </a:tcPr>
                </a:tc>
              </a:tr>
              <a:tr h="497211">
                <a:tc>
                  <a:txBody>
                    <a:bodyPr/>
                    <a:lstStyle/>
                    <a:p>
                      <a:pPr algn="l"/>
                      <a:r>
                        <a:rPr sz="12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66,970</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1,180.4</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1,601.2</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-420.8</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-26.3%</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2.12%</a:t>
                      </a:r>
                    </a:p>
                  </a:txBody>
                  <a:tcPr anchor="ctr" marL="36576" marR="36576" marT="18288" marB="18288">
                    <a:solidFill>
                      <a:srgbClr val="FFFFFF"/>
                    </a:solidFill>
                  </a:tcPr>
                </a:tc>
              </a:tr>
            </a:tbl>
          </a:graphicData>
        </a:graphic>
      </p:graphicFrame>
      <p:sp>
        <p:nvSpPr>
          <p:cNvPr id="6" name="TextBox 5"/>
          <p:cNvSpPr txBox="1"/>
          <p:nvPr/>
        </p:nvSpPr>
        <p:spPr>
          <a:xfrm>
            <a:off x="320040" y="5212080"/>
            <a:ext cx="11521440" cy="1097280"/>
          </a:xfrm>
          <a:prstGeom prst="rect">
            <a:avLst/>
          </a:prstGeom>
          <a:noFill/>
        </p:spPr>
        <p:txBody>
          <a:bodyPr wrap="square">
            <a:spAutoFit/>
          </a:bodyPr>
          <a:lstStyle/>
          <a:p>
            <a:pPr algn="l"/>
            <a:r>
              <a:rPr sz="1500" b="0">
                <a:solidFill>
                  <a:srgbClr val="333F50"/>
                </a:solidFill>
                <a:latin typeface="楷体"/>
                <a:ea typeface="楷体"/>
                <a:cs typeface="楷体"/>
              </a:rPr>
              <a:t>累計投資收益1,180.4萬。ETF/FVPL未實現虧損246.8萬。股票當年估值減少860.0萬（虛構）。</a:t>
            </a:r>
          </a:p>
        </p:txBody>
      </p:sp>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15</a:t>
            </a:r>
          </a:p>
        </p:txBody>
      </p:sp>
    </p:spTree>
  </p:cSld>
  <p:clrMapOvr>
    <a:masterClrMapping/>
  </p:clrMapOvr>
</p:sld>
</file>

<file path=ppt/slides/slide16.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償付能力</a:t>
            </a:r>
          </a:p>
        </p:txBody>
      </p:sp>
      <p:sp>
        <p:nvSpPr>
          <p:cNvPr id="5" name="TextBox 4"/>
          <p:cNvSpPr txBox="1"/>
          <p:nvPr/>
        </p:nvSpPr>
        <p:spPr>
          <a:xfrm>
            <a:off x="640080" y="2011680"/>
            <a:ext cx="10972800" cy="822960"/>
          </a:xfrm>
          <a:prstGeom prst="rect">
            <a:avLst/>
          </a:prstGeom>
          <a:noFill/>
        </p:spPr>
        <p:txBody>
          <a:bodyPr wrap="square">
            <a:spAutoFit/>
          </a:bodyPr>
          <a:lstStyle/>
          <a:p>
            <a:pPr algn="l"/>
            <a:r>
              <a:rPr sz="3200" b="1">
                <a:solidFill>
                  <a:srgbClr val="333F50"/>
                </a:solidFill>
                <a:latin typeface="微软雅黑"/>
                <a:ea typeface="微软雅黑"/>
                <a:cs typeface="微软雅黑"/>
              </a:rPr>
              <a:t>10月底澳門業務償付比率為 218%</a:t>
            </a:r>
          </a:p>
        </p:txBody>
      </p:sp>
      <p:sp>
        <p:nvSpPr>
          <p:cNvPr id="6" name="Rectangle 5"/>
          <p:cNvSpPr/>
          <p:nvPr/>
        </p:nvSpPr>
        <p:spPr>
          <a:xfrm>
            <a:off x="640080" y="2971800"/>
            <a:ext cx="2011680" cy="73152"/>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291840"/>
            <a:ext cx="10058400" cy="457200"/>
          </a:xfrm>
          <a:prstGeom prst="rect">
            <a:avLst/>
          </a:prstGeom>
          <a:noFill/>
        </p:spPr>
        <p:txBody>
          <a:bodyPr wrap="square">
            <a:spAutoFit/>
          </a:bodyPr>
          <a:lstStyle/>
          <a:p>
            <a:pPr algn="l"/>
            <a:r>
              <a:rPr sz="2200" b="0">
                <a:solidFill>
                  <a:srgbClr val="333F50"/>
                </a:solidFill>
                <a:latin typeface="楷体"/>
                <a:ea typeface="楷体"/>
                <a:cs typeface="楷体"/>
              </a:rPr>
              <a:t>環比上月減少 8 個百分點</a:t>
            </a:r>
          </a:p>
        </p:txBody>
      </p:sp>
      <p:sp>
        <p:nvSpPr>
          <p:cNvPr id="8" name="TextBox 7"/>
          <p:cNvSpPr txBox="1"/>
          <p:nvPr/>
        </p:nvSpPr>
        <p:spPr>
          <a:xfrm>
            <a:off x="640080" y="4023360"/>
            <a:ext cx="10058400" cy="457200"/>
          </a:xfrm>
          <a:prstGeom prst="rect">
            <a:avLst/>
          </a:prstGeom>
          <a:noFill/>
        </p:spPr>
        <p:txBody>
          <a:bodyPr wrap="square">
            <a:spAutoFit/>
          </a:bodyPr>
          <a:lstStyle/>
          <a:p>
            <a:pPr algn="l"/>
            <a:r>
              <a:rPr sz="2200" b="0">
                <a:solidFill>
                  <a:srgbClr val="333F50"/>
                </a:solidFill>
                <a:latin typeface="楷体"/>
                <a:ea typeface="楷体"/>
                <a:cs typeface="楷体"/>
              </a:rPr>
              <a:t>符合澳門法例最低要求（150%）</a:t>
            </a:r>
          </a:p>
        </p:txBody>
      </p:sp>
      <p:sp>
        <p:nvSpPr>
          <p:cNvPr id="9" name="TextBox 8"/>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16</a:t>
            </a:r>
          </a:p>
        </p:txBody>
      </p:sp>
    </p:spTree>
  </p:cSld>
  <p:clrMapOvr>
    <a:masterClrMapping/>
  </p:clrMapOvr>
</p:sld>
</file>

<file path=ppt/slides/slide17.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應收保費（香港業務）</a:t>
            </a:r>
          </a:p>
        </p:txBody>
      </p:sp>
      <p:sp>
        <p:nvSpPr>
          <p:cNvPr id="5" name="TextBox 4"/>
          <p:cNvSpPr txBox="1"/>
          <p:nvPr/>
        </p:nvSpPr>
        <p:spPr>
          <a:xfrm>
            <a:off x="320040" y="896112"/>
            <a:ext cx="11521440" cy="365760"/>
          </a:xfrm>
          <a:prstGeom prst="rect">
            <a:avLst/>
          </a:prstGeom>
          <a:noFill/>
        </p:spPr>
        <p:txBody>
          <a:bodyPr wrap="square">
            <a:spAutoFit/>
          </a:bodyPr>
          <a:lstStyle/>
          <a:p>
            <a:pPr algn="l"/>
            <a:r>
              <a:rPr sz="1400" b="0">
                <a:solidFill>
                  <a:srgbClr val="888888"/>
                </a:solidFill>
                <a:latin typeface="楷体"/>
                <a:ea typeface="楷体"/>
                <a:cs typeface="楷体"/>
              </a:rPr>
              <a:t>截至10月底應收保費6,520.4萬，環比減少126.8萬。單位：萬港元。</a:t>
            </a:r>
          </a:p>
        </p:txBody>
      </p:sp>
      <p:graphicFrame>
        <p:nvGraphicFramePr>
          <p:cNvPr id="6" name="Table 5"/>
          <p:cNvGraphicFramePr>
            <a:graphicFrameLocks noGrp="1"/>
          </p:cNvGraphicFramePr>
          <p:nvPr/>
        </p:nvGraphicFramePr>
        <p:xfrm>
          <a:off x="365760" y="1417320"/>
          <a:ext cx="11430000" cy="301752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603504">
                <a:tc>
                  <a:txBody>
                    <a:bodyPr/>
                    <a:lstStyle/>
                    <a:p>
                      <a:pPr algn="ctr"/>
                      <a:r>
                        <a:rPr sz="1400" b="1">
                          <a:solidFill>
                            <a:srgbClr val="FFFFFF"/>
                          </a:solidFill>
                          <a:latin typeface="楷体"/>
                          <a:ea typeface="楷体"/>
                          <a:cs typeface="楷体"/>
                        </a:rPr>
                        <a:t>渠道</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拖欠應收</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總應收</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拖欠比率</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預警值</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行動值</a:t>
                      </a:r>
                    </a:p>
                  </a:txBody>
                  <a:tcPr anchor="ctr" marL="36576" marR="36576" marT="18288" marB="18288">
                    <a:solidFill>
                      <a:srgbClr val="333F50"/>
                    </a:solidFill>
                  </a:tcPr>
                </a:tc>
              </a:tr>
              <a:tr h="603504">
                <a:tc>
                  <a:txBody>
                    <a:bodyPr/>
                    <a:lstStyle/>
                    <a:p>
                      <a:pPr algn="l"/>
                      <a:r>
                        <a:rPr sz="1400" b="1">
                          <a:solidFill>
                            <a:srgbClr val="333F50"/>
                          </a:solidFill>
                          <a:latin typeface="楷体"/>
                          <a:ea typeface="楷体"/>
                          <a:cs typeface="楷体"/>
                        </a:rPr>
                        <a:t>直接（逾期&gt;60天）</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18.6</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310.4</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6.0%</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20%</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25%</a:t>
                      </a:r>
                    </a:p>
                  </a:txBody>
                  <a:tcPr anchor="ctr" marL="36576" marR="36576" marT="18288" marB="18288">
                    <a:solidFill>
                      <a:srgbClr val="FFFFFF"/>
                    </a:solidFill>
                  </a:tcPr>
                </a:tc>
              </a:tr>
              <a:tr h="603504">
                <a:tc>
                  <a:txBody>
                    <a:bodyPr/>
                    <a:lstStyle/>
                    <a:p>
                      <a:pPr algn="l"/>
                      <a:r>
                        <a:rPr sz="1400" b="1">
                          <a:solidFill>
                            <a:srgbClr val="333F50"/>
                          </a:solidFill>
                          <a:latin typeface="楷体"/>
                          <a:ea typeface="楷体"/>
                          <a:cs typeface="楷体"/>
                        </a:rPr>
                        <a:t>臨分分入（逾期&gt;90天）</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246.2</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1,188.5</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20.7%</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40%</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50%</a:t>
                      </a:r>
                    </a:p>
                  </a:txBody>
                  <a:tcPr anchor="ctr" marL="36576" marR="36576" marT="18288" marB="18288">
                    <a:solidFill>
                      <a:srgbClr val="F7F7F7"/>
                    </a:solidFill>
                  </a:tcPr>
                </a:tc>
              </a:tr>
              <a:tr h="603504">
                <a:tc>
                  <a:txBody>
                    <a:bodyPr/>
                    <a:lstStyle/>
                    <a:p>
                      <a:pPr algn="l"/>
                      <a:r>
                        <a:rPr sz="1400" b="1">
                          <a:solidFill>
                            <a:srgbClr val="333F50"/>
                          </a:solidFill>
                          <a:latin typeface="楷体"/>
                          <a:ea typeface="楷体"/>
                          <a:cs typeface="楷体"/>
                        </a:rPr>
                        <a:t>合同分入（逾期&gt;90天）</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1,420.8</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5,021.5</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28.3%</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40%</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50%</a:t>
                      </a:r>
                    </a:p>
                  </a:txBody>
                  <a:tcPr anchor="ctr" marL="36576" marR="36576" marT="18288" marB="18288">
                    <a:solidFill>
                      <a:srgbClr val="FFFFFF"/>
                    </a:solidFill>
                  </a:tcPr>
                </a:tc>
              </a:tr>
              <a:tr h="603504">
                <a:tc>
                  <a:txBody>
                    <a:bodyPr/>
                    <a:lstStyle/>
                    <a:p>
                      <a:pPr algn="l"/>
                      <a:r>
                        <a:rPr sz="14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400" b="1">
                          <a:solidFill>
                            <a:srgbClr val="ED7D31"/>
                          </a:solidFill>
                          <a:latin typeface="楷体"/>
                          <a:ea typeface="楷体"/>
                          <a:cs typeface="楷体"/>
                        </a:rPr>
                        <a:t>1,685.6</a:t>
                      </a:r>
                    </a:p>
                  </a:txBody>
                  <a:tcPr anchor="ctr" marL="36576" marR="36576" marT="18288" marB="18288">
                    <a:solidFill>
                      <a:srgbClr val="F7F7F7"/>
                    </a:solidFill>
                  </a:tcPr>
                </a:tc>
                <a:tc>
                  <a:txBody>
                    <a:bodyPr/>
                    <a:lstStyle/>
                    <a:p>
                      <a:pPr algn="ctr"/>
                      <a:r>
                        <a:rPr sz="1400" b="1">
                          <a:solidFill>
                            <a:srgbClr val="ED7D31"/>
                          </a:solidFill>
                          <a:latin typeface="楷体"/>
                          <a:ea typeface="楷体"/>
                          <a:cs typeface="楷体"/>
                        </a:rPr>
                        <a:t>6,520.4</a:t>
                      </a:r>
                    </a:p>
                  </a:txBody>
                  <a:tcPr anchor="ctr" marL="36576" marR="36576" marT="18288" marB="18288">
                    <a:solidFill>
                      <a:srgbClr val="F7F7F7"/>
                    </a:solidFill>
                  </a:tcPr>
                </a:tc>
                <a:tc>
                  <a:txBody>
                    <a:bodyPr/>
                    <a:lstStyle/>
                    <a:p>
                      <a:pPr algn="ctr"/>
                      <a:r>
                        <a:rPr sz="1400" b="1">
                          <a:solidFill>
                            <a:srgbClr val="ED7D31"/>
                          </a:solidFill>
                          <a:latin typeface="楷体"/>
                          <a:ea typeface="楷体"/>
                          <a:cs typeface="楷体"/>
                        </a:rPr>
                        <a:t>25.9%</a:t>
                      </a:r>
                    </a:p>
                  </a:txBody>
                  <a:tcPr anchor="ctr" marL="36576" marR="36576" marT="18288" marB="18288">
                    <a:solidFill>
                      <a:srgbClr val="F7F7F7"/>
                    </a:solidFill>
                  </a:tcPr>
                </a:tc>
                <a:tc>
                  <a:txBody>
                    <a:bodyPr/>
                    <a:lstStyle/>
                    <a:p>
                      <a:pPr algn="ctr"/>
                      <a:r>
                        <a:rPr sz="1400" b="1">
                          <a:solidFill>
                            <a:srgbClr val="ED7D31"/>
                          </a:solidFill>
                          <a:latin typeface="楷体"/>
                          <a:ea typeface="楷体"/>
                          <a:cs typeface="楷体"/>
                        </a:rPr>
                        <a:t>—</a:t>
                      </a:r>
                    </a:p>
                  </a:txBody>
                  <a:tcPr anchor="ctr" marL="36576" marR="36576" marT="18288" marB="18288">
                    <a:solidFill>
                      <a:srgbClr val="F7F7F7"/>
                    </a:solidFill>
                  </a:tcPr>
                </a:tc>
                <a:tc>
                  <a:txBody>
                    <a:bodyPr/>
                    <a:lstStyle/>
                    <a:p>
                      <a:pPr algn="ctr"/>
                      <a:r>
                        <a:rPr sz="1400" b="1">
                          <a:solidFill>
                            <a:srgbClr val="ED7D31"/>
                          </a:solidFill>
                          <a:latin typeface="楷体"/>
                          <a:ea typeface="楷体"/>
                          <a:cs typeface="楷体"/>
                        </a:rPr>
                        <a:t>—</a:t>
                      </a:r>
                    </a:p>
                  </a:txBody>
                  <a:tcPr anchor="ctr" marL="36576" marR="36576" marT="18288" marB="18288">
                    <a:solidFill>
                      <a:srgbClr val="F7F7F7"/>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17</a:t>
            </a:r>
          </a:p>
        </p:txBody>
      </p:sp>
    </p:spTree>
  </p:cSld>
  <p:clrMapOvr>
    <a:masterClrMapping/>
  </p:clrMapOvr>
</p:sld>
</file>

<file path=ppt/slides/slide18.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應收保費（澳門業務）</a:t>
            </a:r>
          </a:p>
        </p:txBody>
      </p:sp>
      <p:sp>
        <p:nvSpPr>
          <p:cNvPr id="5" name="TextBox 4"/>
          <p:cNvSpPr txBox="1"/>
          <p:nvPr/>
        </p:nvSpPr>
        <p:spPr>
          <a:xfrm>
            <a:off x="320040" y="896112"/>
            <a:ext cx="11521440" cy="365760"/>
          </a:xfrm>
          <a:prstGeom prst="rect">
            <a:avLst/>
          </a:prstGeom>
          <a:noFill/>
        </p:spPr>
        <p:txBody>
          <a:bodyPr wrap="square">
            <a:spAutoFit/>
          </a:bodyPr>
          <a:lstStyle/>
          <a:p>
            <a:pPr algn="l"/>
            <a:r>
              <a:rPr sz="1400" b="0">
                <a:solidFill>
                  <a:srgbClr val="888888"/>
                </a:solidFill>
                <a:latin typeface="楷体"/>
                <a:ea typeface="楷体"/>
                <a:cs typeface="楷体"/>
              </a:rPr>
              <a:t>截至10月底應收保費2,710.6萬，環比減少86.2萬。單位：萬港元。</a:t>
            </a:r>
          </a:p>
        </p:txBody>
      </p:sp>
      <p:graphicFrame>
        <p:nvGraphicFramePr>
          <p:cNvPr id="6" name="Table 5"/>
          <p:cNvGraphicFramePr>
            <a:graphicFrameLocks noGrp="1"/>
          </p:cNvGraphicFramePr>
          <p:nvPr/>
        </p:nvGraphicFramePr>
        <p:xfrm>
          <a:off x="365760" y="1417320"/>
          <a:ext cx="11430000" cy="301752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754380">
                <a:tc>
                  <a:txBody>
                    <a:bodyPr/>
                    <a:lstStyle/>
                    <a:p>
                      <a:pPr algn="ctr"/>
                      <a:r>
                        <a:rPr sz="1400" b="1">
                          <a:solidFill>
                            <a:srgbClr val="FFFFFF"/>
                          </a:solidFill>
                          <a:latin typeface="楷体"/>
                          <a:ea typeface="楷体"/>
                          <a:cs typeface="楷体"/>
                        </a:rPr>
                        <a:t>渠道</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拖欠應收</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總應收</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拖欠比率</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預警值</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行動值</a:t>
                      </a:r>
                    </a:p>
                  </a:txBody>
                  <a:tcPr anchor="ctr" marL="36576" marR="36576" marT="18288" marB="18288">
                    <a:solidFill>
                      <a:srgbClr val="333F50"/>
                    </a:solidFill>
                  </a:tcPr>
                </a:tc>
              </a:tr>
              <a:tr h="754380">
                <a:tc>
                  <a:txBody>
                    <a:bodyPr/>
                    <a:lstStyle/>
                    <a:p>
                      <a:pPr algn="l"/>
                      <a:r>
                        <a:rPr sz="1400" b="1">
                          <a:solidFill>
                            <a:srgbClr val="333F50"/>
                          </a:solidFill>
                          <a:latin typeface="楷体"/>
                          <a:ea typeface="楷体"/>
                          <a:cs typeface="楷体"/>
                        </a:rPr>
                        <a:t>直接（逾期&gt;60天）</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98.4</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1,390.2</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7.1%</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20%</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25%</a:t>
                      </a:r>
                    </a:p>
                  </a:txBody>
                  <a:tcPr anchor="ctr" marL="36576" marR="36576" marT="18288" marB="18288">
                    <a:solidFill>
                      <a:srgbClr val="FFFFFF"/>
                    </a:solidFill>
                  </a:tcPr>
                </a:tc>
              </a:tr>
              <a:tr h="754380">
                <a:tc>
                  <a:txBody>
                    <a:bodyPr/>
                    <a:lstStyle/>
                    <a:p>
                      <a:pPr algn="l"/>
                      <a:r>
                        <a:rPr sz="1400" b="1">
                          <a:solidFill>
                            <a:srgbClr val="333F50"/>
                          </a:solidFill>
                          <a:latin typeface="楷体"/>
                          <a:ea typeface="楷体"/>
                          <a:cs typeface="楷体"/>
                        </a:rPr>
                        <a:t>臨分分入（逾期&gt;90天）</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18.6</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1,320.4</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1.4%</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40%</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50%</a:t>
                      </a:r>
                    </a:p>
                  </a:txBody>
                  <a:tcPr anchor="ctr" marL="36576" marR="36576" marT="18288" marB="18288">
                    <a:solidFill>
                      <a:srgbClr val="F7F7F7"/>
                    </a:solidFill>
                  </a:tcPr>
                </a:tc>
              </a:tr>
              <a:tr h="754380">
                <a:tc>
                  <a:txBody>
                    <a:bodyPr/>
                    <a:lstStyle/>
                    <a:p>
                      <a:pPr algn="l"/>
                      <a:r>
                        <a:rPr sz="14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117.0</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2,710.6</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4.3%</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a:t>
                      </a:r>
                    </a:p>
                  </a:txBody>
                  <a:tcPr anchor="ctr" marL="36576" marR="36576" marT="18288" marB="18288">
                    <a:solidFill>
                      <a:srgbClr val="FFFFFF"/>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18</a:t>
            </a:r>
          </a:p>
        </p:txBody>
      </p:sp>
    </p:spTree>
  </p:cSld>
  <p:clrMapOvr>
    <a:masterClrMapping/>
  </p:clrMapOvr>
</p:sld>
</file>

<file path=ppt/slides/slide19.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再保應付款</a:t>
            </a:r>
          </a:p>
        </p:txBody>
      </p:sp>
      <p:sp>
        <p:nvSpPr>
          <p:cNvPr id="5" name="TextBox 4"/>
          <p:cNvSpPr txBox="1"/>
          <p:nvPr/>
        </p:nvSpPr>
        <p:spPr>
          <a:xfrm>
            <a:off x="274320" y="868680"/>
            <a:ext cx="11430000" cy="274320"/>
          </a:xfrm>
          <a:prstGeom prst="rect">
            <a:avLst/>
          </a:prstGeom>
          <a:noFill/>
        </p:spPr>
        <p:txBody>
          <a:bodyPr wrap="square">
            <a:spAutoFit/>
          </a:bodyPr>
          <a:lstStyle/>
          <a:p>
            <a:pPr algn="l"/>
            <a:r>
              <a:rPr sz="1200" b="0">
                <a:solidFill>
                  <a:srgbClr val="888888"/>
                </a:solidFill>
                <a:latin typeface="楷体"/>
                <a:ea typeface="楷体"/>
                <a:cs typeface="楷体"/>
              </a:rPr>
              <a:t>單位：港元。截至2026年10月底。公司名為虛構代號，負數表示應付。</a:t>
            </a:r>
          </a:p>
        </p:txBody>
      </p:sp>
      <p:graphicFrame>
        <p:nvGraphicFramePr>
          <p:cNvPr id="6" name="Table 5"/>
          <p:cNvGraphicFramePr>
            <a:graphicFrameLocks noGrp="1"/>
          </p:cNvGraphicFramePr>
          <p:nvPr/>
        </p:nvGraphicFramePr>
        <p:xfrm>
          <a:off x="256032" y="1234440"/>
          <a:ext cx="11658600" cy="3657600"/>
        </p:xfrm>
        <a:graphic>
          <a:graphicData uri="http://schemas.openxmlformats.org/drawingml/2006/table">
            <a:tbl>
              <a:tblPr firstRow="1" bandRow="1">
                <a:tableStyleId>{5C22544A-7EE6-4342-B048-85BDC9FD1C3A}</a:tableStyleId>
              </a:tblPr>
              <a:tblGrid>
                <a:gridCol w="1665514"/>
                <a:gridCol w="1665514"/>
                <a:gridCol w="1665514"/>
                <a:gridCol w="1665514"/>
                <a:gridCol w="1665514"/>
                <a:gridCol w="1665514"/>
                <a:gridCol w="1665516"/>
              </a:tblGrid>
              <a:tr h="406400">
                <a:tc>
                  <a:txBody>
                    <a:bodyPr/>
                    <a:lstStyle/>
                    <a:p>
                      <a:pPr algn="ctr"/>
                      <a:r>
                        <a:rPr sz="1300" b="1">
                          <a:solidFill>
                            <a:srgbClr val="FFFFFF"/>
                          </a:solidFill>
                          <a:latin typeface="楷体"/>
                          <a:ea typeface="楷体"/>
                          <a:cs typeface="楷体"/>
                        </a:rPr>
                        <a:t>公司</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&gt;1年</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&gt;180天</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&gt;90天</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&gt;30天</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current</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總計</a:t>
                      </a:r>
                    </a:p>
                  </a:txBody>
                  <a:tcPr anchor="ctr" marL="36576" marR="36576" marT="18288" marB="18288">
                    <a:solidFill>
                      <a:srgbClr val="333F50"/>
                    </a:solidFill>
                  </a:tcPr>
                </a:tc>
              </a:tr>
              <a:tr h="406400">
                <a:tc>
                  <a:txBody>
                    <a:bodyPr/>
                    <a:lstStyle/>
                    <a:p>
                      <a:pPr algn="l"/>
                      <a:r>
                        <a:rPr sz="1300" b="1">
                          <a:solidFill>
                            <a:srgbClr val="333F50"/>
                          </a:solidFill>
                          <a:latin typeface="楷体"/>
                          <a:ea typeface="楷体"/>
                          <a:cs typeface="楷体"/>
                        </a:rPr>
                        <a:t>模擬再保A</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-206,000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-42,000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-195,000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-24,000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-4,000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-471,000</a:t>
                      </a:r>
                    </a:p>
                  </a:txBody>
                  <a:tcPr anchor="ctr" marL="36576" marR="36576" marT="18288" marB="18288">
                    <a:solidFill>
                      <a:srgbClr val="FFFFFF"/>
                    </a:solidFill>
                  </a:tcPr>
                </a:tc>
              </a:tr>
              <a:tr h="406400">
                <a:tc>
                  <a:txBody>
                    <a:bodyPr/>
                    <a:lstStyle/>
                    <a:p>
                      <a:pPr algn="l"/>
                      <a:r>
                        <a:rPr sz="1300" b="1">
                          <a:solidFill>
                            <a:srgbClr val="333F50"/>
                          </a:solidFill>
                          <a:latin typeface="楷体"/>
                          <a:ea typeface="楷体"/>
                          <a:cs typeface="楷体"/>
                        </a:rPr>
                        <a:t>模擬經紀B</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-57,000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-58,000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-130,000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-35,000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-8,000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-288,000</a:t>
                      </a:r>
                    </a:p>
                  </a:txBody>
                  <a:tcPr anchor="ctr" marL="36576" marR="36576" marT="18288" marB="18288">
                    <a:solidFill>
                      <a:srgbClr val="F7F7F7"/>
                    </a:solidFill>
                  </a:tcPr>
                </a:tc>
              </a:tr>
              <a:tr h="406400">
                <a:tc>
                  <a:txBody>
                    <a:bodyPr/>
                    <a:lstStyle/>
                    <a:p>
                      <a:pPr algn="l"/>
                      <a:r>
                        <a:rPr sz="1300" b="1">
                          <a:solidFill>
                            <a:srgbClr val="333F50"/>
                          </a:solidFill>
                          <a:latin typeface="楷体"/>
                          <a:ea typeface="楷体"/>
                          <a:cs typeface="楷体"/>
                        </a:rPr>
                        <a:t>模擬財險C</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-31,000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-150,000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-22,000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-212,000</a:t>
                      </a:r>
                    </a:p>
                  </a:txBody>
                  <a:tcPr anchor="ctr" marL="36576" marR="36576" marT="18288" marB="18288">
                    <a:solidFill>
                      <a:srgbClr val="FFFFFF"/>
                    </a:solidFill>
                  </a:tcPr>
                </a:tc>
              </a:tr>
              <a:tr h="406400">
                <a:tc>
                  <a:txBody>
                    <a:bodyPr/>
                    <a:lstStyle/>
                    <a:p>
                      <a:pPr algn="l"/>
                      <a:r>
                        <a:rPr sz="1300" b="1">
                          <a:solidFill>
                            <a:srgbClr val="333F50"/>
                          </a:solidFill>
                          <a:latin typeface="楷体"/>
                          <a:ea typeface="楷体"/>
                          <a:cs typeface="楷体"/>
                        </a:rPr>
                        <a:t>模擬再保D</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-1,090,000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-36,000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-640,000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-54,000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-1,820,000</a:t>
                      </a:r>
                    </a:p>
                  </a:txBody>
                  <a:tcPr anchor="ctr" marL="36576" marR="36576" marT="18288" marB="18288">
                    <a:solidFill>
                      <a:srgbClr val="F7F7F7"/>
                    </a:solidFill>
                  </a:tcPr>
                </a:tc>
              </a:tr>
              <a:tr h="406400">
                <a:tc>
                  <a:txBody>
                    <a:bodyPr/>
                    <a:lstStyle/>
                    <a:p>
                      <a:pPr algn="l"/>
                      <a:r>
                        <a:rPr sz="1300" b="1">
                          <a:solidFill>
                            <a:srgbClr val="333F50"/>
                          </a:solidFill>
                          <a:latin typeface="楷体"/>
                          <a:ea typeface="楷体"/>
                          <a:cs typeface="楷体"/>
                        </a:rPr>
                        <a:t>模擬經紀E</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-248,000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-200,000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-228,000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-45,000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-42,000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-763,000</a:t>
                      </a:r>
                    </a:p>
                  </a:txBody>
                  <a:tcPr anchor="ctr" marL="36576" marR="36576" marT="18288" marB="18288">
                    <a:solidFill>
                      <a:srgbClr val="FFFFFF"/>
                    </a:solidFill>
                  </a:tcPr>
                </a:tc>
              </a:tr>
              <a:tr h="406400">
                <a:tc>
                  <a:txBody>
                    <a:bodyPr/>
                    <a:lstStyle/>
                    <a:p>
                      <a:pPr algn="l"/>
                      <a:r>
                        <a:rPr sz="1300" b="1">
                          <a:solidFill>
                            <a:srgbClr val="333F50"/>
                          </a:solidFill>
                          <a:latin typeface="楷体"/>
                          <a:ea typeface="楷体"/>
                          <a:cs typeface="楷体"/>
                        </a:rPr>
                        <a:t>模擬壽險F</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-12,600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-12,600</a:t>
                      </a:r>
                    </a:p>
                  </a:txBody>
                  <a:tcPr anchor="ctr" marL="36576" marR="36576" marT="18288" marB="18288">
                    <a:solidFill>
                      <a:srgbClr val="F7F7F7"/>
                    </a:solidFill>
                  </a:tcPr>
                </a:tc>
              </a:tr>
              <a:tr h="406400">
                <a:tc>
                  <a:txBody>
                    <a:bodyPr/>
                    <a:lstStyle/>
                    <a:p>
                      <a:pPr algn="l"/>
                      <a:r>
                        <a:rPr sz="1300" b="1">
                          <a:solidFill>
                            <a:srgbClr val="333F50"/>
                          </a:solidFill>
                          <a:latin typeface="楷体"/>
                          <a:ea typeface="楷体"/>
                          <a:cs typeface="楷体"/>
                        </a:rPr>
                        <a:t>模擬再保G</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-780,000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-175,000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-193,000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-104,000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-18,000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-1,270,000</a:t>
                      </a:r>
                    </a:p>
                  </a:txBody>
                  <a:tcPr anchor="ctr" marL="36576" marR="36576" marT="18288" marB="18288">
                    <a:solidFill>
                      <a:srgbClr val="FFFFFF"/>
                    </a:solidFill>
                  </a:tcPr>
                </a:tc>
              </a:tr>
              <a:tr h="406400">
                <a:tc>
                  <a:txBody>
                    <a:bodyPr/>
                    <a:lstStyle/>
                    <a:p>
                      <a:pPr algn="l"/>
                      <a:r>
                        <a:rPr sz="1300" b="1">
                          <a:solidFill>
                            <a:srgbClr val="ED7D31"/>
                          </a:solidFill>
                          <a:latin typeface="楷体"/>
                          <a:ea typeface="楷体"/>
                          <a:cs typeface="楷体"/>
                        </a:rPr>
                        <a:t>總計</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-2,390,000</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-542,000</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-1,536,000</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-284,000</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-84,600</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-4,836,600</a:t>
                      </a:r>
                    </a:p>
                  </a:txBody>
                  <a:tcPr anchor="ctr" marL="36576" marR="36576" marT="18288" marB="18288">
                    <a:solidFill>
                      <a:srgbClr val="F7F7F7"/>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19</a:t>
            </a:r>
          </a:p>
        </p:txBody>
      </p:sp>
    </p:spTree>
  </p:cSld>
  <p:clrMapOvr>
    <a:masterClrMapping/>
  </p:clrMapOvr>
</p:sld>
</file>

<file path=ppt/slides/slide20.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業務工作動態報告</a:t>
            </a:r>
          </a:p>
        </p:txBody>
      </p:sp>
      <p:sp>
        <p:nvSpPr>
          <p:cNvPr id="5" name="TextBox 4"/>
          <p:cNvSpPr txBox="1"/>
          <p:nvPr/>
        </p:nvSpPr>
        <p:spPr>
          <a:xfrm>
            <a:off x="320040" y="896112"/>
            <a:ext cx="10972800" cy="292608"/>
          </a:xfrm>
          <a:prstGeom prst="rect">
            <a:avLst/>
          </a:prstGeom>
          <a:noFill/>
        </p:spPr>
        <p:txBody>
          <a:bodyPr wrap="square">
            <a:spAutoFit/>
          </a:bodyPr>
          <a:lstStyle/>
          <a:p>
            <a:pPr algn="l"/>
            <a:r>
              <a:rPr sz="1600" b="1">
                <a:solidFill>
                  <a:srgbClr val="ED7D31"/>
                </a:solidFill>
                <a:latin typeface="楷体"/>
                <a:ea typeface="楷体"/>
                <a:cs typeface="楷体"/>
              </a:rPr>
              <a:t>一、上月工作（2026年10月1日至10月31日）</a:t>
            </a:r>
          </a:p>
        </p:txBody>
      </p:sp>
      <p:graphicFrame>
        <p:nvGraphicFramePr>
          <p:cNvPr id="6" name="Table 5"/>
          <p:cNvGraphicFramePr>
            <a:graphicFrameLocks noGrp="1"/>
          </p:cNvGraphicFramePr>
          <p:nvPr/>
        </p:nvGraphicFramePr>
        <p:xfrm>
          <a:off x="320040" y="1234440"/>
          <a:ext cx="11521440" cy="1874519"/>
        </p:xfrm>
        <a:graphic>
          <a:graphicData uri="http://schemas.openxmlformats.org/drawingml/2006/table">
            <a:tbl>
              <a:tblPr firstRow="1" bandRow="1">
                <a:tableStyleId>{5C22544A-7EE6-4342-B048-85BDC9FD1C3A}</a:tableStyleId>
              </a:tblPr>
              <a:tblGrid>
                <a:gridCol w="3840480"/>
                <a:gridCol w="3840480"/>
                <a:gridCol w="3840480"/>
              </a:tblGrid>
              <a:tr h="374904">
                <a:tc>
                  <a:txBody>
                    <a:bodyPr/>
                    <a:lstStyle/>
                    <a:p>
                      <a:pPr algn="ctr"/>
                      <a:r>
                        <a:rPr sz="1300" b="1">
                          <a:solidFill>
                            <a:srgbClr val="FFFFFF"/>
                          </a:solidFill>
                          <a:latin typeface="楷体"/>
                          <a:ea typeface="楷体"/>
                          <a:cs typeface="楷体"/>
                        </a:rPr>
                        <a:t>序號</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主要工作內容</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主要工作成效</a:t>
                      </a:r>
                    </a:p>
                  </a:txBody>
                  <a:tcPr anchor="ctr" marL="36576" marR="36576" marT="18288" marB="18288">
                    <a:solidFill>
                      <a:srgbClr val="333F50"/>
                    </a:solidFill>
                  </a:tcPr>
                </a:tc>
              </a:tr>
              <a:tr h="374904">
                <a:tc>
                  <a:txBody>
                    <a:bodyPr/>
                    <a:lstStyle/>
                    <a:p>
                      <a:pPr algn="l"/>
                      <a:r>
                        <a:rPr sz="1300" b="0">
                          <a:solidFill>
                            <a:srgbClr val="333F50"/>
                          </a:solidFill>
                          <a:latin typeface="楷体"/>
                          <a:ea typeface="楷体"/>
                          <a:cs typeface="楷体"/>
                        </a:rPr>
                        <a:t>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測試南灣銀行網上銀行付款</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已完成一筆小額測試入賬</a:t>
                      </a:r>
                    </a:p>
                  </a:txBody>
                  <a:tcPr anchor="ctr" marL="36576" marR="36576" marT="18288" marB="18288">
                    <a:solidFill>
                      <a:srgbClr val="FFFFFF"/>
                    </a:solidFill>
                  </a:tcPr>
                </a:tc>
              </a:tr>
              <a:tr h="374904">
                <a:tc>
                  <a:txBody>
                    <a:bodyPr/>
                    <a:lstStyle/>
                    <a:p>
                      <a:pPr algn="l"/>
                      <a:r>
                        <a:rPr sz="1300" b="0">
                          <a:solidFill>
                            <a:srgbClr val="333F50"/>
                          </a:solidFill>
                          <a:latin typeface="楷体"/>
                          <a:ea typeface="楷体"/>
                          <a:cs typeface="楷体"/>
                        </a:rPr>
                        <a:t>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跟進代表處註銷文件</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已提交補正材料，等待回執</a:t>
                      </a:r>
                    </a:p>
                  </a:txBody>
                  <a:tcPr anchor="ctr" marL="36576" marR="36576" marT="18288" marB="18288">
                    <a:solidFill>
                      <a:srgbClr val="F7F7F7"/>
                    </a:solidFill>
                  </a:tcPr>
                </a:tc>
              </a:tr>
              <a:tr h="374904">
                <a:tc>
                  <a:txBody>
                    <a:bodyPr/>
                    <a:lstStyle/>
                    <a:p>
                      <a:pPr algn="l"/>
                      <a:r>
                        <a:rPr sz="1300" b="0">
                          <a:solidFill>
                            <a:srgbClr val="333F50"/>
                          </a:solidFill>
                          <a:latin typeface="楷体"/>
                          <a:ea typeface="楷体"/>
                          <a:cs typeface="楷体"/>
                        </a:rPr>
                        <a:t>3</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拜訪合作經紀（虛構）</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確認明年合同分入意向保費區間</a:t>
                      </a:r>
                    </a:p>
                  </a:txBody>
                  <a:tcPr anchor="ctr" marL="36576" marR="36576" marT="18288" marB="18288">
                    <a:solidFill>
                      <a:srgbClr val="FFFFFF"/>
                    </a:solidFill>
                  </a:tcPr>
                </a:tc>
              </a:tr>
              <a:tr h="374903">
                <a:tc>
                  <a:txBody>
                    <a:bodyPr/>
                    <a:lstStyle/>
                    <a:p>
                      <a:pPr algn="l"/>
                      <a:r>
                        <a:rPr sz="1300" b="0">
                          <a:solidFill>
                            <a:srgbClr val="333F50"/>
                          </a:solidFill>
                          <a:latin typeface="楷体"/>
                          <a:ea typeface="楷体"/>
                          <a:cs typeface="楷体"/>
                        </a:rPr>
                        <a:t>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核對10月投資估值</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ETF浮虧已入賬，待下月複盤限額</a:t>
                      </a:r>
                    </a:p>
                  </a:txBody>
                  <a:tcPr anchor="ctr" marL="36576" marR="36576" marT="18288" marB="18288">
                    <a:solidFill>
                      <a:srgbClr val="F7F7F7"/>
                    </a:solidFill>
                  </a:tcPr>
                </a:tc>
              </a:tr>
            </a:tbl>
          </a:graphicData>
        </a:graphic>
      </p:graphicFrame>
      <p:sp>
        <p:nvSpPr>
          <p:cNvPr id="7" name="TextBox 6"/>
          <p:cNvSpPr txBox="1"/>
          <p:nvPr/>
        </p:nvSpPr>
        <p:spPr>
          <a:xfrm>
            <a:off x="320040" y="3291840"/>
            <a:ext cx="10972800" cy="292608"/>
          </a:xfrm>
          <a:prstGeom prst="rect">
            <a:avLst/>
          </a:prstGeom>
          <a:noFill/>
        </p:spPr>
        <p:txBody>
          <a:bodyPr wrap="square">
            <a:spAutoFit/>
          </a:bodyPr>
          <a:lstStyle/>
          <a:p>
            <a:pPr algn="l"/>
            <a:r>
              <a:rPr sz="1600" b="1">
                <a:solidFill>
                  <a:srgbClr val="ED7D31"/>
                </a:solidFill>
                <a:latin typeface="楷体"/>
                <a:ea typeface="楷体"/>
                <a:cs typeface="楷体"/>
              </a:rPr>
              <a:t>二、本月工作計畫（2026年11月1日至11月30日）</a:t>
            </a:r>
          </a:p>
        </p:txBody>
      </p:sp>
      <p:graphicFrame>
        <p:nvGraphicFramePr>
          <p:cNvPr id="8" name="Table 7"/>
          <p:cNvGraphicFramePr>
            <a:graphicFrameLocks noGrp="1"/>
          </p:cNvGraphicFramePr>
          <p:nvPr/>
        </p:nvGraphicFramePr>
        <p:xfrm>
          <a:off x="320040" y="3657600"/>
          <a:ext cx="11521440" cy="1874519"/>
        </p:xfrm>
        <a:graphic>
          <a:graphicData uri="http://schemas.openxmlformats.org/drawingml/2006/table">
            <a:tbl>
              <a:tblPr firstRow="1" bandRow="1">
                <a:tableStyleId>{5C22544A-7EE6-4342-B048-85BDC9FD1C3A}</a:tableStyleId>
              </a:tblPr>
              <a:tblGrid>
                <a:gridCol w="3840480"/>
                <a:gridCol w="3840480"/>
                <a:gridCol w="3840480"/>
              </a:tblGrid>
              <a:tr h="374904">
                <a:tc>
                  <a:txBody>
                    <a:bodyPr/>
                    <a:lstStyle/>
                    <a:p>
                      <a:pPr algn="ctr"/>
                      <a:r>
                        <a:rPr sz="1300" b="1">
                          <a:solidFill>
                            <a:srgbClr val="FFFFFF"/>
                          </a:solidFill>
                          <a:latin typeface="楷体"/>
                          <a:ea typeface="楷体"/>
                          <a:cs typeface="楷体"/>
                        </a:rPr>
                        <a:t>序號</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主要工作內容</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主要工作成效</a:t>
                      </a:r>
                    </a:p>
                  </a:txBody>
                  <a:tcPr anchor="ctr" marL="36576" marR="36576" marT="18288" marB="18288">
                    <a:solidFill>
                      <a:srgbClr val="333F50"/>
                    </a:solidFill>
                  </a:tcPr>
                </a:tc>
              </a:tr>
              <a:tr h="374904">
                <a:tc>
                  <a:txBody>
                    <a:bodyPr/>
                    <a:lstStyle/>
                    <a:p>
                      <a:pPr algn="l"/>
                      <a:r>
                        <a:rPr sz="1300" b="0">
                          <a:solidFill>
                            <a:srgbClr val="333F50"/>
                          </a:solidFill>
                          <a:latin typeface="楷体"/>
                          <a:ea typeface="楷体"/>
                          <a:cs typeface="楷体"/>
                        </a:rPr>
                        <a:t>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正式啟用南灣銀行網上銀行</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計畫完成權限與限額設置</a:t>
                      </a:r>
                    </a:p>
                  </a:txBody>
                  <a:tcPr anchor="ctr" marL="36576" marR="36576" marT="18288" marB="18288">
                    <a:solidFill>
                      <a:srgbClr val="FFFFFF"/>
                    </a:solidFill>
                  </a:tcPr>
                </a:tc>
              </a:tr>
              <a:tr h="374904">
                <a:tc>
                  <a:txBody>
                    <a:bodyPr/>
                    <a:lstStyle/>
                    <a:p>
                      <a:pPr algn="l"/>
                      <a:r>
                        <a:rPr sz="1300" b="0">
                          <a:solidFill>
                            <a:srgbClr val="333F50"/>
                          </a:solidFill>
                          <a:latin typeface="楷体"/>
                          <a:ea typeface="楷体"/>
                          <a:cs typeface="楷体"/>
                        </a:rPr>
                        <a:t>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關閉代表處剩餘賬戶</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計畫取得註銷證明</a:t>
                      </a:r>
                    </a:p>
                  </a:txBody>
                  <a:tcPr anchor="ctr" marL="36576" marR="36576" marT="18288" marB="18288">
                    <a:solidFill>
                      <a:srgbClr val="F7F7F7"/>
                    </a:solidFill>
                  </a:tcPr>
                </a:tc>
              </a:tr>
              <a:tr h="374904">
                <a:tc>
                  <a:txBody>
                    <a:bodyPr/>
                    <a:lstStyle/>
                    <a:p>
                      <a:pPr algn="l"/>
                      <a:r>
                        <a:rPr sz="1300" b="0">
                          <a:solidFill>
                            <a:srgbClr val="333F50"/>
                          </a:solidFill>
                          <a:latin typeface="楷体"/>
                          <a:ea typeface="楷体"/>
                          <a:cs typeface="楷体"/>
                        </a:rPr>
                        <a:t>3</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編制2027年預算修訂稿</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計畫提交管理層討論</a:t>
                      </a:r>
                    </a:p>
                  </a:txBody>
                  <a:tcPr anchor="ctr" marL="36576" marR="36576" marT="18288" marB="18288">
                    <a:solidFill>
                      <a:srgbClr val="FFFFFF"/>
                    </a:solidFill>
                  </a:tcPr>
                </a:tc>
              </a:tr>
              <a:tr h="374903">
                <a:tc>
                  <a:txBody>
                    <a:bodyPr/>
                    <a:lstStyle/>
                    <a:p>
                      <a:pPr algn="l"/>
                      <a:r>
                        <a:rPr sz="1300" b="0">
                          <a:solidFill>
                            <a:srgbClr val="333F50"/>
                          </a:solidFill>
                          <a:latin typeface="楷体"/>
                          <a:ea typeface="楷体"/>
                          <a:cs typeface="楷体"/>
                        </a:rPr>
                        <a:t>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復查汽車險定價</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計畫下調高賠付組合的續保折扣</a:t>
                      </a:r>
                    </a:p>
                  </a:txBody>
                  <a:tcPr anchor="ctr" marL="36576" marR="36576" marT="18288" marB="18288">
                    <a:solidFill>
                      <a:srgbClr val="F7F7F7"/>
                    </a:solidFill>
                  </a:tcPr>
                </a:tc>
              </a:tr>
            </a:tbl>
          </a:graphicData>
        </a:graphic>
      </p:graphicFrame>
      <p:sp>
        <p:nvSpPr>
          <p:cNvPr id="9" name="TextBox 8"/>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20</a:t>
            </a:r>
          </a:p>
        </p:txBody>
      </p:sp>
    </p:spTree>
  </p:cSld>
  <p:clrMapOvr>
    <a:masterClrMapping/>
  </p:clrMapOvr>
</p:sld>
</file>

<file path=ppt/slides/slide21.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附錄1：汽車險（香港業務）統計</a:t>
            </a:r>
          </a:p>
        </p:txBody>
      </p:sp>
      <p:sp>
        <p:nvSpPr>
          <p:cNvPr id="5" name="TextBox 4"/>
          <p:cNvSpPr txBox="1"/>
          <p:nvPr/>
        </p:nvSpPr>
        <p:spPr>
          <a:xfrm>
            <a:off x="274320" y="868680"/>
            <a:ext cx="11612880" cy="411480"/>
          </a:xfrm>
          <a:prstGeom prst="rect">
            <a:avLst/>
          </a:prstGeom>
          <a:noFill/>
        </p:spPr>
        <p:txBody>
          <a:bodyPr wrap="square">
            <a:spAutoFit/>
          </a:bodyPr>
          <a:lstStyle/>
          <a:p>
            <a:pPr algn="l"/>
            <a:r>
              <a:rPr sz="1300" b="0">
                <a:solidFill>
                  <a:srgbClr val="888888"/>
                </a:solidFill>
                <a:latin typeface="楷体"/>
                <a:ea typeface="楷体"/>
                <a:cs typeface="楷体"/>
              </a:rPr>
              <a:t>截至10月底，承保虧損742.6萬港元。私家車全保盈利36.2萬，第三者責任虧損880.4萬。電單車盈利168.5萬。單位：萬港元。</a:t>
            </a:r>
          </a:p>
        </p:txBody>
      </p:sp>
      <p:graphicFrame>
        <p:nvGraphicFramePr>
          <p:cNvPr id="6" name="Table 5"/>
          <p:cNvGraphicFramePr>
            <a:graphicFrameLocks noGrp="1"/>
          </p:cNvGraphicFramePr>
          <p:nvPr/>
        </p:nvGraphicFramePr>
        <p:xfrm>
          <a:off x="320040" y="1417320"/>
          <a:ext cx="11521440" cy="3291840"/>
        </p:xfrm>
        <a:graphic>
          <a:graphicData uri="http://schemas.openxmlformats.org/drawingml/2006/table">
            <a:tbl>
              <a:tblPr firstRow="1" bandRow="1">
                <a:tableStyleId>{5C22544A-7EE6-4342-B048-85BDC9FD1C3A}</a:tableStyleId>
              </a:tblPr>
              <a:tblGrid>
                <a:gridCol w="1645920"/>
                <a:gridCol w="1645920"/>
                <a:gridCol w="1645920"/>
                <a:gridCol w="1645920"/>
                <a:gridCol w="1645920"/>
                <a:gridCol w="1645920"/>
                <a:gridCol w="1645920"/>
              </a:tblGrid>
              <a:tr h="548640">
                <a:tc>
                  <a:txBody>
                    <a:bodyPr/>
                    <a:lstStyle/>
                    <a:p>
                      <a:pPr algn="ctr"/>
                      <a:r>
                        <a:rPr sz="1400" b="1">
                          <a:solidFill>
                            <a:srgbClr val="FFFFFF"/>
                          </a:solidFill>
                          <a:latin typeface="楷体"/>
                          <a:ea typeface="楷体"/>
                          <a:cs typeface="楷体"/>
                        </a:rPr>
                        <a:t>車種</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保障</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毛保費</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滿期保費</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淨佣金</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淨賠付</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承保收入</a:t>
                      </a:r>
                    </a:p>
                  </a:txBody>
                  <a:tcPr anchor="ctr" marL="36576" marR="36576" marT="18288" marB="18288">
                    <a:solidFill>
                      <a:srgbClr val="333F50"/>
                    </a:solidFill>
                  </a:tcPr>
                </a:tc>
              </a:tr>
              <a:tr h="548640">
                <a:tc>
                  <a:txBody>
                    <a:bodyPr/>
                    <a:lstStyle/>
                    <a:p>
                      <a:pPr algn="l"/>
                      <a:r>
                        <a:rPr sz="1400" b="1">
                          <a:solidFill>
                            <a:srgbClr val="333F50"/>
                          </a:solidFill>
                          <a:latin typeface="楷体"/>
                          <a:ea typeface="楷体"/>
                          <a:cs typeface="楷体"/>
                        </a:rPr>
                        <a:t>私家車</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全保</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92.4</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110.8</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28.6</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52.4</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36.2</a:t>
                      </a:r>
                    </a:p>
                  </a:txBody>
                  <a:tcPr anchor="ctr" marL="36576" marR="36576" marT="18288" marB="18288">
                    <a:solidFill>
                      <a:srgbClr val="FFFFFF"/>
                    </a:solidFill>
                  </a:tcPr>
                </a:tc>
              </a:tr>
              <a:tr h="548640">
                <a:tc>
                  <a:txBody>
                    <a:bodyPr/>
                    <a:lstStyle/>
                    <a:p>
                      <a:pPr algn="l"/>
                      <a:r>
                        <a:rPr sz="1400" b="1">
                          <a:solidFill>
                            <a:srgbClr val="333F50"/>
                          </a:solidFill>
                          <a:latin typeface="楷体"/>
                          <a:ea typeface="楷体"/>
                          <a:cs typeface="楷体"/>
                        </a:rPr>
                        <a:t>私家車</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第三者</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688.5</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860.4</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250.2</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1,490.2</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-880.4</a:t>
                      </a:r>
                    </a:p>
                  </a:txBody>
                  <a:tcPr anchor="ctr" marL="36576" marR="36576" marT="18288" marB="18288">
                    <a:solidFill>
                      <a:srgbClr val="F7F7F7"/>
                    </a:solidFill>
                  </a:tcPr>
                </a:tc>
              </a:tr>
              <a:tr h="548640">
                <a:tc>
                  <a:txBody>
                    <a:bodyPr/>
                    <a:lstStyle/>
                    <a:p>
                      <a:pPr algn="l"/>
                      <a:r>
                        <a:rPr sz="1400" b="1">
                          <a:solidFill>
                            <a:srgbClr val="333F50"/>
                          </a:solidFill>
                          <a:latin typeface="楷体"/>
                          <a:ea typeface="楷体"/>
                          <a:cs typeface="楷体"/>
                        </a:rPr>
                        <a:t>電單車</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第三者</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560.4</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548.6</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166.8</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248.6</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168.5</a:t>
                      </a:r>
                    </a:p>
                  </a:txBody>
                  <a:tcPr anchor="ctr" marL="36576" marR="36576" marT="18288" marB="18288">
                    <a:solidFill>
                      <a:srgbClr val="FFFFFF"/>
                    </a:solidFill>
                  </a:tcPr>
                </a:tc>
              </a:tr>
              <a:tr h="548640">
                <a:tc>
                  <a:txBody>
                    <a:bodyPr/>
                    <a:lstStyle/>
                    <a:p>
                      <a:pPr algn="l"/>
                      <a:r>
                        <a:rPr sz="1400" b="1">
                          <a:solidFill>
                            <a:srgbClr val="333F50"/>
                          </a:solidFill>
                          <a:latin typeface="楷体"/>
                          <a:ea typeface="楷体"/>
                          <a:cs typeface="楷体"/>
                        </a:rPr>
                        <a:t>其他</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第三者</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7.4</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7.8</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1.6</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4.2</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1.9</a:t>
                      </a:r>
                    </a:p>
                  </a:txBody>
                  <a:tcPr anchor="ctr" marL="36576" marR="36576" marT="18288" marB="18288">
                    <a:solidFill>
                      <a:srgbClr val="F7F7F7"/>
                    </a:solidFill>
                  </a:tcPr>
                </a:tc>
              </a:tr>
              <a:tr h="548640">
                <a:tc>
                  <a:txBody>
                    <a:bodyPr/>
                    <a:lstStyle/>
                    <a:p>
                      <a:pPr algn="l"/>
                      <a:r>
                        <a:rPr sz="14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1,349.9</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1,529.2</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447.5</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1,796.6</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-742.6</a:t>
                      </a:r>
                    </a:p>
                  </a:txBody>
                  <a:tcPr anchor="ctr" marL="36576" marR="36576" marT="18288" marB="18288">
                    <a:solidFill>
                      <a:srgbClr val="FFFFFF"/>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21</a:t>
            </a:r>
          </a:p>
        </p:txBody>
      </p:sp>
    </p:spTree>
  </p:cSld>
  <p:clrMapOvr>
    <a:masterClrMapping/>
  </p:clrMapOvr>
</p:sld>
</file>

<file path=ppt/slides/slide22.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C5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51760"/>
            <a:ext cx="10058400" cy="822960"/>
          </a:xfrm>
          <a:prstGeom prst="rect">
            <a:avLst/>
          </a:prstGeom>
          <a:noFill/>
        </p:spPr>
        <p:txBody>
          <a:bodyPr wrap="square">
            <a:spAutoFit/>
          </a:bodyPr>
          <a:lstStyle/>
          <a:p>
            <a:pPr algn="l"/>
            <a:r>
              <a:rPr sz="4000" b="1">
                <a:solidFill>
                  <a:srgbClr val="DC572A"/>
                </a:solidFill>
                <a:latin typeface="微软雅黑"/>
                <a:ea typeface="微软雅黑"/>
                <a:cs typeface="微软雅黑"/>
              </a:rPr>
              <a:t>彙報完畢，謝謝</a:t>
            </a:r>
          </a:p>
        </p:txBody>
      </p:sp>
      <p:sp>
        <p:nvSpPr>
          <p:cNvPr id="5" name="TextBox 4"/>
          <p:cNvSpPr txBox="1"/>
          <p:nvPr/>
        </p:nvSpPr>
        <p:spPr>
          <a:xfrm>
            <a:off x="822960" y="3749039"/>
            <a:ext cx="7315200" cy="365760"/>
          </a:xfrm>
          <a:prstGeom prst="rect">
            <a:avLst/>
          </a:prstGeom>
          <a:noFill/>
        </p:spPr>
        <p:txBody>
          <a:bodyPr wrap="square">
            <a:spAutoFit/>
          </a:bodyPr>
          <a:lstStyle/>
          <a:p>
            <a:pPr algn="l"/>
            <a:r>
              <a:rPr sz="1800" b="0">
                <a:solidFill>
                  <a:srgbClr val="333F50"/>
                </a:solidFill>
                <a:latin typeface="楷体"/>
                <a:ea typeface="楷体"/>
                <a:cs typeface="楷体"/>
              </a:rPr>
              <a:t>2026年10月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