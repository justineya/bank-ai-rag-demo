
<file path=[Content_Types].xml><?xml version="1.0" encoding="utf-8"?>
<Types xmlns="http://schemas.openxmlformats.org/package/2006/content-types"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Source Han Sans"/>
      <p:regular r:id="rId25"/>
    </p:embeddedFont>
    <p:embeddedFont>
      <p:font typeface="Source Han Sans CN Bold"/>
      <p:regular r:id="rId26"/>
    </p:embeddedFont>
    <p:embeddedFont>
      <p:font typeface="OPPOSans R"/>
      <p:regular r:id="rId27"/>
    </p:embeddedFont>
    <p:embeddedFont>
      <p:font typeface="OPPOSans H"/>
      <p:regular r:id="rId28"/>
    </p:embeddedFont>
    <p:embeddedFont>
      <p:font typeface="OPPOSans B"/>
      <p:regular r:id="rId29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25" Type="http://schemas.openxmlformats.org/officeDocument/2006/relationships/font" Target="fonts/font5.fntdata"/>
<Relationship Id="rId26" Type="http://schemas.openxmlformats.org/officeDocument/2006/relationships/font" Target="fonts/font2.fntdata"/>
<Relationship Id="rId27" Type="http://schemas.openxmlformats.org/officeDocument/2006/relationships/font" Target="fonts/font4.fntdata"/>
<Relationship Id="rId28" Type="http://schemas.openxmlformats.org/officeDocument/2006/relationships/font" Target="fonts/font1.fntdata"/>
<Relationship Id="rId29" Type="http://schemas.openxmlformats.org/officeDocument/2006/relationships/font" Target="fonts/font3.fntdata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jpeg"/>
<Relationship Id="rId3" Type="http://schemas.openxmlformats.org/officeDocument/2006/relationships/image" Target="../media/image4.jpeg"/>
<Relationship Id="rId4" Type="http://schemas.openxmlformats.org/officeDocument/2006/relationships/image" Target="../media/image3.jpeg"/>
<Relationship Id="rId5" Type="http://schemas.openxmlformats.org/officeDocument/2006/relationships/image" Target="../media/image1.jpeg"/>
<Relationship Id="rId6" Type="http://schemas.openxmlformats.org/officeDocument/2006/relationships/image" Target="../media/image7.jpe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1" flipV="0">
            <a:off x="7005412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65439" y="3676650"/>
            <a:ext cx="7409020" cy="23347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9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84847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71465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5524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55359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24665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13977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1485832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566201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12204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8229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01600" y="4938102"/>
            <a:ext cx="155029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汇报人：演示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22029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068054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247100" y="4938102"/>
            <a:ext cx="16789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时间：2026.3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0800000" flipH="0" flipV="1">
            <a:off x="10409152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3356362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65439" y="1401955"/>
            <a:ext cx="5984400" cy="20928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闽信保险有限公司
2026年度业务汇报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0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16667" t="0" r="16667" b="0"/>
          <a:stretch>
            <a:fillRect/>
          </a:stretch>
        </p:blipFill>
        <p:spPr>
          <a:xfrm rot="0" flipH="0" flipV="0">
            <a:off x="700541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" name="标题 1"/>
          <p:cNvSpPr txBox="1"/>
          <p:nvPr/>
        </p:nvSpPr>
        <p:spPr>
          <a:xfrm rot="0" flipH="0" flipV="0">
            <a:off x="710247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6496130" y="1001601"/>
            <a:ext cx="902452" cy="531418"/>
          </a:xfrm>
          <a:prstGeom prst="wedgeRoundRectCallout">
            <a:avLst>
              <a:gd name="adj1" fmla="val 31880"/>
              <a:gd name="adj2" fmla="val 65793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49839" y="1118108"/>
            <a:ext cx="595034" cy="298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836836" y="1337268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91876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8733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香港财产险服务商，服务本地企业
聚焦保障、风控与客户服务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08734" y="202591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596789" y="1337268"/>
            <a:ext cx="736654" cy="71373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4451830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568687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企业财产、责任险与工程险
覆盖制造、物流和地产场景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568687" y="2025914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356743" y="1337268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211782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328640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险种矩阵搭配场景方案
突出承保能力与服务响应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328640" y="202591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36836" y="3790679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91876" y="4147546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08733" y="499862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保费、赔付与区域覆盖
以下数字为演示口径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08734" y="447932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4596789" y="3790679"/>
            <a:ext cx="736654" cy="71373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4451830" y="4147546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4568687" y="499862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深耕大湾区，推进科技应用
持续优化承保与理赔体验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568687" y="4479324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455" t="15740" r="26629" b="6607"/>
          <a:stretch>
            <a:fillRect/>
          </a:stretch>
        </p:blipFill>
        <p:spPr>
          <a:xfrm rot="0" flipH="0" flipV="0">
            <a:off x="660400" y="1382900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6" y="0"/>
                  <a:pt x="781526" y="169508"/>
                  <a:pt x="781526" y="378607"/>
                </a:cubicBezTo>
                <a:cubicBezTo>
                  <a:pt x="781526" y="587706"/>
                  <a:pt x="606576" y="757214"/>
                  <a:pt x="390763" y="757214"/>
                </a:cubicBezTo>
                <a:cubicBezTo>
                  <a:pt x="174950" y="757214"/>
                  <a:pt x="0" y="587706"/>
                  <a:pt x="0" y="378607"/>
                </a:cubicBezTo>
                <a:cubicBezTo>
                  <a:pt x="0" y="169508"/>
                  <a:pt x="174950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4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30777" t="7619" r="20323" b="7842"/>
          <a:stretch>
            <a:fillRect/>
          </a:stretch>
        </p:blipFill>
        <p:spPr>
          <a:xfrm rot="0" flipH="0" flipV="0">
            <a:off x="4420353" y="1382899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5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23812" t="8076" r="28812" b="10021"/>
          <a:stretch>
            <a:fillRect/>
          </a:stretch>
        </p:blipFill>
        <p:spPr>
          <a:xfrm rot="0" flipH="0" flipV="0">
            <a:off x="8180307" y="1382900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Id5">
            <a:alphaModFix amt="100000"/>
          </a:blip>
          <a:srcRect l="21078" t="0" r="21078" b="0"/>
          <a:stretch>
            <a:fillRect/>
          </a:stretch>
        </p:blipFill>
        <p:spPr>
          <a:xfrm rot="0" flipH="0" flipV="0">
            <a:off x="660400" y="3839853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6" y="0"/>
                  <a:pt x="781526" y="169508"/>
                  <a:pt x="781526" y="378607"/>
                </a:cubicBezTo>
                <a:cubicBezTo>
                  <a:pt x="781526" y="587706"/>
                  <a:pt x="606576" y="757214"/>
                  <a:pt x="390763" y="757214"/>
                </a:cubicBezTo>
                <a:cubicBezTo>
                  <a:pt x="174950" y="757214"/>
                  <a:pt x="0" y="587706"/>
                  <a:pt x="0" y="378607"/>
                </a:cubicBezTo>
                <a:cubicBezTo>
                  <a:pt x="0" y="169508"/>
                  <a:pt x="174950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7" name=""/>
          <p:cNvPicPr>
            <a:picLocks noChangeAspect="1"/>
          </p:cNvPicPr>
          <p:nvPr/>
        </p:nvPicPr>
        <p:blipFill>
          <a:blip r:embed="rId6">
            <a:alphaModFix amt="100000"/>
          </a:blip>
          <a:srcRect l="21078" t="0" r="21078" b="0"/>
          <a:stretch>
            <a:fillRect/>
          </a:stretch>
        </p:blipFill>
        <p:spPr>
          <a:xfrm rot="0" flipH="0" flipV="0">
            <a:off x="4420353" y="3839852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8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汇报目录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601294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757227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099227" y="1957788"/>
            <a:ext cx="612000" cy="53579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900943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立足香港的专业财产险服务商
为企业客户提供风险保障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73361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3268187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00943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公司定位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42464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283358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5439291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583007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扎根本地市场，持续完善服务体系
以稳健承保积累长期口碑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5055425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950251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583007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发展历程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809335" y="1973683"/>
            <a:ext cx="555912" cy="504000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015248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8956141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9112075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8255790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以企业财产、责任、工程险为主
按行业场景设计保障方案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728209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10623034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8255790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业务领域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9503478" y="1947727"/>
            <a:ext cx="513193" cy="55591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-516890" y="1741352"/>
            <a:ext cx="13213080" cy="3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791794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5942" y="1731264"/>
            <a:ext cx="3117596" cy="65320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 flipH="0" flipV="0">
            <a:off x="2287271" y="1779902"/>
            <a:ext cx="154938" cy="80317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779272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39439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00760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专业团队评估风险，匹配承保方案
再保安排分担风险，承保更稳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016290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竞争优势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5516704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30852" y="1731264"/>
            <a:ext cx="3117596" cy="653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0" flipV="0">
            <a:off x="6012181" y="1779902"/>
            <a:ext cx="154938" cy="80317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504182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4764349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4725670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保费规模稳步增长，续保意愿稳定
客户留存保持高位，口碑扎实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741200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数据支撑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9360486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374634" y="1731264"/>
            <a:ext cx="3117596" cy="653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9855963" y="1779902"/>
            <a:ext cx="154938" cy="80317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347964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8608131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569452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服务制造、物流与地产等企业
覆盖承保、批改与理赔协同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8584982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客户案例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2909022" y="2263350"/>
            <a:ext cx="1092200" cy="1092200"/>
          </a:xfrm>
          <a:prstGeom prst="arc">
            <a:avLst>
              <a:gd name="adj1" fmla="val 16200000"/>
              <a:gd name="adj2" fmla="val 10544243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972522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26689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产品矩阵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95131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财产、责任、工程险
核心亮点便于比较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015432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68%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419239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67861" y="2263350"/>
            <a:ext cx="1092200" cy="1092200"/>
          </a:xfrm>
          <a:prstGeom prst="arc">
            <a:avLst>
              <a:gd name="adj1" fmla="val 16200000"/>
              <a:gd name="adj2" fmla="val 5951267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731361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85528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场景方案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653970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工厂方案覆盖生产与营业中断
物流方案覆盖仓储和运输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774271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54%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78078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0426700" y="2263350"/>
            <a:ext cx="1092200" cy="1092200"/>
          </a:xfrm>
          <a:prstGeom prst="arc">
            <a:avLst>
              <a:gd name="adj1" fmla="val 16200000"/>
              <a:gd name="adj2" fmla="val 13516205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0490200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344367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工程与地产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412809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覆盖建设期与运营期主要风险
工程、物业一并纳入方案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10533110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73%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26689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585528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344367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04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3700216" y="2056477"/>
            <a:ext cx="1962772" cy="196277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806390" y="2162650"/>
            <a:ext cx="1750423" cy="1750423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70076" y="2580068"/>
            <a:ext cx="3289299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赔付率处于可控区间
低于演示用的对照水平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070078" y="2117369"/>
            <a:ext cx="3289299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赔付率对比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070076" y="1709211"/>
            <a:ext cx="3289299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61151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84200" y="2976595"/>
            <a:ext cx="2975790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近三年保费保持增长
财产险仍是收入基本盘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84202" y="2513896"/>
            <a:ext cx="2975790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保费收入增长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84200" y="2105738"/>
            <a:ext cx="2975790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96004" y="2778935"/>
            <a:ext cx="571194" cy="51785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2" name=""/>
          <p:cNvGrpSpPr/>
          <p:nvPr/>
        </p:nvGrpSpPr>
        <p:grpSpPr>
          <a:xfrm>
            <a:off x="5727489" y="1854901"/>
            <a:ext cx="2133581" cy="2133578"/>
            <a:chOff x="5727489" y="1854901"/>
            <a:chExt cx="2133581" cy="2133578"/>
          </a:xfrm>
        </p:grpSpPr>
        <p:sp>
          <p:nvSpPr>
            <p:cNvPr id="13" name="标题 1"/>
            <p:cNvSpPr txBox="1"/>
            <p:nvPr/>
          </p:nvSpPr>
          <p:spPr>
            <a:xfrm rot="0" flipH="0" flipV="0">
              <a:off x="5727489" y="1854901"/>
              <a:ext cx="2133581" cy="2133578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rot="0" flipH="0" flipV="0">
              <a:off x="5842903" y="1970313"/>
              <a:ext cx="1902753" cy="1902752"/>
            </a:xfrm>
            <a:prstGeom prst="ellipse">
              <a:avLst/>
            </a:pr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rot="0" flipH="0" flipV="0">
              <a:off x="6420352" y="2559826"/>
              <a:ext cx="747855" cy="723727"/>
            </a:xfrm>
            <a:custGeom>
              <a:avLst/>
              <a:gdLst>
                <a:gd name="connsiteX0" fmla="*/ 695958 w 1660735"/>
                <a:gd name="connsiteY0" fmla="*/ 752512 h 1607157"/>
                <a:gd name="connsiteX1" fmla="*/ 376349 w 1660735"/>
                <a:gd name="connsiteY1" fmla="*/ 752512 h 1607157"/>
                <a:gd name="connsiteX2" fmla="*/ 110505 w 1660735"/>
                <a:gd name="connsiteY2" fmla="*/ 642007 h 1607157"/>
                <a:gd name="connsiteX3" fmla="*/ 0 w 1660735"/>
                <a:gd name="connsiteY3" fmla="*/ 376349 h 1607157"/>
                <a:gd name="connsiteX4" fmla="*/ 110505 w 1660735"/>
                <a:gd name="connsiteY4" fmla="*/ 110505 h 1607157"/>
                <a:gd name="connsiteX5" fmla="*/ 376349 w 1660735"/>
                <a:gd name="connsiteY5" fmla="*/ 0 h 1607157"/>
                <a:gd name="connsiteX6" fmla="*/ 642193 w 1660735"/>
                <a:gd name="connsiteY6" fmla="*/ 110505 h 1607157"/>
                <a:gd name="connsiteX7" fmla="*/ 752698 w 1660735"/>
                <a:gd name="connsiteY7" fmla="*/ 376349 h 1607157"/>
                <a:gd name="connsiteX8" fmla="*/ 752698 w 1660735"/>
                <a:gd name="connsiteY8" fmla="*/ 695958 h 1607157"/>
                <a:gd name="connsiteX9" fmla="*/ 695958 w 1660735"/>
                <a:gd name="connsiteY9" fmla="*/ 752512 h 1607157"/>
                <a:gd name="connsiteX10" fmla="*/ 376349 w 1660735"/>
                <a:gd name="connsiteY10" fmla="*/ 111621 h 1607157"/>
                <a:gd name="connsiteX11" fmla="*/ 111621 w 1660735"/>
                <a:gd name="connsiteY11" fmla="*/ 376349 h 1607157"/>
                <a:gd name="connsiteX12" fmla="*/ 376349 w 1660735"/>
                <a:gd name="connsiteY12" fmla="*/ 641077 h 1607157"/>
                <a:gd name="connsiteX13" fmla="*/ 641077 w 1660735"/>
                <a:gd name="connsiteY13" fmla="*/ 641077 h 1607157"/>
                <a:gd name="connsiteX14" fmla="*/ 641077 w 1660735"/>
                <a:gd name="connsiteY14" fmla="*/ 376349 h 1607157"/>
                <a:gd name="connsiteX15" fmla="*/ 376349 w 1660735"/>
                <a:gd name="connsiteY15" fmla="*/ 111621 h 1607157"/>
                <a:gd name="connsiteX16" fmla="*/ 1284201 w 1660735"/>
                <a:gd name="connsiteY16" fmla="*/ 752512 h 1607157"/>
                <a:gd name="connsiteX17" fmla="*/ 964592 w 1660735"/>
                <a:gd name="connsiteY17" fmla="*/ 752512 h 1607157"/>
                <a:gd name="connsiteX18" fmla="*/ 908038 w 1660735"/>
                <a:gd name="connsiteY18" fmla="*/ 695958 h 1607157"/>
                <a:gd name="connsiteX19" fmla="*/ 908038 w 1660735"/>
                <a:gd name="connsiteY19" fmla="*/ 376349 h 1607157"/>
                <a:gd name="connsiteX20" fmla="*/ 1018543 w 1660735"/>
                <a:gd name="connsiteY20" fmla="*/ 110505 h 1607157"/>
                <a:gd name="connsiteX21" fmla="*/ 1284387 w 1660735"/>
                <a:gd name="connsiteY21" fmla="*/ 0 h 1607157"/>
                <a:gd name="connsiteX22" fmla="*/ 1550231 w 1660735"/>
                <a:gd name="connsiteY22" fmla="*/ 110505 h 1607157"/>
                <a:gd name="connsiteX23" fmla="*/ 1660736 w 1660735"/>
                <a:gd name="connsiteY23" fmla="*/ 376349 h 1607157"/>
                <a:gd name="connsiteX24" fmla="*/ 1550231 w 1660735"/>
                <a:gd name="connsiteY24" fmla="*/ 642193 h 1607157"/>
                <a:gd name="connsiteX25" fmla="*/ 1284201 w 1660735"/>
                <a:gd name="connsiteY25" fmla="*/ 752512 h 1607157"/>
                <a:gd name="connsiteX26" fmla="*/ 1019659 w 1660735"/>
                <a:gd name="connsiteY26" fmla="*/ 640891 h 1607157"/>
                <a:gd name="connsiteX27" fmla="*/ 1284387 w 1660735"/>
                <a:gd name="connsiteY27" fmla="*/ 640891 h 1607157"/>
                <a:gd name="connsiteX28" fmla="*/ 1549115 w 1660735"/>
                <a:gd name="connsiteY28" fmla="*/ 376163 h 1607157"/>
                <a:gd name="connsiteX29" fmla="*/ 1284387 w 1660735"/>
                <a:gd name="connsiteY29" fmla="*/ 111435 h 1607157"/>
                <a:gd name="connsiteX30" fmla="*/ 1019659 w 1660735"/>
                <a:gd name="connsiteY30" fmla="*/ 376163 h 1607157"/>
                <a:gd name="connsiteX31" fmla="*/ 1019659 w 1660735"/>
                <a:gd name="connsiteY31" fmla="*/ 640891 h 1607157"/>
                <a:gd name="connsiteX32" fmla="*/ 376349 w 1660735"/>
                <a:gd name="connsiteY32" fmla="*/ 1607158 h 1607157"/>
                <a:gd name="connsiteX33" fmla="*/ 110505 w 1660735"/>
                <a:gd name="connsiteY33" fmla="*/ 1496653 h 1607157"/>
                <a:gd name="connsiteX34" fmla="*/ 0 w 1660735"/>
                <a:gd name="connsiteY34" fmla="*/ 1230809 h 1607157"/>
                <a:gd name="connsiteX35" fmla="*/ 110505 w 1660735"/>
                <a:gd name="connsiteY35" fmla="*/ 964964 h 1607157"/>
                <a:gd name="connsiteX36" fmla="*/ 376349 w 1660735"/>
                <a:gd name="connsiteY36" fmla="*/ 854459 h 1607157"/>
                <a:gd name="connsiteX37" fmla="*/ 695958 w 1660735"/>
                <a:gd name="connsiteY37" fmla="*/ 854459 h 1607157"/>
                <a:gd name="connsiteX38" fmla="*/ 752512 w 1660735"/>
                <a:gd name="connsiteY38" fmla="*/ 911014 h 1607157"/>
                <a:gd name="connsiteX39" fmla="*/ 752512 w 1660735"/>
                <a:gd name="connsiteY39" fmla="*/ 1230623 h 1607157"/>
                <a:gd name="connsiteX40" fmla="*/ 642007 w 1660735"/>
                <a:gd name="connsiteY40" fmla="*/ 1496467 h 1607157"/>
                <a:gd name="connsiteX41" fmla="*/ 376349 w 1660735"/>
                <a:gd name="connsiteY41" fmla="*/ 1607158 h 1607157"/>
                <a:gd name="connsiteX42" fmla="*/ 376349 w 1660735"/>
                <a:gd name="connsiteY42" fmla="*/ 966267 h 1607157"/>
                <a:gd name="connsiteX43" fmla="*/ 111621 w 1660735"/>
                <a:gd name="connsiteY43" fmla="*/ 1230809 h 1607157"/>
                <a:gd name="connsiteX44" fmla="*/ 376349 w 1660735"/>
                <a:gd name="connsiteY44" fmla="*/ 1495537 h 1607157"/>
                <a:gd name="connsiteX45" fmla="*/ 641077 w 1660735"/>
                <a:gd name="connsiteY45" fmla="*/ 1230809 h 1607157"/>
                <a:gd name="connsiteX46" fmla="*/ 641077 w 1660735"/>
                <a:gd name="connsiteY46" fmla="*/ 966267 h 1607157"/>
                <a:gd name="connsiteX47" fmla="*/ 376349 w 1660735"/>
                <a:gd name="connsiteY47" fmla="*/ 966267 h 1607157"/>
                <a:gd name="connsiteX48" fmla="*/ 1284201 w 1660735"/>
                <a:gd name="connsiteY48" fmla="*/ 1607158 h 1607157"/>
                <a:gd name="connsiteX49" fmla="*/ 1018357 w 1660735"/>
                <a:gd name="connsiteY49" fmla="*/ 1496653 h 1607157"/>
                <a:gd name="connsiteX50" fmla="*/ 907852 w 1660735"/>
                <a:gd name="connsiteY50" fmla="*/ 1230809 h 1607157"/>
                <a:gd name="connsiteX51" fmla="*/ 907852 w 1660735"/>
                <a:gd name="connsiteY51" fmla="*/ 911200 h 1607157"/>
                <a:gd name="connsiteX52" fmla="*/ 964406 w 1660735"/>
                <a:gd name="connsiteY52" fmla="*/ 854646 h 1607157"/>
                <a:gd name="connsiteX53" fmla="*/ 1284015 w 1660735"/>
                <a:gd name="connsiteY53" fmla="*/ 854646 h 1607157"/>
                <a:gd name="connsiteX54" fmla="*/ 1549859 w 1660735"/>
                <a:gd name="connsiteY54" fmla="*/ 965150 h 1607157"/>
                <a:gd name="connsiteX55" fmla="*/ 1660364 w 1660735"/>
                <a:gd name="connsiteY55" fmla="*/ 1230995 h 1607157"/>
                <a:gd name="connsiteX56" fmla="*/ 1550045 w 1660735"/>
                <a:gd name="connsiteY56" fmla="*/ 1496653 h 1607157"/>
                <a:gd name="connsiteX57" fmla="*/ 1284201 w 1660735"/>
                <a:gd name="connsiteY57" fmla="*/ 1607158 h 1607157"/>
                <a:gd name="connsiteX58" fmla="*/ 1019659 w 1660735"/>
                <a:gd name="connsiteY58" fmla="*/ 966267 h 1607157"/>
                <a:gd name="connsiteX59" fmla="*/ 1019659 w 1660735"/>
                <a:gd name="connsiteY59" fmla="*/ 1230995 h 1607157"/>
                <a:gd name="connsiteX60" fmla="*/ 1284387 w 1660735"/>
                <a:gd name="connsiteY60" fmla="*/ 1495723 h 1607157"/>
                <a:gd name="connsiteX61" fmla="*/ 1549115 w 1660735"/>
                <a:gd name="connsiteY61" fmla="*/ 1230995 h 1607157"/>
                <a:gd name="connsiteX62" fmla="*/ 1284387 w 1660735"/>
                <a:gd name="connsiteY62" fmla="*/ 966267 h 1607157"/>
                <a:gd name="connsiteX63" fmla="*/ 1019659 w 1660735"/>
                <a:gd name="connsiteY63" fmla="*/ 966267 h 1607157"/>
              </a:gdLst>
              <a:rect l="l" t="t" r="r" b="b"/>
              <a:pathLst>
                <a:path w="1660735" h="1607157">
                  <a:moveTo>
                    <a:pt x="695958" y="752512"/>
                  </a:moveTo>
                  <a:lnTo>
                    <a:pt x="376349" y="752512"/>
                  </a:lnTo>
                  <a:cubicBezTo>
                    <a:pt x="276262" y="752512"/>
                    <a:pt x="181756" y="713259"/>
                    <a:pt x="110505" y="642007"/>
                  </a:cubicBezTo>
                  <a:cubicBezTo>
                    <a:pt x="39253" y="570756"/>
                    <a:pt x="0" y="476436"/>
                    <a:pt x="0" y="376349"/>
                  </a:cubicBezTo>
                  <a:cubicBezTo>
                    <a:pt x="0" y="276262"/>
                    <a:pt x="39253" y="181756"/>
                    <a:pt x="110505" y="110505"/>
                  </a:cubicBezTo>
                  <a:cubicBezTo>
                    <a:pt x="181756" y="39253"/>
                    <a:pt x="276076" y="0"/>
                    <a:pt x="376349" y="0"/>
                  </a:cubicBezTo>
                  <a:cubicBezTo>
                    <a:pt x="476436" y="0"/>
                    <a:pt x="570942" y="39253"/>
                    <a:pt x="642193" y="110505"/>
                  </a:cubicBezTo>
                  <a:cubicBezTo>
                    <a:pt x="713445" y="181756"/>
                    <a:pt x="752698" y="276076"/>
                    <a:pt x="752698" y="376349"/>
                  </a:cubicBezTo>
                  <a:lnTo>
                    <a:pt x="752698" y="695958"/>
                  </a:lnTo>
                  <a:cubicBezTo>
                    <a:pt x="752512" y="727211"/>
                    <a:pt x="727211" y="752512"/>
                    <a:pt x="695958" y="752512"/>
                  </a:cubicBezTo>
                  <a:close/>
                  <a:moveTo>
                    <a:pt x="376349" y="111621"/>
                  </a:moveTo>
                  <a:cubicBezTo>
                    <a:pt x="230498" y="111621"/>
                    <a:pt x="111621" y="230312"/>
                    <a:pt x="111621" y="376349"/>
                  </a:cubicBezTo>
                  <a:cubicBezTo>
                    <a:pt x="111621" y="522201"/>
                    <a:pt x="230312" y="641077"/>
                    <a:pt x="376349" y="641077"/>
                  </a:cubicBezTo>
                  <a:lnTo>
                    <a:pt x="641077" y="641077"/>
                  </a:lnTo>
                  <a:lnTo>
                    <a:pt x="641077" y="376349"/>
                  </a:lnTo>
                  <a:cubicBezTo>
                    <a:pt x="640891" y="230312"/>
                    <a:pt x="522201" y="111621"/>
                    <a:pt x="376349" y="111621"/>
                  </a:cubicBezTo>
                  <a:close/>
                  <a:moveTo>
                    <a:pt x="1284201" y="752512"/>
                  </a:moveTo>
                  <a:lnTo>
                    <a:pt x="964592" y="752512"/>
                  </a:lnTo>
                  <a:cubicBezTo>
                    <a:pt x="933338" y="752512"/>
                    <a:pt x="908038" y="727025"/>
                    <a:pt x="908038" y="695958"/>
                  </a:cubicBezTo>
                  <a:lnTo>
                    <a:pt x="908038" y="376349"/>
                  </a:lnTo>
                  <a:cubicBezTo>
                    <a:pt x="908038" y="276262"/>
                    <a:pt x="947291" y="181756"/>
                    <a:pt x="1018543" y="110505"/>
                  </a:cubicBezTo>
                  <a:cubicBezTo>
                    <a:pt x="1089794" y="39253"/>
                    <a:pt x="1184114" y="0"/>
                    <a:pt x="1284387" y="0"/>
                  </a:cubicBezTo>
                  <a:cubicBezTo>
                    <a:pt x="1384660" y="0"/>
                    <a:pt x="1478980" y="39253"/>
                    <a:pt x="1550231" y="110505"/>
                  </a:cubicBezTo>
                  <a:cubicBezTo>
                    <a:pt x="1621482" y="181756"/>
                    <a:pt x="1660736" y="276076"/>
                    <a:pt x="1660736" y="376349"/>
                  </a:cubicBezTo>
                  <a:cubicBezTo>
                    <a:pt x="1660736" y="476622"/>
                    <a:pt x="1621482" y="570942"/>
                    <a:pt x="1550231" y="642193"/>
                  </a:cubicBezTo>
                  <a:cubicBezTo>
                    <a:pt x="1478794" y="713259"/>
                    <a:pt x="1384288" y="752512"/>
                    <a:pt x="1284201" y="752512"/>
                  </a:cubicBezTo>
                  <a:close/>
                  <a:moveTo>
                    <a:pt x="1019659" y="640891"/>
                  </a:moveTo>
                  <a:lnTo>
                    <a:pt x="1284387" y="640891"/>
                  </a:lnTo>
                  <a:cubicBezTo>
                    <a:pt x="1430238" y="640891"/>
                    <a:pt x="1549115" y="522201"/>
                    <a:pt x="1549115" y="376163"/>
                  </a:cubicBezTo>
                  <a:cubicBezTo>
                    <a:pt x="1549115" y="230312"/>
                    <a:pt x="1430424" y="111435"/>
                    <a:pt x="1284387" y="111435"/>
                  </a:cubicBezTo>
                  <a:cubicBezTo>
                    <a:pt x="1138349" y="111435"/>
                    <a:pt x="1019659" y="230125"/>
                    <a:pt x="1019659" y="376163"/>
                  </a:cubicBezTo>
                  <a:lnTo>
                    <a:pt x="1019659" y="640891"/>
                  </a:lnTo>
                  <a:close/>
                  <a:moveTo>
                    <a:pt x="376349" y="1607158"/>
                  </a:moveTo>
                  <a:cubicBezTo>
                    <a:pt x="276262" y="1607158"/>
                    <a:pt x="181756" y="1567904"/>
                    <a:pt x="110505" y="1496653"/>
                  </a:cubicBezTo>
                  <a:cubicBezTo>
                    <a:pt x="39253" y="1425401"/>
                    <a:pt x="0" y="1330896"/>
                    <a:pt x="0" y="1230809"/>
                  </a:cubicBezTo>
                  <a:cubicBezTo>
                    <a:pt x="0" y="1130722"/>
                    <a:pt x="39253" y="1036216"/>
                    <a:pt x="110505" y="964964"/>
                  </a:cubicBezTo>
                  <a:cubicBezTo>
                    <a:pt x="181756" y="893713"/>
                    <a:pt x="276076" y="854459"/>
                    <a:pt x="376349" y="854459"/>
                  </a:cubicBezTo>
                  <a:lnTo>
                    <a:pt x="695958" y="854459"/>
                  </a:lnTo>
                  <a:cubicBezTo>
                    <a:pt x="727211" y="854459"/>
                    <a:pt x="752512" y="879760"/>
                    <a:pt x="752512" y="911014"/>
                  </a:cubicBezTo>
                  <a:lnTo>
                    <a:pt x="752512" y="1230623"/>
                  </a:lnTo>
                  <a:cubicBezTo>
                    <a:pt x="752512" y="1330709"/>
                    <a:pt x="713259" y="1425215"/>
                    <a:pt x="642007" y="1496467"/>
                  </a:cubicBezTo>
                  <a:cubicBezTo>
                    <a:pt x="570756" y="1567718"/>
                    <a:pt x="476436" y="1607158"/>
                    <a:pt x="376349" y="1607158"/>
                  </a:cubicBezTo>
                  <a:close/>
                  <a:moveTo>
                    <a:pt x="376349" y="966267"/>
                  </a:moveTo>
                  <a:cubicBezTo>
                    <a:pt x="230312" y="966267"/>
                    <a:pt x="111621" y="1084957"/>
                    <a:pt x="111621" y="1230809"/>
                  </a:cubicBezTo>
                  <a:cubicBezTo>
                    <a:pt x="111621" y="1376660"/>
                    <a:pt x="230312" y="1495537"/>
                    <a:pt x="376349" y="1495537"/>
                  </a:cubicBezTo>
                  <a:cubicBezTo>
                    <a:pt x="522201" y="1495537"/>
                    <a:pt x="641077" y="1376846"/>
                    <a:pt x="641077" y="1230809"/>
                  </a:cubicBezTo>
                  <a:lnTo>
                    <a:pt x="641077" y="966267"/>
                  </a:lnTo>
                  <a:lnTo>
                    <a:pt x="376349" y="966267"/>
                  </a:lnTo>
                  <a:close/>
                  <a:moveTo>
                    <a:pt x="1284201" y="1607158"/>
                  </a:moveTo>
                  <a:cubicBezTo>
                    <a:pt x="1184114" y="1607158"/>
                    <a:pt x="1089608" y="1567904"/>
                    <a:pt x="1018357" y="1496653"/>
                  </a:cubicBezTo>
                  <a:cubicBezTo>
                    <a:pt x="947105" y="1425401"/>
                    <a:pt x="907852" y="1331082"/>
                    <a:pt x="907852" y="1230809"/>
                  </a:cubicBezTo>
                  <a:lnTo>
                    <a:pt x="907852" y="911200"/>
                  </a:lnTo>
                  <a:cubicBezTo>
                    <a:pt x="907852" y="879946"/>
                    <a:pt x="933152" y="854646"/>
                    <a:pt x="964406" y="854646"/>
                  </a:cubicBezTo>
                  <a:lnTo>
                    <a:pt x="1284015" y="854646"/>
                  </a:lnTo>
                  <a:cubicBezTo>
                    <a:pt x="1384102" y="854646"/>
                    <a:pt x="1478607" y="893899"/>
                    <a:pt x="1549859" y="965150"/>
                  </a:cubicBezTo>
                  <a:cubicBezTo>
                    <a:pt x="1621110" y="1036402"/>
                    <a:pt x="1660364" y="1130722"/>
                    <a:pt x="1660364" y="1230995"/>
                  </a:cubicBezTo>
                  <a:cubicBezTo>
                    <a:pt x="1660364" y="1331268"/>
                    <a:pt x="1621296" y="1425401"/>
                    <a:pt x="1550045" y="1496653"/>
                  </a:cubicBezTo>
                  <a:cubicBezTo>
                    <a:pt x="1478794" y="1567904"/>
                    <a:pt x="1384288" y="1607158"/>
                    <a:pt x="1284201" y="1607158"/>
                  </a:cubicBezTo>
                  <a:close/>
                  <a:moveTo>
                    <a:pt x="1019659" y="966267"/>
                  </a:moveTo>
                  <a:lnTo>
                    <a:pt x="1019659" y="1230995"/>
                  </a:lnTo>
                  <a:cubicBezTo>
                    <a:pt x="1019659" y="1376846"/>
                    <a:pt x="1138349" y="1495723"/>
                    <a:pt x="1284387" y="1495723"/>
                  </a:cubicBezTo>
                  <a:cubicBezTo>
                    <a:pt x="1430424" y="1495723"/>
                    <a:pt x="1549115" y="1377032"/>
                    <a:pt x="1549115" y="1230995"/>
                  </a:cubicBezTo>
                  <a:cubicBezTo>
                    <a:pt x="1549115" y="1084957"/>
                    <a:pt x="1430424" y="966267"/>
                    <a:pt x="1284387" y="966267"/>
                  </a:cubicBezTo>
                  <a:lnTo>
                    <a:pt x="1019659" y="966267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 rot="0" flipH="0" flipV="0">
            <a:off x="4532628" y="3965494"/>
            <a:ext cx="1552746" cy="1552744"/>
          </a:xfrm>
          <a:prstGeom prst="ellipse">
            <a:avLst/>
          </a:prstGeom>
          <a:solidFill>
            <a:schemeClr val="bg1">
              <a:lumMod val="75000"/>
              <a:alpha val="1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616623" y="4049487"/>
            <a:ext cx="1384757" cy="1384757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083065" y="4537029"/>
            <a:ext cx="451871" cy="40967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6314694" y="5072798"/>
            <a:ext cx="4518603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以香港为基地服务企业客户
业务协同延伸至大湾区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6314696" y="4610099"/>
            <a:ext cx="4518603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业务区域覆盖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314694" y="4201941"/>
            <a:ext cx="4518603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BFBFB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05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867446" y="2591146"/>
            <a:ext cx="543206" cy="468280"/>
          </a:xfrm>
          <a:prstGeom prst="hexagon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916780" y="4266910"/>
            <a:ext cx="543206" cy="468280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456288" y="6310230"/>
            <a:ext cx="1315808" cy="1083518"/>
          </a:xfrm>
          <a:prstGeom prst="hexagon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957030" y="6455407"/>
            <a:ext cx="314325" cy="342900"/>
          </a:xfrm>
          <a:prstGeom prst="downArrow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363426" y="2987540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 rot="0" flipH="0" flipV="0">
            <a:off x="5098321" y="4290459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 rot="0" flipH="0" flipV="0">
            <a:off x="5031986" y="3328601"/>
            <a:ext cx="6120000" cy="8645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把科技用在核保与理赔环节
让投保、批改、理赔更顺畅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2363426" y="4686853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5031986" y="5027913"/>
            <a:ext cx="6120000" cy="1004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稳步投入系统与数据能力
优化流程，缩短服务响应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2363426" y="1288227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 rot="0" flipH="0" flipV="0">
            <a:off x="5098321" y="2591146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 rot="0" flipH="0" flipV="0">
            <a:off x="5031986" y="1629288"/>
            <a:ext cx="6120000" cy="8645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深化大湾区企业客户覆盖
加强本地渠道与品牌合作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541128" y="2931636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2425922" y="4634590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541128" y="1235966"/>
            <a:ext cx="294658" cy="254016"/>
          </a:xfrm>
          <a:prstGeom prst="hexagon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8" name="标题 1"/>
          <p:cNvCxnSpPr/>
          <p:nvPr/>
        </p:nvCxnSpPr>
        <p:spPr>
          <a:xfrm rot="0" flipH="0" flipV="0">
            <a:off x="5098321" y="5933382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19" name="标题 1"/>
          <p:cNvSpPr txBox="1"/>
          <p:nvPr/>
        </p:nvSpPr>
        <p:spPr>
          <a:xfrm rot="0" flipH="0" flipV="0">
            <a:off x="2467460" y="50184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467460" y="31896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2467460" y="16275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032860" y="9798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短期目标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5032860" y="26816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长期愿景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5032860" y="43834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战略规划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"/>
          <p:cNvGrpSpPr/>
          <p:nvPr/>
        </p:nvGrpSpPr>
        <p:grpSpPr>
          <a:xfrm>
            <a:off x="0" y="5899346"/>
            <a:ext cx="12192000" cy="958654"/>
            <a:chOff x="0" y="5899346"/>
            <a:chExt cx="12192000" cy="958654"/>
          </a:xfrm>
        </p:grpSpPr>
        <p:sp>
          <p:nvSpPr>
            <p:cNvPr id="4" name="标题 1"/>
            <p:cNvSpPr txBox="1"/>
            <p:nvPr/>
          </p:nvSpPr>
          <p:spPr>
            <a:xfrm rot="0" flipH="0" flipV="0">
              <a:off x="0" y="5899346"/>
              <a:ext cx="12192000" cy="958654"/>
            </a:xfrm>
            <a:custGeom>
              <a:avLst/>
              <a:gdLst>
                <a:gd name="connsiteX0" fmla="*/ 0 w 12192000"/>
                <a:gd name="connsiteY0" fmla="*/ 0 h 3563982"/>
                <a:gd name="connsiteX1" fmla="*/ 21223 w 12192000"/>
                <a:gd name="connsiteY1" fmla="*/ 27596 h 3563982"/>
                <a:gd name="connsiteX2" fmla="*/ 6096000 w 12192000"/>
                <a:gd name="connsiteY2" fmla="*/ 3055905 h 3563982"/>
                <a:gd name="connsiteX3" fmla="*/ 12170777 w 12192000"/>
                <a:gd name="connsiteY3" fmla="*/ 27596 h 3563982"/>
                <a:gd name="connsiteX4" fmla="*/ 12192000 w 12192000"/>
                <a:gd name="connsiteY4" fmla="*/ 0 h 3563982"/>
                <a:gd name="connsiteX5" fmla="*/ 12192000 w 12192000"/>
                <a:gd name="connsiteY5" fmla="*/ 3563982 h 3563982"/>
                <a:gd name="connsiteX6" fmla="*/ 0 w 12192000"/>
                <a:gd name="connsiteY6" fmla="*/ 3563982 h 3563982"/>
              </a:gdLst>
              <a:rect l="l" t="t" r="r" b="b"/>
              <a:pathLst>
                <a:path w="12192000" h="3563982">
                  <a:moveTo>
                    <a:pt x="0" y="0"/>
                  </a:moveTo>
                  <a:lnTo>
                    <a:pt x="21223" y="27596"/>
                  </a:lnTo>
                  <a:cubicBezTo>
                    <a:pt x="1522464" y="1887950"/>
                    <a:pt x="3688133" y="3055905"/>
                    <a:pt x="6096000" y="3055905"/>
                  </a:cubicBezTo>
                  <a:cubicBezTo>
                    <a:pt x="8503868" y="3055905"/>
                    <a:pt x="10669536" y="1887950"/>
                    <a:pt x="12170777" y="27596"/>
                  </a:cubicBezTo>
                  <a:lnTo>
                    <a:pt x="12192000" y="0"/>
                  </a:lnTo>
                  <a:lnTo>
                    <a:pt x="12192000" y="3563982"/>
                  </a:lnTo>
                  <a:lnTo>
                    <a:pt x="0" y="356398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0" flipH="0" flipV="0">
              <a:off x="0" y="6188758"/>
              <a:ext cx="12192000" cy="669242"/>
            </a:xfrm>
            <a:custGeom>
              <a:avLst/>
              <a:gdLst>
                <a:gd name="connsiteX0" fmla="*/ 0 w 12192000"/>
                <a:gd name="connsiteY0" fmla="*/ 0 h 2488036"/>
                <a:gd name="connsiteX1" fmla="*/ 21223 w 12192000"/>
                <a:gd name="connsiteY1" fmla="*/ 18287 h 2488036"/>
                <a:gd name="connsiteX2" fmla="*/ 6096000 w 12192000"/>
                <a:gd name="connsiteY2" fmla="*/ 2025118 h 2488036"/>
                <a:gd name="connsiteX3" fmla="*/ 12170777 w 12192000"/>
                <a:gd name="connsiteY3" fmla="*/ 18287 h 2488036"/>
                <a:gd name="connsiteX4" fmla="*/ 12192000 w 12192000"/>
                <a:gd name="connsiteY4" fmla="*/ 0 h 2488036"/>
                <a:gd name="connsiteX5" fmla="*/ 12192000 w 12192000"/>
                <a:gd name="connsiteY5" fmla="*/ 2488036 h 2488036"/>
                <a:gd name="connsiteX6" fmla="*/ 0 w 12192000"/>
                <a:gd name="connsiteY6" fmla="*/ 2488036 h 2488036"/>
              </a:gdLst>
              <a:rect l="l" t="t" r="r" b="b"/>
              <a:pathLst>
                <a:path w="12192000" h="2488036">
                  <a:moveTo>
                    <a:pt x="0" y="0"/>
                  </a:moveTo>
                  <a:lnTo>
                    <a:pt x="21223" y="18287"/>
                  </a:lnTo>
                  <a:cubicBezTo>
                    <a:pt x="1522464" y="1251126"/>
                    <a:pt x="3688133" y="2025118"/>
                    <a:pt x="6096000" y="2025118"/>
                  </a:cubicBezTo>
                  <a:cubicBezTo>
                    <a:pt x="8503868" y="2025118"/>
                    <a:pt x="10669536" y="1251126"/>
                    <a:pt x="12170777" y="18287"/>
                  </a:cubicBezTo>
                  <a:lnTo>
                    <a:pt x="12192000" y="0"/>
                  </a:lnTo>
                  <a:lnTo>
                    <a:pt x="12192000" y="2488036"/>
                  </a:lnTo>
                  <a:lnTo>
                    <a:pt x="0" y="248803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3175" cap="sq">
              <a:solidFill>
                <a:schemeClr val="accent1">
                  <a:lumMod val="20000"/>
                  <a:lumOff val="80000"/>
                </a:schemeClr>
              </a:solidFill>
              <a:miter/>
            </a:ln>
            <a:effectLst>
              <a:outerShdw dist="38100" blurRad="368300" dir="16200000" sx="100000" sy="100000" kx="0" ky="0" algn="b" rotWithShape="0">
                <a:schemeClr val="accent1">
                  <a:alpha val="26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 rot="0" flipH="0" flipV="0">
            <a:off x="977324" y="2052624"/>
            <a:ext cx="10224653" cy="3288308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dist="38100" blurRad="152400" dir="2700000" sx="100000" sy="100000" kx="0" ky="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053586" y="2371052"/>
            <a:ext cx="4072128" cy="4252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dist="63500" blurRad="254000" dir="2700000" sx="100000" sy="100000" kx="0" ky="0" algn="tl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76036" y="3214103"/>
            <a:ext cx="10027228" cy="17992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欢迎来电，索取方案与合作联络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76035" y="2371052"/>
            <a:ext cx="10027231" cy="425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中环 / 852-0000 / 官网</a:t>
            </a: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 rot="0" flipH="0" flipV="0">
            <a:off x="5768182" y="3048369"/>
            <a:ext cx="642937" cy="0"/>
          </a:xfrm>
          <a:prstGeom prst="line">
            <a:avLst/>
          </a:prstGeom>
          <a:noFill/>
          <a:ln w="6350" cap="rnd">
            <a:solidFill>
              <a:schemeClr val="accent1"/>
            </a:solidFill>
            <a:miter/>
          </a:ln>
        </p:spPr>
      </p:cxnSp>
      <p:sp>
        <p:nvSpPr>
          <p:cNvPr id="11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联系方式</a:t>
            </a:r>
            <a:endParaRPr kumimoji="1" lang="zh-CN" alt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912331" y="1736648"/>
            <a:ext cx="10317644" cy="4102177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720749" y="1314983"/>
            <a:ext cx="700809" cy="700809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340901" y="2311215"/>
            <a:ext cx="9460505" cy="3890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闽信与您，共筑安全未来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909371" y="1490138"/>
            <a:ext cx="323565" cy="350499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dist="38100" blurRad="50800" dir="2700000" sx="100000" sy="100000" kx="0" ky="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340901" y="2821916"/>
            <a:ext cx="9460505" cy="28121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稳健承保，陪伴企业应对风险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品牌理念</a:t>
            </a:r>
            <a:endParaRPr kumimoji="1" lang="zh-CN" alt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1" flipV="0">
            <a:off x="7005412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65439" y="3676650"/>
            <a:ext cx="7409020" cy="23347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9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84847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71465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5524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55359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24665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13977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1485832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566201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12204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8229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01600" y="4938102"/>
            <a:ext cx="155029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汇报人：演示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22029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068054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247100" y="4938102"/>
            <a:ext cx="16789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时间：2026.3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0800000" flipH="0" flipV="1">
            <a:off x="10409152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3356362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65439" y="1401955"/>
            <a:ext cx="5984400" cy="20928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感谢聆听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0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16667" t="0" r="16667" b="0"/>
          <a:stretch>
            <a:fillRect/>
          </a:stretch>
        </p:blipFill>
        <p:spPr>
          <a:xfrm rot="0" flipH="0" flipV="0">
            <a:off x="700541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" name="标题 1"/>
          <p:cNvSpPr txBox="1"/>
          <p:nvPr/>
        </p:nvSpPr>
        <p:spPr>
          <a:xfrm rot="0" flipH="0" flipV="0">
            <a:off x="710247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6496130" y="1001601"/>
            <a:ext cx="902452" cy="531418"/>
          </a:xfrm>
          <a:prstGeom prst="wedgeRoundRectCallout">
            <a:avLst>
              <a:gd name="adj1" fmla="val 31880"/>
              <a:gd name="adj2" fmla="val 65793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49839" y="1118108"/>
            <a:ext cx="595034" cy="298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2026</a:t>
            </a:r>
            <a:endParaRPr kumimoji="1" lang="zh-CN" altLang="en-US"/>
          </a:p>
        </p:txBody>
      </p:sp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C3E22"/>
      </a:accent1>
      <a:accent2>
        <a:srgbClr val="611516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